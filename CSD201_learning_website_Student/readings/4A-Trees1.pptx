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Lst>
  <p:sldSz cy="6858000" cx="9144000"/>
  <p:notesSz cx="6858000" cy="9144000"/>
  <p:embeddedFontLst>
    <p:embeddedFont>
      <p:font typeface="Tahoma"/>
      <p:regular r:id="rId40"/>
      <p:bold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42" roundtripDataSignature="AMtx7miVfwIC5qdVS8kmu5+d+HL1KYDJD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Tahoma-regular.fntdata"/><Relationship Id="rId20" Type="http://schemas.openxmlformats.org/officeDocument/2006/relationships/slide" Target="slides/slide15.xml"/><Relationship Id="rId42" Type="http://customschemas.google.com/relationships/presentationmetadata" Target="metadata"/><Relationship Id="rId41" Type="http://schemas.openxmlformats.org/officeDocument/2006/relationships/font" Target="fonts/Tahoma-bold.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1" i="0" sz="4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1" i="0" sz="4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1" i="0" sz="4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1" i="0" sz="4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1" i="0" sz="4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1" i="0" sz="4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1" i="0" sz="4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1" i="0" sz="4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1" i="0" sz="44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3884612"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SzPts val="1400"/>
              <a:buNone/>
              <a:defRPr b="0"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1" i="0" sz="4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1" i="0" sz="4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1" i="0" sz="4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1" i="0" sz="4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1" i="0" sz="4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1" i="0" sz="4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1" i="0" sz="4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1" i="0" sz="44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8685212"/>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1" i="0" sz="4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1" i="0" sz="4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1" i="0" sz="4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1" i="0" sz="4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1" i="0" sz="4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1" i="0" sz="4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1" i="0" sz="4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1" i="0" sz="4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1" i="0" sz="44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87" name="Google Shape;87;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a:p>
        </p:txBody>
      </p:sp>
      <p:sp>
        <p:nvSpPr>
          <p:cNvPr id="95" name="Google Shape;95;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96" name="Google Shape;96;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 name="Google Shape;105;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 name="Google Shape;138;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3" name="Google Shape;173;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3" name="Google Shape;183;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Image Source: JED</a:t>
            </a:r>
            <a:endParaRPr/>
          </a:p>
          <a:p>
            <a:pPr indent="0" lvl="0" marL="0" rtl="0" algn="l">
              <a:spcBef>
                <a:spcPts val="0"/>
              </a:spcBef>
              <a:spcAft>
                <a:spcPts val="0"/>
              </a:spcAft>
              <a:buSzPts val="1800"/>
              <a:buNone/>
            </a:pPr>
            <a:r>
              <a:rPr lang="en-US"/>
              <a:t>Some books say: level of root = 0</a:t>
            </a:r>
            <a:endParaRPr/>
          </a:p>
        </p:txBody>
      </p:sp>
      <p:sp>
        <p:nvSpPr>
          <p:cNvPr id="184" name="Google Shape;184;p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4" name="Google Shape;194;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3" name="Google Shape;203;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9" name="Google Shape;239;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4" name="Google Shape;274;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9" name="Google Shape;309;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19" name="Google Shape;319;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Image source: JEDI (https://jedi.dev.java.net/)</a:t>
            </a:r>
            <a:endParaRPr/>
          </a:p>
        </p:txBody>
      </p:sp>
      <p:sp>
        <p:nvSpPr>
          <p:cNvPr id="320" name="Google Shape;320;p1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32" name="Google Shape;332;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Image Source: JED</a:t>
            </a:r>
            <a:endParaRPr/>
          </a:p>
          <a:p>
            <a:pPr indent="0" lvl="0" marL="0" rtl="0" algn="l">
              <a:spcBef>
                <a:spcPts val="0"/>
              </a:spcBef>
              <a:spcAft>
                <a:spcPts val="0"/>
              </a:spcAft>
              <a:buSzPts val="1800"/>
              <a:buNone/>
            </a:pPr>
            <a:r>
              <a:rPr lang="en-US"/>
              <a:t>Some books say: level of root = 0</a:t>
            </a:r>
            <a:endParaRPr/>
          </a:p>
        </p:txBody>
      </p:sp>
      <p:sp>
        <p:nvSpPr>
          <p:cNvPr id="333" name="Google Shape;333;p1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2" name="Google Shape;342;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2" name="Google Shape;352;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4" name="Google Shape;364;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4" name="Google Shape;374;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7" name="Google Shape;387;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5" name="Google Shape;395;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5" name="Google Shape;415;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5" name="Google Shape;425;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5" name="Google Shape;435;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5" name="Google Shape;445;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5" name="Google Shape;455;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4" name="Google Shape;464;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4" name="Google Shape;474;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4" name="Google Shape;484;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p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3" name="Google Shape;493;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p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7" name="Google Shape;507;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p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8" name="Google Shape;518;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p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9" name="Google Shape;529;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p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8" name="Google Shape;538;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p3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548" name="Google Shape;548;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549" name="Google Shape;549;p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p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8" name="Google Shape;558;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6" name="Shape 16"/>
        <p:cNvGrpSpPr/>
        <p:nvPr/>
      </p:nvGrpSpPr>
      <p:grpSpPr>
        <a:xfrm>
          <a:off x="0" y="0"/>
          <a:ext cx="0" cy="0"/>
          <a:chOff x="0" y="0"/>
          <a:chExt cx="0" cy="0"/>
        </a:xfrm>
      </p:grpSpPr>
      <p:sp>
        <p:nvSpPr>
          <p:cNvPr id="17" name="Google Shape;17;p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b="0"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36"/>
          <p:cNvSpPr txBox="1"/>
          <p:nvPr>
            <p:ph idx="11" type="ftr"/>
          </p:nvPr>
        </p:nvSpPr>
        <p:spPr>
          <a:xfrm>
            <a:off x="2895600" y="6356350"/>
            <a:ext cx="3352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b="0"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r>
              <a:rPr lang="en-US"/>
              <a:t>/34</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0" name="Shape 20"/>
        <p:cNvGrpSpPr/>
        <p:nvPr/>
      </p:nvGrpSpPr>
      <p:grpSpPr>
        <a:xfrm>
          <a:off x="0" y="0"/>
          <a:ext cx="0" cy="0"/>
          <a:chOff x="0" y="0"/>
          <a:chExt cx="0" cy="0"/>
        </a:xfrm>
      </p:grpSpPr>
      <p:sp>
        <p:nvSpPr>
          <p:cNvPr id="21" name="Google Shape;21;p3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atin typeface="Arial"/>
                <a:ea typeface="Arial"/>
                <a:cs typeface="Arial"/>
                <a:sym typeface="Aria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2" name="Google Shape;22;p37"/>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391160" lvl="0" marL="457200" algn="l">
              <a:spcBef>
                <a:spcPts val="640"/>
              </a:spcBef>
              <a:spcAft>
                <a:spcPts val="0"/>
              </a:spcAft>
              <a:buClr>
                <a:srgbClr val="538CD5"/>
              </a:buClr>
              <a:buSzPts val="2560"/>
              <a:buFont typeface="Noto Sans Symbols"/>
              <a:buChar char="●"/>
              <a:defRPr>
                <a:latin typeface="Arial"/>
                <a:ea typeface="Arial"/>
                <a:cs typeface="Arial"/>
                <a:sym typeface="Arial"/>
              </a:defRPr>
            </a:lvl1pPr>
            <a:lvl2pPr indent="-406400" lvl="1" marL="914400" algn="l">
              <a:spcBef>
                <a:spcPts val="560"/>
              </a:spcBef>
              <a:spcAft>
                <a:spcPts val="0"/>
              </a:spcAft>
              <a:buClr>
                <a:schemeClr val="dk1"/>
              </a:buClr>
              <a:buSzPts val="2800"/>
              <a:buChar char="–"/>
              <a:defRPr/>
            </a:lvl2pPr>
            <a:lvl3pPr indent="-381000" lvl="2" marL="1371600" algn="l">
              <a:spcBef>
                <a:spcPts val="480"/>
              </a:spcBef>
              <a:spcAft>
                <a:spcPts val="0"/>
              </a:spcAft>
              <a:buClr>
                <a:schemeClr val="dk1"/>
              </a:buClr>
              <a:buSzPts val="2400"/>
              <a:buChar char="•"/>
              <a:defRPr/>
            </a:lvl3pPr>
            <a:lvl4pPr indent="-355600" lvl="3" marL="1828800" algn="l">
              <a:spcBef>
                <a:spcPts val="400"/>
              </a:spcBef>
              <a:spcAft>
                <a:spcPts val="0"/>
              </a:spcAft>
              <a:buClr>
                <a:schemeClr val="dk1"/>
              </a:buClr>
              <a:buSzPts val="2000"/>
              <a:buChar char="–"/>
              <a:defRPr/>
            </a:lvl4pPr>
            <a:lvl5pPr indent="-355600" lvl="4" marL="2286000" algn="l">
              <a:spcBef>
                <a:spcPts val="400"/>
              </a:spcBef>
              <a:spcAft>
                <a:spcPts val="0"/>
              </a:spcAft>
              <a:buClr>
                <a:schemeClr val="dk1"/>
              </a:buClr>
              <a:buSzPts val="20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3" name="Google Shape;23;p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b="0"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37"/>
          <p:cNvSpPr txBox="1"/>
          <p:nvPr>
            <p:ph idx="11" type="ftr"/>
          </p:nvPr>
        </p:nvSpPr>
        <p:spPr>
          <a:xfrm>
            <a:off x="2895600" y="6356350"/>
            <a:ext cx="3352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b="0"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r>
              <a:rPr lang="en-US"/>
              <a:t>/34</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6" name="Shape 26"/>
        <p:cNvGrpSpPr/>
        <p:nvPr/>
      </p:nvGrpSpPr>
      <p:grpSpPr>
        <a:xfrm>
          <a:off x="0" y="0"/>
          <a:ext cx="0" cy="0"/>
          <a:chOff x="0" y="0"/>
          <a:chExt cx="0" cy="0"/>
        </a:xfrm>
      </p:grpSpPr>
      <p:sp>
        <p:nvSpPr>
          <p:cNvPr id="27" name="Google Shape;27;p3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8" name="Google Shape;28;p38"/>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29" name="Google Shape;29;p38"/>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0" name="Google Shape;30;p3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b="0"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38"/>
          <p:cNvSpPr txBox="1"/>
          <p:nvPr>
            <p:ph idx="11" type="ftr"/>
          </p:nvPr>
        </p:nvSpPr>
        <p:spPr>
          <a:xfrm>
            <a:off x="2895600" y="6356350"/>
            <a:ext cx="3352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b="0"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r>
              <a:rPr lang="en-US"/>
              <a:t>/34</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33" name="Shape 33"/>
        <p:cNvGrpSpPr/>
        <p:nvPr/>
      </p:nvGrpSpPr>
      <p:grpSpPr>
        <a:xfrm>
          <a:off x="0" y="0"/>
          <a:ext cx="0" cy="0"/>
          <a:chOff x="0" y="0"/>
          <a:chExt cx="0" cy="0"/>
        </a:xfrm>
      </p:grpSpPr>
      <p:sp>
        <p:nvSpPr>
          <p:cNvPr id="34" name="Google Shape;34;p39"/>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5" name="Google Shape;35;p39"/>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6" name="Google Shape;36;p3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b="0"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39"/>
          <p:cNvSpPr txBox="1"/>
          <p:nvPr>
            <p:ph idx="11" type="ftr"/>
          </p:nvPr>
        </p:nvSpPr>
        <p:spPr>
          <a:xfrm>
            <a:off x="2895600" y="6356350"/>
            <a:ext cx="3352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b="0"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r>
              <a:rPr lang="en-US"/>
              <a:t>/34</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39" name="Shape 39"/>
        <p:cNvGrpSpPr/>
        <p:nvPr/>
      </p:nvGrpSpPr>
      <p:grpSpPr>
        <a:xfrm>
          <a:off x="0" y="0"/>
          <a:ext cx="0" cy="0"/>
          <a:chOff x="0" y="0"/>
          <a:chExt cx="0" cy="0"/>
        </a:xfrm>
      </p:grpSpPr>
      <p:sp>
        <p:nvSpPr>
          <p:cNvPr id="40" name="Google Shape;40;p4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1" name="Google Shape;41;p40"/>
          <p:cNvSpPr txBox="1"/>
          <p:nvPr>
            <p:ph idx="1" type="body"/>
          </p:nvPr>
        </p:nvSpPr>
        <p:spPr>
          <a:xfrm rot="5400000">
            <a:off x="2309019" y="-251619"/>
            <a:ext cx="4525962" cy="82296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2" name="Google Shape;42;p4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b="0"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40"/>
          <p:cNvSpPr txBox="1"/>
          <p:nvPr>
            <p:ph idx="11" type="ftr"/>
          </p:nvPr>
        </p:nvSpPr>
        <p:spPr>
          <a:xfrm>
            <a:off x="2895600" y="6356350"/>
            <a:ext cx="3352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b="0"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r>
              <a:rPr lang="en-US"/>
              <a:t>/34</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45" name="Shape 45"/>
        <p:cNvGrpSpPr/>
        <p:nvPr/>
      </p:nvGrpSpPr>
      <p:grpSpPr>
        <a:xfrm>
          <a:off x="0" y="0"/>
          <a:ext cx="0" cy="0"/>
          <a:chOff x="0" y="0"/>
          <a:chExt cx="0" cy="0"/>
        </a:xfrm>
      </p:grpSpPr>
      <p:sp>
        <p:nvSpPr>
          <p:cNvPr id="46" name="Google Shape;46;p41"/>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7" name="Google Shape;47;p41"/>
          <p:cNvSpPr/>
          <p:nvPr>
            <p:ph idx="2" type="pic"/>
          </p:nvPr>
        </p:nvSpPr>
        <p:spPr>
          <a:xfrm>
            <a:off x="1792288" y="612775"/>
            <a:ext cx="5486400" cy="4114800"/>
          </a:xfrm>
          <a:prstGeom prst="rect">
            <a:avLst/>
          </a:prstGeom>
          <a:noFill/>
          <a:ln>
            <a:noFill/>
          </a:ln>
        </p:spPr>
      </p:sp>
      <p:sp>
        <p:nvSpPr>
          <p:cNvPr id="48" name="Google Shape;48;p41"/>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49" name="Google Shape;49;p4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b="0"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41"/>
          <p:cNvSpPr txBox="1"/>
          <p:nvPr>
            <p:ph idx="11" type="ftr"/>
          </p:nvPr>
        </p:nvSpPr>
        <p:spPr>
          <a:xfrm>
            <a:off x="2895600" y="6356350"/>
            <a:ext cx="3352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b="0"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4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r>
              <a:rPr lang="en-US"/>
              <a:t>/34</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2" name="Shape 52"/>
        <p:cNvGrpSpPr/>
        <p:nvPr/>
      </p:nvGrpSpPr>
      <p:grpSpPr>
        <a:xfrm>
          <a:off x="0" y="0"/>
          <a:ext cx="0" cy="0"/>
          <a:chOff x="0" y="0"/>
          <a:chExt cx="0" cy="0"/>
        </a:xfrm>
      </p:grpSpPr>
      <p:sp>
        <p:nvSpPr>
          <p:cNvPr id="53" name="Google Shape;53;p42"/>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4" name="Google Shape;54;p42"/>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5" name="Google Shape;55;p42"/>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6" name="Google Shape;56;p4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b="0"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42"/>
          <p:cNvSpPr txBox="1"/>
          <p:nvPr>
            <p:ph idx="11" type="ftr"/>
          </p:nvPr>
        </p:nvSpPr>
        <p:spPr>
          <a:xfrm>
            <a:off x="2895600" y="6356350"/>
            <a:ext cx="3352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b="0"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4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r>
              <a:rPr lang="en-US"/>
              <a:t>/34</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9" name="Shape 59"/>
        <p:cNvGrpSpPr/>
        <p:nvPr/>
      </p:nvGrpSpPr>
      <p:grpSpPr>
        <a:xfrm>
          <a:off x="0" y="0"/>
          <a:ext cx="0" cy="0"/>
          <a:chOff x="0" y="0"/>
          <a:chExt cx="0" cy="0"/>
        </a:xfrm>
      </p:grpSpPr>
      <p:sp>
        <p:nvSpPr>
          <p:cNvPr id="60" name="Google Shape;60;p4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1" name="Google Shape;61;p4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b="0"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43"/>
          <p:cNvSpPr txBox="1"/>
          <p:nvPr>
            <p:ph idx="11" type="ftr"/>
          </p:nvPr>
        </p:nvSpPr>
        <p:spPr>
          <a:xfrm>
            <a:off x="2895600" y="6356350"/>
            <a:ext cx="3352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b="0"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4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r>
              <a:rPr lang="en-US"/>
              <a:t>/34</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4" name="Shape 64"/>
        <p:cNvGrpSpPr/>
        <p:nvPr/>
      </p:nvGrpSpPr>
      <p:grpSpPr>
        <a:xfrm>
          <a:off x="0" y="0"/>
          <a:ext cx="0" cy="0"/>
          <a:chOff x="0" y="0"/>
          <a:chExt cx="0" cy="0"/>
        </a:xfrm>
      </p:grpSpPr>
      <p:sp>
        <p:nvSpPr>
          <p:cNvPr id="65" name="Google Shape;65;p4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6" name="Google Shape;66;p44"/>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67" name="Google Shape;67;p44"/>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68" name="Google Shape;68;p44"/>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69" name="Google Shape;69;p44"/>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70" name="Google Shape;70;p4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b="0"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44"/>
          <p:cNvSpPr txBox="1"/>
          <p:nvPr>
            <p:ph idx="11" type="ftr"/>
          </p:nvPr>
        </p:nvSpPr>
        <p:spPr>
          <a:xfrm>
            <a:off x="2895600" y="6356350"/>
            <a:ext cx="3352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b="0"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4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r>
              <a:rPr lang="en-US"/>
              <a:t>/34</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3" name="Shape 73"/>
        <p:cNvGrpSpPr/>
        <p:nvPr/>
      </p:nvGrpSpPr>
      <p:grpSpPr>
        <a:xfrm>
          <a:off x="0" y="0"/>
          <a:ext cx="0" cy="0"/>
          <a:chOff x="0" y="0"/>
          <a:chExt cx="0" cy="0"/>
        </a:xfrm>
      </p:grpSpPr>
      <p:sp>
        <p:nvSpPr>
          <p:cNvPr id="74" name="Google Shape;74;p4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5" name="Google Shape;75;p4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76" name="Google Shape;76;p4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b="0"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45"/>
          <p:cNvSpPr txBox="1"/>
          <p:nvPr>
            <p:ph idx="11" type="ftr"/>
          </p:nvPr>
        </p:nvSpPr>
        <p:spPr>
          <a:xfrm>
            <a:off x="2895600" y="6356350"/>
            <a:ext cx="3352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b="0"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4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r>
              <a:rPr lang="en-US"/>
              <a:t>/34</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79" name="Shape 79"/>
        <p:cNvGrpSpPr/>
        <p:nvPr/>
      </p:nvGrpSpPr>
      <p:grpSpPr>
        <a:xfrm>
          <a:off x="0" y="0"/>
          <a:ext cx="0" cy="0"/>
          <a:chOff x="0" y="0"/>
          <a:chExt cx="0" cy="0"/>
        </a:xfrm>
      </p:grpSpPr>
      <p:sp>
        <p:nvSpPr>
          <p:cNvPr id="80" name="Google Shape;80;p46"/>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1" name="Google Shape;81;p46"/>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82" name="Google Shape;82;p4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b="0"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46"/>
          <p:cNvSpPr txBox="1"/>
          <p:nvPr>
            <p:ph idx="11" type="ftr"/>
          </p:nvPr>
        </p:nvSpPr>
        <p:spPr>
          <a:xfrm>
            <a:off x="2895600" y="6356350"/>
            <a:ext cx="3352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b="0"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4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r>
              <a:rPr lang="en-US"/>
              <a:t>/34</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11" name="Google Shape;11;p35"/>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200" u="none" cap="none" strike="noStrike">
                <a:solidFill>
                  <a:srgbClr val="898989"/>
                </a:solidFill>
                <a:latin typeface="Arial"/>
                <a:ea typeface="Arial"/>
                <a:cs typeface="Arial"/>
                <a:sym typeface="Arial"/>
              </a:defRPr>
            </a:lvl1pPr>
            <a:lvl2pPr lvl="1" marR="0" rtl="0" algn="l">
              <a:lnSpc>
                <a:spcPct val="100000"/>
              </a:lnSpc>
              <a:spcBef>
                <a:spcPts val="0"/>
              </a:spcBef>
              <a:spcAft>
                <a:spcPts val="0"/>
              </a:spcAft>
              <a:buSzPts val="1400"/>
              <a:buNone/>
              <a:defRPr b="1" i="0" sz="44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1" i="0" sz="44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1" i="0" sz="44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1" i="0" sz="44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1" i="0" sz="44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1" i="0" sz="44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1" i="0" sz="44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1" i="0" sz="4400" u="none" cap="none" strike="noStrike">
                <a:solidFill>
                  <a:schemeClr val="dk1"/>
                </a:solidFill>
                <a:latin typeface="Arial"/>
                <a:ea typeface="Arial"/>
                <a:cs typeface="Arial"/>
                <a:sym typeface="Arial"/>
              </a:defRPr>
            </a:lvl9pPr>
          </a:lstStyle>
          <a:p/>
        </p:txBody>
      </p:sp>
      <p:sp>
        <p:nvSpPr>
          <p:cNvPr id="13" name="Google Shape;13;p35"/>
          <p:cNvSpPr txBox="1"/>
          <p:nvPr>
            <p:ph idx="11" type="ftr"/>
          </p:nvPr>
        </p:nvSpPr>
        <p:spPr>
          <a:xfrm>
            <a:off x="2895600" y="6356350"/>
            <a:ext cx="3352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SzPts val="1400"/>
              <a:buNone/>
              <a:defRPr b="0" i="0" sz="1200" u="none" cap="none" strike="noStrike">
                <a:solidFill>
                  <a:srgbClr val="898989"/>
                </a:solidFill>
                <a:latin typeface="Arial"/>
                <a:ea typeface="Arial"/>
                <a:cs typeface="Arial"/>
                <a:sym typeface="Arial"/>
              </a:defRPr>
            </a:lvl1pPr>
            <a:lvl2pPr lvl="1" marR="0" rtl="0" algn="l">
              <a:lnSpc>
                <a:spcPct val="100000"/>
              </a:lnSpc>
              <a:spcBef>
                <a:spcPts val="0"/>
              </a:spcBef>
              <a:spcAft>
                <a:spcPts val="0"/>
              </a:spcAft>
              <a:buSzPts val="1400"/>
              <a:buNone/>
              <a:defRPr b="1" i="0" sz="44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1" i="0" sz="44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1" i="0" sz="44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1" i="0" sz="44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1" i="0" sz="44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1" i="0" sz="44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1" i="0" sz="44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1" i="0" sz="4400" u="none" cap="none" strike="noStrike">
                <a:solidFill>
                  <a:schemeClr val="dk1"/>
                </a:solidFill>
                <a:latin typeface="Arial"/>
                <a:ea typeface="Arial"/>
                <a:cs typeface="Arial"/>
                <a:sym typeface="Arial"/>
              </a:defRPr>
            </a:lvl9pPr>
          </a:lstStyle>
          <a:p/>
        </p:txBody>
      </p:sp>
      <p:sp>
        <p:nvSpPr>
          <p:cNvPr id="14" name="Google Shape;14;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1pPr>
            <a:lvl2pPr indent="0" lvl="1" marL="0" marR="0" rtl="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2pPr>
            <a:lvl3pPr indent="0" lvl="2" marL="0" marR="0" rtl="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3pPr>
            <a:lvl4pPr indent="0" lvl="3" marL="0" marR="0" rtl="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4pPr>
            <a:lvl5pPr indent="0" lvl="4" marL="0" marR="0" rtl="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5pPr>
            <a:lvl6pPr indent="0" lvl="5" marL="0" marR="0" rtl="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6pPr>
            <a:lvl7pPr indent="0" lvl="6" marL="0" marR="0" rtl="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7pPr>
            <a:lvl8pPr indent="0" lvl="7" marL="0" marR="0" rtl="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8pPr>
            <a:lvl9pPr indent="0" lvl="8" marL="0" marR="0" rtl="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r>
              <a:rPr lang="en-US"/>
              <a:t>/34</a:t>
            </a:r>
            <a:endParaRPr sz="1400">
              <a:solidFill>
                <a:srgbClr val="000000"/>
              </a:solidFill>
            </a:endParaRPr>
          </a:p>
        </p:txBody>
      </p:sp>
      <p:pic>
        <p:nvPicPr>
          <p:cNvPr descr="logo05" id="15" name="Google Shape;15;p35"/>
          <p:cNvPicPr preferRelativeResize="0"/>
          <p:nvPr/>
        </p:nvPicPr>
        <p:blipFill rotWithShape="1">
          <a:blip r:embed="rId1">
            <a:alphaModFix/>
          </a:blip>
          <a:srcRect b="0" l="0" r="0" t="0"/>
          <a:stretch/>
        </p:blipFill>
        <p:spPr>
          <a:xfrm>
            <a:off x="0" y="0"/>
            <a:ext cx="1600200" cy="47625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8.png"/><Relationship Id="rId4" Type="http://schemas.openxmlformats.org/officeDocument/2006/relationships/image" Target="../media/image5.png"/><Relationship Id="rId5"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8.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2.png"/><Relationship Id="rId4" Type="http://schemas.openxmlformats.org/officeDocument/2006/relationships/image" Target="../media/image1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1.png"/><Relationship Id="rId4" Type="http://schemas.openxmlformats.org/officeDocument/2006/relationships/image" Target="../media/image1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2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8" name="Shape 88"/>
        <p:cNvGrpSpPr/>
        <p:nvPr/>
      </p:nvGrpSpPr>
      <p:grpSpPr>
        <a:xfrm>
          <a:off x="0" y="0"/>
          <a:ext cx="0" cy="0"/>
          <a:chOff x="0" y="0"/>
          <a:chExt cx="0" cy="0"/>
        </a:xfrm>
      </p:grpSpPr>
      <p:sp>
        <p:nvSpPr>
          <p:cNvPr id="89" name="Google Shape;89;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None/>
            </a:pPr>
            <a:fld id="{00000000-1234-1234-1234-123412341234}" type="slidenum">
              <a:rPr lang="en-US"/>
              <a:t>‹#›</a:t>
            </a:fld>
            <a:endParaRPr/>
          </a:p>
        </p:txBody>
      </p:sp>
      <p:sp>
        <p:nvSpPr>
          <p:cNvPr id="90" name="Google Shape;90;p1"/>
          <p:cNvSpPr txBox="1"/>
          <p:nvPr/>
        </p:nvSpPr>
        <p:spPr>
          <a:xfrm>
            <a:off x="2895600" y="6356350"/>
            <a:ext cx="3352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Data Structures and Algorithms in Java </a:t>
            </a:r>
            <a:endParaRPr/>
          </a:p>
        </p:txBody>
      </p:sp>
      <p:sp>
        <p:nvSpPr>
          <p:cNvPr id="91" name="Google Shape;91;p1"/>
          <p:cNvSpPr txBox="1"/>
          <p:nvPr>
            <p:ph idx="4294967295" type="ctrTitle"/>
          </p:nvPr>
        </p:nvSpPr>
        <p:spPr>
          <a:xfrm>
            <a:off x="533400" y="2590800"/>
            <a:ext cx="7620000" cy="7620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chemeClr val="dk2"/>
              </a:buClr>
              <a:buSzPts val="4400"/>
              <a:buFont typeface="Arial"/>
              <a:buNone/>
            </a:pPr>
            <a:r>
              <a:rPr b="1" i="0" lang="en-US" sz="4400" u="none" cap="none" strike="noStrike">
                <a:solidFill>
                  <a:schemeClr val="dk2"/>
                </a:solidFill>
                <a:latin typeface="Arial"/>
                <a:ea typeface="Arial"/>
                <a:cs typeface="Arial"/>
                <a:sym typeface="Arial"/>
              </a:rPr>
              <a:t>4. Trees</a:t>
            </a:r>
            <a:endParaRPr/>
          </a:p>
        </p:txBody>
      </p:sp>
      <p:sp>
        <p:nvSpPr>
          <p:cNvPr id="92" name="Google Shape;92;p1"/>
          <p:cNvSpPr txBox="1"/>
          <p:nvPr/>
        </p:nvSpPr>
        <p:spPr>
          <a:xfrm>
            <a:off x="2819400" y="3429000"/>
            <a:ext cx="3352800" cy="6413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hlink"/>
              </a:buClr>
              <a:buSzPts val="3600"/>
              <a:buFont typeface="Arial"/>
              <a:buNone/>
            </a:pPr>
            <a:r>
              <a:rPr b="1" i="0" lang="en-US" sz="3600" u="none" cap="none" strike="noStrike">
                <a:solidFill>
                  <a:schemeClr val="hlink"/>
                </a:solidFill>
                <a:latin typeface="Arial"/>
                <a:ea typeface="Arial"/>
                <a:cs typeface="Arial"/>
                <a:sym typeface="Arial"/>
              </a:rPr>
              <a:t>Part 1</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7" name="Shape 97"/>
        <p:cNvGrpSpPr/>
        <p:nvPr/>
      </p:nvGrpSpPr>
      <p:grpSpPr>
        <a:xfrm>
          <a:off x="0" y="0"/>
          <a:ext cx="0" cy="0"/>
          <a:chOff x="0" y="0"/>
          <a:chExt cx="0" cy="0"/>
        </a:xfrm>
      </p:grpSpPr>
      <p:sp>
        <p:nvSpPr>
          <p:cNvPr id="98" name="Google Shape;98;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None/>
            </a:pPr>
            <a:fld id="{00000000-1234-1234-1234-123412341234}" type="slidenum">
              <a:rPr lang="en-US"/>
              <a:t>‹#›</a:t>
            </a:fld>
            <a:endParaRPr/>
          </a:p>
        </p:txBody>
      </p:sp>
      <p:sp>
        <p:nvSpPr>
          <p:cNvPr id="99" name="Google Shape;99;p2"/>
          <p:cNvSpPr txBox="1"/>
          <p:nvPr/>
        </p:nvSpPr>
        <p:spPr>
          <a:xfrm>
            <a:off x="2895600" y="6356350"/>
            <a:ext cx="3352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Data Structures and Algorithms in Java </a:t>
            </a:r>
            <a:endParaRPr/>
          </a:p>
        </p:txBody>
      </p:sp>
      <p:sp>
        <p:nvSpPr>
          <p:cNvPr id="100" name="Google Shape;100;p2"/>
          <p:cNvSpPr txBox="1"/>
          <p:nvPr/>
        </p:nvSpPr>
        <p:spPr>
          <a:xfrm>
            <a:off x="0" y="1271587"/>
            <a:ext cx="533400" cy="244475"/>
          </a:xfrm>
          <a:prstGeom prst="rect">
            <a:avLst/>
          </a:prstGeom>
          <a:noFill/>
          <a:ln>
            <a:noFill/>
          </a:ln>
        </p:spPr>
        <p:txBody>
          <a:bodyPr anchorCtr="0" anchor="ctr" bIns="45700" lIns="91425" spcFirstLastPara="1" rIns="91425" wrap="square" tIns="45700">
            <a:normAutofit/>
          </a:bodyPr>
          <a:lstStyle/>
          <a:p>
            <a:pPr indent="0" lvl="0" marL="0" marR="0" rtl="0" algn="ctr">
              <a:lnSpc>
                <a:spcPct val="80000"/>
              </a:lnSpc>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 </a:t>
            </a:r>
            <a:fld id="{00000000-1234-1234-1234-123412341234}" type="slidenum">
              <a:rPr b="1" i="0" lang="en-US" sz="1200" u="none" cap="none" strike="noStrike">
                <a:solidFill>
                  <a:srgbClr val="FFFFFF"/>
                </a:solidFill>
                <a:latin typeface="Arial"/>
                <a:ea typeface="Arial"/>
                <a:cs typeface="Arial"/>
                <a:sym typeface="Arial"/>
              </a:rPr>
              <a:t>‹#›</a:t>
            </a:fld>
            <a:endParaRPr/>
          </a:p>
        </p:txBody>
      </p:sp>
      <p:sp>
        <p:nvSpPr>
          <p:cNvPr id="101" name="Google Shape;101;p2"/>
          <p:cNvSpPr txBox="1"/>
          <p:nvPr>
            <p:ph idx="4294967295" type="body"/>
          </p:nvPr>
        </p:nvSpPr>
        <p:spPr>
          <a:xfrm>
            <a:off x="1524000" y="1295400"/>
            <a:ext cx="6477000" cy="5133975"/>
          </a:xfrm>
          <a:prstGeom prst="rect">
            <a:avLst/>
          </a:prstGeom>
          <a:noFill/>
          <a:ln>
            <a:noFill/>
          </a:ln>
        </p:spPr>
        <p:txBody>
          <a:bodyPr anchorCtr="0" anchor="t" bIns="45700" lIns="91425" spcFirstLastPara="1" rIns="91425" wrap="square" tIns="45700">
            <a:spAutoFit/>
          </a:bodyPr>
          <a:lstStyle/>
          <a:p>
            <a:pPr indent="-319087" lvl="0" marL="319087" marR="0" rtl="0" algn="l">
              <a:lnSpc>
                <a:spcPct val="100000"/>
              </a:lnSpc>
              <a:spcBef>
                <a:spcPts val="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What is a Trees?</a:t>
            </a:r>
            <a:endParaRPr/>
          </a:p>
          <a:p>
            <a:pPr indent="-319087" lvl="0" marL="319087" marR="0" rtl="0" algn="l">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Tree Terminology</a:t>
            </a:r>
            <a:endParaRPr/>
          </a:p>
          <a:p>
            <a:pPr indent="-319087" lvl="0" marL="319087" marR="0" rtl="0" algn="l">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Tree examples</a:t>
            </a:r>
            <a:endParaRPr/>
          </a:p>
          <a:p>
            <a:pPr indent="-319087" lvl="0" marL="319087" marR="0" rtl="0" algn="l">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Ordered Trees</a:t>
            </a:r>
            <a:endParaRPr/>
          </a:p>
          <a:p>
            <a:pPr indent="-319087" lvl="0" marL="319087" marR="0" rtl="0" algn="l">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Tree Traversals</a:t>
            </a:r>
            <a:endParaRPr/>
          </a:p>
          <a:p>
            <a:pPr indent="-319087" lvl="0" marL="319087" marR="0" rtl="0" algn="l">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Binary Trees</a:t>
            </a:r>
            <a:endParaRPr/>
          </a:p>
          <a:p>
            <a:pPr indent="-319087" lvl="0" marL="319087" marR="0" rtl="0" algn="l">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Implementing Binary Trees</a:t>
            </a:r>
            <a:endParaRPr/>
          </a:p>
          <a:p>
            <a:pPr indent="-319087" lvl="0" marL="319087" marR="0" rtl="0" algn="l">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Binary Search Tree</a:t>
            </a:r>
            <a:endParaRPr/>
          </a:p>
          <a:p>
            <a:pPr indent="-319087" lvl="0" marL="319087" marR="0" rtl="0" algn="l">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Insertion</a:t>
            </a:r>
            <a:endParaRPr/>
          </a:p>
          <a:p>
            <a:pPr indent="-319087" lvl="0" marL="319087" marR="0" rtl="0" algn="l">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Deletion</a:t>
            </a:r>
            <a:endParaRPr/>
          </a:p>
        </p:txBody>
      </p:sp>
      <p:sp>
        <p:nvSpPr>
          <p:cNvPr id="102" name="Google Shape;102;p2"/>
          <p:cNvSpPr txBox="1"/>
          <p:nvPr/>
        </p:nvSpPr>
        <p:spPr>
          <a:xfrm>
            <a:off x="457200" y="457200"/>
            <a:ext cx="8229600" cy="701675"/>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CC3300"/>
              </a:buClr>
              <a:buSzPts val="4000"/>
              <a:buFont typeface="Calibri"/>
              <a:buNone/>
            </a:pPr>
            <a:r>
              <a:rPr b="1" i="0" lang="en-US" sz="4000" u="none" cap="none" strike="noStrike">
                <a:solidFill>
                  <a:srgbClr val="CC3300"/>
                </a:solidFill>
                <a:latin typeface="Calibri"/>
                <a:ea typeface="Calibri"/>
                <a:cs typeface="Calibri"/>
                <a:sym typeface="Calibri"/>
              </a:rPr>
              <a:t>Objectives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6" name="Shape 106"/>
        <p:cNvGrpSpPr/>
        <p:nvPr/>
      </p:nvGrpSpPr>
      <p:grpSpPr>
        <a:xfrm>
          <a:off x="0" y="0"/>
          <a:ext cx="0" cy="0"/>
          <a:chOff x="0" y="0"/>
          <a:chExt cx="0" cy="0"/>
        </a:xfrm>
      </p:grpSpPr>
      <p:sp>
        <p:nvSpPr>
          <p:cNvPr id="107" name="Google Shape;107;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None/>
            </a:pPr>
            <a:fld id="{00000000-1234-1234-1234-123412341234}" type="slidenum">
              <a:rPr lang="en-US"/>
              <a:t>‹#›</a:t>
            </a:fld>
            <a:endParaRPr/>
          </a:p>
        </p:txBody>
      </p:sp>
      <p:sp>
        <p:nvSpPr>
          <p:cNvPr id="108" name="Google Shape;108;p3"/>
          <p:cNvSpPr txBox="1"/>
          <p:nvPr/>
        </p:nvSpPr>
        <p:spPr>
          <a:xfrm>
            <a:off x="2895600" y="6356350"/>
            <a:ext cx="3352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Data Structures and Algorithms in Java </a:t>
            </a:r>
            <a:endParaRPr/>
          </a:p>
        </p:txBody>
      </p:sp>
      <p:sp>
        <p:nvSpPr>
          <p:cNvPr id="109" name="Google Shape;109;p3"/>
          <p:cNvSpPr txBox="1"/>
          <p:nvPr>
            <p:ph type="title"/>
          </p:nvPr>
        </p:nvSpPr>
        <p:spPr>
          <a:xfrm>
            <a:off x="457200" y="533400"/>
            <a:ext cx="8229600" cy="701675"/>
          </a:xfrm>
          <a:prstGeom prst="rect">
            <a:avLst/>
          </a:prstGeom>
          <a:noFill/>
          <a:ln>
            <a:noFill/>
          </a:ln>
        </p:spPr>
        <p:txBody>
          <a:bodyPr anchorCtr="0" anchor="ctr" bIns="45700" lIns="91425" spcFirstLastPara="1" rIns="91425" wrap="square" tIns="45700">
            <a:spAutoFit/>
          </a:bodyPr>
          <a:lstStyle/>
          <a:p>
            <a:pPr indent="0" lvl="0" marL="0" rtl="0" algn="ctr">
              <a:lnSpc>
                <a:spcPct val="100000"/>
              </a:lnSpc>
              <a:spcBef>
                <a:spcPts val="0"/>
              </a:spcBef>
              <a:spcAft>
                <a:spcPts val="0"/>
              </a:spcAft>
              <a:buClr>
                <a:srgbClr val="CC3300"/>
              </a:buClr>
              <a:buSzPts val="4000"/>
              <a:buFont typeface="Calibri"/>
              <a:buNone/>
            </a:pPr>
            <a:r>
              <a:rPr b="1" i="0" lang="en-US" sz="4000" u="none">
                <a:solidFill>
                  <a:srgbClr val="CC3300"/>
                </a:solidFill>
                <a:latin typeface="Calibri"/>
                <a:ea typeface="Calibri"/>
                <a:cs typeface="Calibri"/>
                <a:sym typeface="Calibri"/>
              </a:rPr>
              <a:t>What is a Tree?</a:t>
            </a:r>
            <a:endParaRPr/>
          </a:p>
        </p:txBody>
      </p:sp>
      <p:sp>
        <p:nvSpPr>
          <p:cNvPr id="110" name="Google Shape;110;p3"/>
          <p:cNvSpPr txBox="1"/>
          <p:nvPr>
            <p:ph idx="1" type="body"/>
          </p:nvPr>
        </p:nvSpPr>
        <p:spPr>
          <a:xfrm>
            <a:off x="457200" y="1371600"/>
            <a:ext cx="3352800" cy="3700462"/>
          </a:xfrm>
          <a:prstGeom prst="rect">
            <a:avLst/>
          </a:prstGeom>
          <a:noFill/>
          <a:ln>
            <a:noFill/>
          </a:ln>
        </p:spPr>
        <p:txBody>
          <a:bodyPr anchorCtr="0" anchor="t" bIns="45700" lIns="91425" spcFirstLastPara="1" rIns="91425" wrap="square" tIns="45700">
            <a:spAutoFit/>
          </a:bodyPr>
          <a:lstStyle/>
          <a:p>
            <a:pPr indent="-342900" lvl="0" marL="342900" rtl="0" algn="l">
              <a:lnSpc>
                <a:spcPct val="90000"/>
              </a:lnSpc>
              <a:spcBef>
                <a:spcPts val="0"/>
              </a:spcBef>
              <a:spcAft>
                <a:spcPts val="0"/>
              </a:spcAft>
              <a:buSzPts val="1440"/>
              <a:buFont typeface="Arial"/>
              <a:buChar char="•"/>
            </a:pPr>
            <a:r>
              <a:rPr b="0" i="0" lang="en-US" sz="1800" u="none">
                <a:solidFill>
                  <a:schemeClr val="dk1"/>
                </a:solidFill>
                <a:latin typeface="Calibri"/>
                <a:ea typeface="Calibri"/>
                <a:cs typeface="Calibri"/>
                <a:sym typeface="Calibri"/>
              </a:rPr>
              <a:t>In computer science, a tree is an abstract model of a hierarchical structure</a:t>
            </a:r>
            <a:endParaRPr/>
          </a:p>
          <a:p>
            <a:pPr indent="-342900" lvl="0" marL="342900" rtl="0" algn="l">
              <a:lnSpc>
                <a:spcPct val="90000"/>
              </a:lnSpc>
              <a:spcBef>
                <a:spcPts val="360"/>
              </a:spcBef>
              <a:spcAft>
                <a:spcPts val="0"/>
              </a:spcAft>
              <a:buSzPts val="1440"/>
              <a:buFont typeface="Arial"/>
              <a:buChar char="•"/>
            </a:pPr>
            <a:r>
              <a:rPr b="0" i="0" lang="en-US" sz="1800" u="none">
                <a:solidFill>
                  <a:schemeClr val="dk1"/>
                </a:solidFill>
                <a:latin typeface="Calibri"/>
                <a:ea typeface="Calibri"/>
                <a:cs typeface="Calibri"/>
                <a:sym typeface="Calibri"/>
              </a:rPr>
              <a:t>A tree consists of nodes with a parent-child relation</a:t>
            </a:r>
            <a:endParaRPr/>
          </a:p>
          <a:p>
            <a:pPr indent="-342900" lvl="0" marL="342900" rtl="0" algn="l">
              <a:lnSpc>
                <a:spcPct val="90000"/>
              </a:lnSpc>
              <a:spcBef>
                <a:spcPts val="360"/>
              </a:spcBef>
              <a:spcAft>
                <a:spcPts val="0"/>
              </a:spcAft>
              <a:buSzPts val="1440"/>
              <a:buFont typeface="Arial"/>
              <a:buChar char="•"/>
            </a:pPr>
            <a:r>
              <a:rPr b="0" i="0" lang="en-US" sz="1800" u="none">
                <a:solidFill>
                  <a:schemeClr val="dk1"/>
                </a:solidFill>
                <a:latin typeface="Calibri"/>
                <a:ea typeface="Calibri"/>
                <a:cs typeface="Calibri"/>
                <a:sym typeface="Calibri"/>
              </a:rPr>
              <a:t>Inspiration: family trees</a:t>
            </a:r>
            <a:endParaRPr/>
          </a:p>
          <a:p>
            <a:pPr indent="-342900" lvl="0" marL="342900" rtl="0" algn="l">
              <a:lnSpc>
                <a:spcPct val="90000"/>
              </a:lnSpc>
              <a:spcBef>
                <a:spcPts val="360"/>
              </a:spcBef>
              <a:spcAft>
                <a:spcPts val="0"/>
              </a:spcAft>
              <a:buSzPts val="1440"/>
              <a:buFont typeface="Arial"/>
              <a:buChar char="•"/>
            </a:pPr>
            <a:r>
              <a:rPr b="0" i="0" lang="en-US" sz="1800" u="none">
                <a:solidFill>
                  <a:schemeClr val="dk1"/>
                </a:solidFill>
                <a:latin typeface="Calibri"/>
                <a:ea typeface="Calibri"/>
                <a:cs typeface="Calibri"/>
                <a:sym typeface="Calibri"/>
              </a:rPr>
              <a:t>Applications:</a:t>
            </a:r>
            <a:endParaRPr/>
          </a:p>
          <a:p>
            <a:pPr indent="-285750" lvl="1" marL="742950" rtl="0" algn="l">
              <a:lnSpc>
                <a:spcPct val="90000"/>
              </a:lnSpc>
              <a:spcBef>
                <a:spcPts val="360"/>
              </a:spcBef>
              <a:spcAft>
                <a:spcPts val="0"/>
              </a:spcAft>
              <a:buClr>
                <a:schemeClr val="dk1"/>
              </a:buClr>
              <a:buSzPts val="1800"/>
              <a:buFont typeface="Arial"/>
              <a:buChar char="–"/>
            </a:pPr>
            <a:r>
              <a:rPr b="0" i="0" lang="en-US" sz="1800" u="none">
                <a:solidFill>
                  <a:schemeClr val="dk1"/>
                </a:solidFill>
                <a:latin typeface="Calibri"/>
                <a:ea typeface="Calibri"/>
                <a:cs typeface="Calibri"/>
                <a:sym typeface="Calibri"/>
              </a:rPr>
              <a:t>Organization charts</a:t>
            </a:r>
            <a:endParaRPr/>
          </a:p>
          <a:p>
            <a:pPr indent="-285750" lvl="1" marL="742950" rtl="0" algn="l">
              <a:lnSpc>
                <a:spcPct val="90000"/>
              </a:lnSpc>
              <a:spcBef>
                <a:spcPts val="360"/>
              </a:spcBef>
              <a:spcAft>
                <a:spcPts val="0"/>
              </a:spcAft>
              <a:buClr>
                <a:schemeClr val="dk1"/>
              </a:buClr>
              <a:buSzPts val="1800"/>
              <a:buFont typeface="Arial"/>
              <a:buChar char="–"/>
            </a:pPr>
            <a:r>
              <a:rPr b="0" i="0" lang="en-US" sz="1800" u="none">
                <a:solidFill>
                  <a:schemeClr val="dk1"/>
                </a:solidFill>
                <a:latin typeface="Calibri"/>
                <a:ea typeface="Calibri"/>
                <a:cs typeface="Calibri"/>
                <a:sym typeface="Calibri"/>
              </a:rPr>
              <a:t>File systems</a:t>
            </a:r>
            <a:endParaRPr/>
          </a:p>
          <a:p>
            <a:pPr indent="-285750" lvl="1" marL="742950" rtl="0" algn="l">
              <a:lnSpc>
                <a:spcPct val="90000"/>
              </a:lnSpc>
              <a:spcBef>
                <a:spcPts val="360"/>
              </a:spcBef>
              <a:spcAft>
                <a:spcPts val="0"/>
              </a:spcAft>
              <a:buClr>
                <a:schemeClr val="dk1"/>
              </a:buClr>
              <a:buSzPts val="1800"/>
              <a:buFont typeface="Arial"/>
              <a:buChar char="–"/>
            </a:pPr>
            <a:r>
              <a:rPr b="0" i="0" lang="en-US" sz="1800" u="none">
                <a:solidFill>
                  <a:schemeClr val="dk1"/>
                </a:solidFill>
                <a:latin typeface="Calibri"/>
                <a:ea typeface="Calibri"/>
                <a:cs typeface="Calibri"/>
                <a:sym typeface="Calibri"/>
              </a:rPr>
              <a:t>Programming environments</a:t>
            </a:r>
            <a:endParaRPr/>
          </a:p>
          <a:p>
            <a:pPr indent="-342900" lvl="0" marL="342900" rtl="0" algn="l">
              <a:lnSpc>
                <a:spcPct val="90000"/>
              </a:lnSpc>
              <a:spcBef>
                <a:spcPts val="360"/>
              </a:spcBef>
              <a:spcAft>
                <a:spcPts val="0"/>
              </a:spcAft>
              <a:buSzPts val="1440"/>
              <a:buFont typeface="Arial"/>
              <a:buChar char="•"/>
            </a:pPr>
            <a:r>
              <a:rPr b="0" i="0" lang="en-US" sz="1800" u="none">
                <a:solidFill>
                  <a:schemeClr val="dk1"/>
                </a:solidFill>
                <a:latin typeface="Calibri"/>
                <a:ea typeface="Calibri"/>
                <a:cs typeface="Calibri"/>
                <a:sym typeface="Calibri"/>
              </a:rPr>
              <a:t>Every node except one (a root) has a unique parent.</a:t>
            </a:r>
            <a:endParaRPr/>
          </a:p>
        </p:txBody>
      </p:sp>
      <p:grpSp>
        <p:nvGrpSpPr>
          <p:cNvPr id="111" name="Google Shape;111;p3"/>
          <p:cNvGrpSpPr/>
          <p:nvPr/>
        </p:nvGrpSpPr>
        <p:grpSpPr>
          <a:xfrm>
            <a:off x="3984625" y="1457325"/>
            <a:ext cx="4854575" cy="3190875"/>
            <a:chOff x="2157" y="960"/>
            <a:chExt cx="3344" cy="1967"/>
          </a:xfrm>
        </p:grpSpPr>
        <p:sp>
          <p:nvSpPr>
            <p:cNvPr id="112" name="Google Shape;112;p3"/>
            <p:cNvSpPr/>
            <p:nvPr/>
          </p:nvSpPr>
          <p:spPr>
            <a:xfrm>
              <a:off x="3286" y="960"/>
              <a:ext cx="1177" cy="236"/>
            </a:xfrm>
            <a:prstGeom prst="roundRect">
              <a:avLst>
                <a:gd fmla="val 16667" name="adj"/>
              </a:avLst>
            </a:prstGeom>
            <a:solidFill>
              <a:schemeClr val="accent1"/>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Tahoma"/>
                <a:buNone/>
              </a:pPr>
              <a:r>
                <a:rPr b="0" i="0" lang="en-US" sz="1600" u="none" cap="none" strike="noStrike">
                  <a:solidFill>
                    <a:schemeClr val="dk1"/>
                  </a:solidFill>
                  <a:latin typeface="Tahoma"/>
                  <a:ea typeface="Tahoma"/>
                  <a:cs typeface="Tahoma"/>
                  <a:sym typeface="Tahoma"/>
                </a:rPr>
                <a:t>Computers”R”Us</a:t>
              </a:r>
              <a:endParaRPr/>
            </a:p>
          </p:txBody>
        </p:sp>
        <p:sp>
          <p:nvSpPr>
            <p:cNvPr id="113" name="Google Shape;113;p3"/>
            <p:cNvSpPr/>
            <p:nvPr/>
          </p:nvSpPr>
          <p:spPr>
            <a:xfrm>
              <a:off x="2585" y="1536"/>
              <a:ext cx="476" cy="236"/>
            </a:xfrm>
            <a:prstGeom prst="roundRect">
              <a:avLst>
                <a:gd fmla="val 16667" name="adj"/>
              </a:avLst>
            </a:prstGeom>
            <a:solidFill>
              <a:schemeClr val="accent1"/>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Tahoma"/>
                <a:buNone/>
              </a:pPr>
              <a:r>
                <a:rPr b="0" i="0" lang="en-US" sz="1600" u="none" cap="none" strike="noStrike">
                  <a:solidFill>
                    <a:schemeClr val="dk1"/>
                  </a:solidFill>
                  <a:latin typeface="Tahoma"/>
                  <a:ea typeface="Tahoma"/>
                  <a:cs typeface="Tahoma"/>
                  <a:sym typeface="Tahoma"/>
                </a:rPr>
                <a:t>Sales</a:t>
              </a:r>
              <a:endParaRPr/>
            </a:p>
          </p:txBody>
        </p:sp>
        <p:sp>
          <p:nvSpPr>
            <p:cNvPr id="114" name="Google Shape;114;p3"/>
            <p:cNvSpPr/>
            <p:nvPr/>
          </p:nvSpPr>
          <p:spPr>
            <a:xfrm>
              <a:off x="5067" y="1536"/>
              <a:ext cx="434" cy="236"/>
            </a:xfrm>
            <a:prstGeom prst="roundRect">
              <a:avLst>
                <a:gd fmla="val 16667" name="adj"/>
              </a:avLst>
            </a:prstGeom>
            <a:solidFill>
              <a:schemeClr val="accent1"/>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Tahoma"/>
                <a:buNone/>
              </a:pPr>
              <a:r>
                <a:rPr b="0" i="0" lang="en-US" sz="1600" u="none" cap="none" strike="noStrike">
                  <a:solidFill>
                    <a:schemeClr val="dk1"/>
                  </a:solidFill>
                  <a:latin typeface="Tahoma"/>
                  <a:ea typeface="Tahoma"/>
                  <a:cs typeface="Tahoma"/>
                  <a:sym typeface="Tahoma"/>
                </a:rPr>
                <a:t>R&amp;D</a:t>
              </a:r>
              <a:endParaRPr/>
            </a:p>
          </p:txBody>
        </p:sp>
        <p:sp>
          <p:nvSpPr>
            <p:cNvPr id="115" name="Google Shape;115;p3"/>
            <p:cNvSpPr/>
            <p:nvPr/>
          </p:nvSpPr>
          <p:spPr>
            <a:xfrm>
              <a:off x="3935" y="1536"/>
              <a:ext cx="1040" cy="236"/>
            </a:xfrm>
            <a:prstGeom prst="roundRect">
              <a:avLst>
                <a:gd fmla="val 16667" name="adj"/>
              </a:avLst>
            </a:prstGeom>
            <a:solidFill>
              <a:schemeClr val="accent1"/>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Tahoma"/>
                <a:buNone/>
              </a:pPr>
              <a:r>
                <a:rPr b="0" i="0" lang="en-US" sz="1600" u="none" cap="none" strike="noStrike">
                  <a:solidFill>
                    <a:schemeClr val="dk1"/>
                  </a:solidFill>
                  <a:latin typeface="Tahoma"/>
                  <a:ea typeface="Tahoma"/>
                  <a:cs typeface="Tahoma"/>
                  <a:sym typeface="Tahoma"/>
                </a:rPr>
                <a:t>Manufacturing</a:t>
              </a:r>
              <a:endParaRPr/>
            </a:p>
          </p:txBody>
        </p:sp>
        <p:sp>
          <p:nvSpPr>
            <p:cNvPr id="116" name="Google Shape;116;p3"/>
            <p:cNvSpPr/>
            <p:nvPr/>
          </p:nvSpPr>
          <p:spPr>
            <a:xfrm>
              <a:off x="3761" y="2112"/>
              <a:ext cx="643" cy="236"/>
            </a:xfrm>
            <a:prstGeom prst="roundRect">
              <a:avLst>
                <a:gd fmla="val 16667" name="adj"/>
              </a:avLst>
            </a:prstGeom>
            <a:solidFill>
              <a:schemeClr val="accent1"/>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Tahoma"/>
                <a:buNone/>
              </a:pPr>
              <a:r>
                <a:rPr b="0" i="0" lang="en-US" sz="1600" u="none" cap="none" strike="noStrike">
                  <a:solidFill>
                    <a:schemeClr val="dk1"/>
                  </a:solidFill>
                  <a:latin typeface="Tahoma"/>
                  <a:ea typeface="Tahoma"/>
                  <a:cs typeface="Tahoma"/>
                  <a:sym typeface="Tahoma"/>
                </a:rPr>
                <a:t>Laptops</a:t>
              </a:r>
              <a:endParaRPr/>
            </a:p>
          </p:txBody>
        </p:sp>
        <p:sp>
          <p:nvSpPr>
            <p:cNvPr id="117" name="Google Shape;117;p3"/>
            <p:cNvSpPr/>
            <p:nvPr/>
          </p:nvSpPr>
          <p:spPr>
            <a:xfrm>
              <a:off x="4483" y="2112"/>
              <a:ext cx="723" cy="236"/>
            </a:xfrm>
            <a:prstGeom prst="roundRect">
              <a:avLst>
                <a:gd fmla="val 16667" name="adj"/>
              </a:avLst>
            </a:prstGeom>
            <a:solidFill>
              <a:schemeClr val="accent1"/>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Tahoma"/>
                <a:buNone/>
              </a:pPr>
              <a:r>
                <a:rPr b="0" i="0" lang="en-US" sz="1600" u="none" cap="none" strike="noStrike">
                  <a:solidFill>
                    <a:schemeClr val="dk1"/>
                  </a:solidFill>
                  <a:latin typeface="Tahoma"/>
                  <a:ea typeface="Tahoma"/>
                  <a:cs typeface="Tahoma"/>
                  <a:sym typeface="Tahoma"/>
                </a:rPr>
                <a:t>Desktops</a:t>
              </a:r>
              <a:endParaRPr/>
            </a:p>
          </p:txBody>
        </p:sp>
        <p:sp>
          <p:nvSpPr>
            <p:cNvPr id="118" name="Google Shape;118;p3"/>
            <p:cNvSpPr/>
            <p:nvPr/>
          </p:nvSpPr>
          <p:spPr>
            <a:xfrm>
              <a:off x="2335" y="2110"/>
              <a:ext cx="328" cy="236"/>
            </a:xfrm>
            <a:prstGeom prst="roundRect">
              <a:avLst>
                <a:gd fmla="val 16667" name="adj"/>
              </a:avLst>
            </a:prstGeom>
            <a:solidFill>
              <a:schemeClr val="accent1"/>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Tahoma"/>
                <a:buNone/>
              </a:pPr>
              <a:r>
                <a:rPr b="0" i="0" lang="en-US" sz="1600" u="none" cap="none" strike="noStrike">
                  <a:solidFill>
                    <a:schemeClr val="dk1"/>
                  </a:solidFill>
                  <a:latin typeface="Tahoma"/>
                  <a:ea typeface="Tahoma"/>
                  <a:cs typeface="Tahoma"/>
                  <a:sym typeface="Tahoma"/>
                </a:rPr>
                <a:t>US</a:t>
              </a:r>
              <a:endParaRPr/>
            </a:p>
          </p:txBody>
        </p:sp>
        <p:sp>
          <p:nvSpPr>
            <p:cNvPr id="119" name="Google Shape;119;p3"/>
            <p:cNvSpPr/>
            <p:nvPr/>
          </p:nvSpPr>
          <p:spPr>
            <a:xfrm>
              <a:off x="2744" y="2112"/>
              <a:ext cx="948" cy="236"/>
            </a:xfrm>
            <a:prstGeom prst="roundRect">
              <a:avLst>
                <a:gd fmla="val 16667" name="adj"/>
              </a:avLst>
            </a:prstGeom>
            <a:solidFill>
              <a:schemeClr val="accent1"/>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Tahoma"/>
                <a:buNone/>
              </a:pPr>
              <a:r>
                <a:rPr b="0" i="0" lang="en-US" sz="1600" u="none" cap="none" strike="noStrike">
                  <a:solidFill>
                    <a:schemeClr val="dk1"/>
                  </a:solidFill>
                  <a:latin typeface="Tahoma"/>
                  <a:ea typeface="Tahoma"/>
                  <a:cs typeface="Tahoma"/>
                  <a:sym typeface="Tahoma"/>
                </a:rPr>
                <a:t>International</a:t>
              </a:r>
              <a:endParaRPr/>
            </a:p>
          </p:txBody>
        </p:sp>
        <p:cxnSp>
          <p:nvCxnSpPr>
            <p:cNvPr id="120" name="Google Shape;120;p3"/>
            <p:cNvCxnSpPr/>
            <p:nvPr/>
          </p:nvCxnSpPr>
          <p:spPr>
            <a:xfrm flipH="1">
              <a:off x="2823" y="1205"/>
              <a:ext cx="1051" cy="322"/>
            </a:xfrm>
            <a:prstGeom prst="straightConnector1">
              <a:avLst/>
            </a:prstGeom>
            <a:noFill/>
            <a:ln cap="flat" cmpd="sng" w="19050">
              <a:solidFill>
                <a:schemeClr val="dk1"/>
              </a:solidFill>
              <a:prstDash val="solid"/>
              <a:miter lim="800000"/>
              <a:headEnd len="med" w="med" type="none"/>
              <a:tailEnd len="med" w="med" type="none"/>
            </a:ln>
          </p:spPr>
        </p:cxnSp>
        <p:cxnSp>
          <p:nvCxnSpPr>
            <p:cNvPr id="121" name="Google Shape;121;p3"/>
            <p:cNvCxnSpPr/>
            <p:nvPr/>
          </p:nvCxnSpPr>
          <p:spPr>
            <a:xfrm>
              <a:off x="3874" y="1205"/>
              <a:ext cx="581" cy="322"/>
            </a:xfrm>
            <a:prstGeom prst="straightConnector1">
              <a:avLst/>
            </a:prstGeom>
            <a:noFill/>
            <a:ln cap="flat" cmpd="sng" w="19050">
              <a:solidFill>
                <a:schemeClr val="dk1"/>
              </a:solidFill>
              <a:prstDash val="solid"/>
              <a:miter lim="800000"/>
              <a:headEnd len="med" w="med" type="none"/>
              <a:tailEnd len="med" w="med" type="none"/>
            </a:ln>
          </p:spPr>
        </p:cxnSp>
        <p:cxnSp>
          <p:nvCxnSpPr>
            <p:cNvPr id="122" name="Google Shape;122;p3"/>
            <p:cNvCxnSpPr/>
            <p:nvPr/>
          </p:nvCxnSpPr>
          <p:spPr>
            <a:xfrm>
              <a:off x="3874" y="1205"/>
              <a:ext cx="1409" cy="322"/>
            </a:xfrm>
            <a:prstGeom prst="straightConnector1">
              <a:avLst/>
            </a:prstGeom>
            <a:noFill/>
            <a:ln cap="flat" cmpd="sng" w="19050">
              <a:solidFill>
                <a:schemeClr val="dk1"/>
              </a:solidFill>
              <a:prstDash val="solid"/>
              <a:miter lim="800000"/>
              <a:headEnd len="med" w="med" type="none"/>
              <a:tailEnd len="med" w="med" type="none"/>
            </a:ln>
          </p:spPr>
        </p:cxnSp>
        <p:cxnSp>
          <p:nvCxnSpPr>
            <p:cNvPr id="123" name="Google Shape;123;p3"/>
            <p:cNvCxnSpPr/>
            <p:nvPr/>
          </p:nvCxnSpPr>
          <p:spPr>
            <a:xfrm>
              <a:off x="4455" y="1781"/>
              <a:ext cx="389" cy="322"/>
            </a:xfrm>
            <a:prstGeom prst="straightConnector1">
              <a:avLst/>
            </a:prstGeom>
            <a:noFill/>
            <a:ln cap="flat" cmpd="sng" w="19050">
              <a:solidFill>
                <a:schemeClr val="dk1"/>
              </a:solidFill>
              <a:prstDash val="solid"/>
              <a:miter lim="800000"/>
              <a:headEnd len="med" w="med" type="none"/>
              <a:tailEnd len="med" w="med" type="none"/>
            </a:ln>
          </p:spPr>
        </p:cxnSp>
        <p:cxnSp>
          <p:nvCxnSpPr>
            <p:cNvPr id="124" name="Google Shape;124;p3"/>
            <p:cNvCxnSpPr/>
            <p:nvPr/>
          </p:nvCxnSpPr>
          <p:spPr>
            <a:xfrm flipH="1">
              <a:off x="4083" y="1781"/>
              <a:ext cx="372" cy="322"/>
            </a:xfrm>
            <a:prstGeom prst="straightConnector1">
              <a:avLst/>
            </a:prstGeom>
            <a:noFill/>
            <a:ln cap="flat" cmpd="sng" w="19050">
              <a:solidFill>
                <a:schemeClr val="dk1"/>
              </a:solidFill>
              <a:prstDash val="solid"/>
              <a:miter lim="800000"/>
              <a:headEnd len="med" w="med" type="none"/>
              <a:tailEnd len="med" w="med" type="none"/>
            </a:ln>
          </p:spPr>
        </p:cxnSp>
        <p:cxnSp>
          <p:nvCxnSpPr>
            <p:cNvPr id="125" name="Google Shape;125;p3"/>
            <p:cNvCxnSpPr/>
            <p:nvPr/>
          </p:nvCxnSpPr>
          <p:spPr>
            <a:xfrm>
              <a:off x="2823" y="1781"/>
              <a:ext cx="395" cy="322"/>
            </a:xfrm>
            <a:prstGeom prst="straightConnector1">
              <a:avLst/>
            </a:prstGeom>
            <a:noFill/>
            <a:ln cap="flat" cmpd="sng" w="19050">
              <a:solidFill>
                <a:schemeClr val="dk1"/>
              </a:solidFill>
              <a:prstDash val="solid"/>
              <a:miter lim="800000"/>
              <a:headEnd len="med" w="med" type="none"/>
              <a:tailEnd len="med" w="med" type="none"/>
            </a:ln>
          </p:spPr>
        </p:cxnSp>
        <p:cxnSp>
          <p:nvCxnSpPr>
            <p:cNvPr id="126" name="Google Shape;126;p3"/>
            <p:cNvCxnSpPr/>
            <p:nvPr/>
          </p:nvCxnSpPr>
          <p:spPr>
            <a:xfrm flipH="1">
              <a:off x="2500" y="1781"/>
              <a:ext cx="323" cy="321"/>
            </a:xfrm>
            <a:prstGeom prst="straightConnector1">
              <a:avLst/>
            </a:prstGeom>
            <a:noFill/>
            <a:ln cap="flat" cmpd="sng" w="19050">
              <a:solidFill>
                <a:schemeClr val="dk1"/>
              </a:solidFill>
              <a:prstDash val="solid"/>
              <a:miter lim="800000"/>
              <a:headEnd len="med" w="med" type="none"/>
              <a:tailEnd len="med" w="med" type="none"/>
            </a:ln>
          </p:spPr>
        </p:cxnSp>
        <p:sp>
          <p:nvSpPr>
            <p:cNvPr id="127" name="Google Shape;127;p3"/>
            <p:cNvSpPr/>
            <p:nvPr/>
          </p:nvSpPr>
          <p:spPr>
            <a:xfrm>
              <a:off x="2157" y="2691"/>
              <a:ext cx="593" cy="236"/>
            </a:xfrm>
            <a:prstGeom prst="roundRect">
              <a:avLst>
                <a:gd fmla="val 16667" name="adj"/>
              </a:avLst>
            </a:prstGeom>
            <a:solidFill>
              <a:schemeClr val="accent1"/>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Tahoma"/>
                <a:buNone/>
              </a:pPr>
              <a:r>
                <a:rPr b="0" i="0" lang="en-US" sz="1600" u="none" cap="none" strike="noStrike">
                  <a:solidFill>
                    <a:schemeClr val="dk1"/>
                  </a:solidFill>
                  <a:latin typeface="Tahoma"/>
                  <a:ea typeface="Tahoma"/>
                  <a:cs typeface="Tahoma"/>
                  <a:sym typeface="Tahoma"/>
                </a:rPr>
                <a:t>Europe</a:t>
              </a:r>
              <a:endParaRPr/>
            </a:p>
          </p:txBody>
        </p:sp>
        <p:sp>
          <p:nvSpPr>
            <p:cNvPr id="128" name="Google Shape;128;p3"/>
            <p:cNvSpPr/>
            <p:nvPr/>
          </p:nvSpPr>
          <p:spPr>
            <a:xfrm>
              <a:off x="3005" y="2691"/>
              <a:ext cx="410" cy="236"/>
            </a:xfrm>
            <a:prstGeom prst="roundRect">
              <a:avLst>
                <a:gd fmla="val 16667" name="adj"/>
              </a:avLst>
            </a:prstGeom>
            <a:solidFill>
              <a:schemeClr val="accent1"/>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Tahoma"/>
                <a:buNone/>
              </a:pPr>
              <a:r>
                <a:rPr b="0" i="0" lang="en-US" sz="1600" u="none" cap="none" strike="noStrike">
                  <a:solidFill>
                    <a:schemeClr val="dk1"/>
                  </a:solidFill>
                  <a:latin typeface="Tahoma"/>
                  <a:ea typeface="Tahoma"/>
                  <a:cs typeface="Tahoma"/>
                  <a:sym typeface="Tahoma"/>
                </a:rPr>
                <a:t>Asia</a:t>
              </a:r>
              <a:endParaRPr/>
            </a:p>
          </p:txBody>
        </p:sp>
        <p:cxnSp>
          <p:nvCxnSpPr>
            <p:cNvPr id="129" name="Google Shape;129;p3"/>
            <p:cNvCxnSpPr/>
            <p:nvPr/>
          </p:nvCxnSpPr>
          <p:spPr>
            <a:xfrm flipH="1">
              <a:off x="3210" y="2357"/>
              <a:ext cx="8" cy="325"/>
            </a:xfrm>
            <a:prstGeom prst="straightConnector1">
              <a:avLst/>
            </a:prstGeom>
            <a:noFill/>
            <a:ln cap="flat" cmpd="sng" w="19050">
              <a:solidFill>
                <a:schemeClr val="dk1"/>
              </a:solidFill>
              <a:prstDash val="solid"/>
              <a:miter lim="800000"/>
              <a:headEnd len="med" w="med" type="none"/>
              <a:tailEnd len="med" w="med" type="none"/>
            </a:ln>
          </p:spPr>
        </p:cxnSp>
        <p:cxnSp>
          <p:nvCxnSpPr>
            <p:cNvPr id="130" name="Google Shape;130;p3"/>
            <p:cNvCxnSpPr/>
            <p:nvPr/>
          </p:nvCxnSpPr>
          <p:spPr>
            <a:xfrm flipH="1">
              <a:off x="2454" y="2357"/>
              <a:ext cx="764" cy="325"/>
            </a:xfrm>
            <a:prstGeom prst="straightConnector1">
              <a:avLst/>
            </a:prstGeom>
            <a:noFill/>
            <a:ln cap="flat" cmpd="sng" w="19050">
              <a:solidFill>
                <a:schemeClr val="dk1"/>
              </a:solidFill>
              <a:prstDash val="solid"/>
              <a:miter lim="800000"/>
              <a:headEnd len="med" w="med" type="none"/>
              <a:tailEnd len="med" w="med" type="none"/>
            </a:ln>
          </p:spPr>
        </p:cxnSp>
        <p:sp>
          <p:nvSpPr>
            <p:cNvPr id="131" name="Google Shape;131;p3"/>
            <p:cNvSpPr/>
            <p:nvPr/>
          </p:nvSpPr>
          <p:spPr>
            <a:xfrm>
              <a:off x="3674" y="2691"/>
              <a:ext cx="618" cy="236"/>
            </a:xfrm>
            <a:prstGeom prst="roundRect">
              <a:avLst>
                <a:gd fmla="val 16667" name="adj"/>
              </a:avLst>
            </a:prstGeom>
            <a:solidFill>
              <a:schemeClr val="accent1"/>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Tahoma"/>
                <a:buNone/>
              </a:pPr>
              <a:r>
                <a:rPr b="0" i="0" lang="en-US" sz="1600" u="none" cap="none" strike="noStrike">
                  <a:solidFill>
                    <a:schemeClr val="dk1"/>
                  </a:solidFill>
                  <a:latin typeface="Tahoma"/>
                  <a:ea typeface="Tahoma"/>
                  <a:cs typeface="Tahoma"/>
                  <a:sym typeface="Tahoma"/>
                </a:rPr>
                <a:t>Canada</a:t>
              </a:r>
              <a:endParaRPr/>
            </a:p>
          </p:txBody>
        </p:sp>
        <p:cxnSp>
          <p:nvCxnSpPr>
            <p:cNvPr id="132" name="Google Shape;132;p3"/>
            <p:cNvCxnSpPr/>
            <p:nvPr/>
          </p:nvCxnSpPr>
          <p:spPr>
            <a:xfrm>
              <a:off x="3218" y="2357"/>
              <a:ext cx="765" cy="325"/>
            </a:xfrm>
            <a:prstGeom prst="straightConnector1">
              <a:avLst/>
            </a:prstGeom>
            <a:noFill/>
            <a:ln cap="flat" cmpd="sng" w="19050">
              <a:solidFill>
                <a:schemeClr val="dk1"/>
              </a:solidFill>
              <a:prstDash val="solid"/>
              <a:miter lim="800000"/>
              <a:headEnd len="med" w="med" type="none"/>
              <a:tailEnd len="med" w="med" type="none"/>
            </a:ln>
          </p:spPr>
        </p:cxnSp>
      </p:grpSp>
      <p:sp>
        <p:nvSpPr>
          <p:cNvPr id="133" name="Google Shape;133;p3"/>
          <p:cNvSpPr txBox="1"/>
          <p:nvPr/>
        </p:nvSpPr>
        <p:spPr>
          <a:xfrm>
            <a:off x="3276600" y="5029200"/>
            <a:ext cx="5486400" cy="1381125"/>
          </a:xfrm>
          <a:prstGeom prst="rect">
            <a:avLst/>
          </a:prstGeom>
          <a:solidFill>
            <a:srgbClr val="99CCFF"/>
          </a:solidFill>
          <a:ln cap="flat" cmpd="sng" w="9525">
            <a:solidFill>
              <a:schemeClr val="accent2"/>
            </a:solidFill>
            <a:prstDash val="solid"/>
            <a:miter lim="800000"/>
            <a:headEnd len="sm" w="sm" type="none"/>
            <a:tailEnd len="sm" w="sm" type="none"/>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chemeClr val="dk1"/>
              </a:buClr>
              <a:buSzPts val="2000"/>
              <a:buFont typeface="Arial"/>
              <a:buChar char="•"/>
            </a:pPr>
            <a:r>
              <a:rPr b="1" i="0" lang="en-US" sz="2000" u="none" cap="none" strike="noStrike">
                <a:solidFill>
                  <a:schemeClr val="dk1"/>
                </a:solidFill>
                <a:latin typeface="Calibri"/>
                <a:ea typeface="Calibri"/>
                <a:cs typeface="Calibri"/>
                <a:sym typeface="Calibri"/>
              </a:rPr>
              <a:t>Empty structure is an empty tree.</a:t>
            </a:r>
            <a:endParaRPr/>
          </a:p>
          <a:p>
            <a:pPr indent="-342900" lvl="0" marL="342900" marR="0" rtl="0" algn="l">
              <a:lnSpc>
                <a:spcPct val="100000"/>
              </a:lnSpc>
              <a:spcBef>
                <a:spcPts val="400"/>
              </a:spcBef>
              <a:spcAft>
                <a:spcPts val="0"/>
              </a:spcAft>
              <a:buClr>
                <a:schemeClr val="dk1"/>
              </a:buClr>
              <a:buSzPts val="2000"/>
              <a:buFont typeface="Arial"/>
              <a:buChar char="•"/>
            </a:pPr>
            <a:r>
              <a:rPr b="1" i="0" lang="en-US" sz="2000" u="none" cap="none" strike="noStrike">
                <a:solidFill>
                  <a:schemeClr val="dk1"/>
                </a:solidFill>
                <a:latin typeface="Calibri"/>
                <a:ea typeface="Calibri"/>
                <a:cs typeface="Calibri"/>
                <a:sym typeface="Calibri"/>
              </a:rPr>
              <a:t>Non-empty tree consists of a root and its children, where these children are also trees.</a:t>
            </a:r>
            <a:endParaRPr/>
          </a:p>
        </p:txBody>
      </p:sp>
      <p:sp>
        <p:nvSpPr>
          <p:cNvPr id="134" name="Google Shape;134;p3"/>
          <p:cNvSpPr/>
          <p:nvPr/>
        </p:nvSpPr>
        <p:spPr>
          <a:xfrm>
            <a:off x="749300" y="5981700"/>
            <a:ext cx="2286000" cy="398462"/>
          </a:xfrm>
          <a:prstGeom prst="wedgeRoundRectCallout">
            <a:avLst>
              <a:gd fmla="val 23880" name="adj1"/>
              <a:gd fmla="val 3959" name="adj2"/>
              <a:gd fmla="val 0" name="adj3"/>
            </a:avLst>
          </a:prstGeom>
          <a:solidFill>
            <a:srgbClr val="CCECFF"/>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Exact definition</a:t>
            </a:r>
            <a:endParaRPr/>
          </a:p>
        </p:txBody>
      </p:sp>
      <p:sp>
        <p:nvSpPr>
          <p:cNvPr id="135" name="Google Shape;135;p3"/>
          <p:cNvSpPr txBox="1"/>
          <p:nvPr/>
        </p:nvSpPr>
        <p:spPr>
          <a:xfrm>
            <a:off x="1292225" y="228600"/>
            <a:ext cx="7470775" cy="457200"/>
          </a:xfrm>
          <a:prstGeom prst="rect">
            <a:avLst/>
          </a:prstGeom>
          <a:noFill/>
          <a:ln>
            <a:noFill/>
          </a:ln>
        </p:spPr>
        <p:txBody>
          <a:bodyPr anchorCtr="0" anchor="ctr" bIns="45700" lIns="0" spcFirstLastPara="1" rIns="0" wrap="square" tIns="45700">
            <a:spAutoFit/>
          </a:bodyPr>
          <a:lstStyle/>
          <a:p>
            <a:pPr indent="0" lvl="0" marL="0" marR="0" rtl="0" algn="ctr">
              <a:lnSpc>
                <a:spcPct val="100000"/>
              </a:lnSpc>
              <a:spcBef>
                <a:spcPts val="0"/>
              </a:spcBef>
              <a:spcAft>
                <a:spcPts val="0"/>
              </a:spcAft>
              <a:buClr>
                <a:srgbClr val="CC3300"/>
              </a:buClr>
              <a:buSzPts val="2400"/>
              <a:buFont typeface="Calibri"/>
              <a:buNone/>
            </a:pPr>
            <a:r>
              <a:rPr b="1" i="0" lang="en-US" sz="2400" u="none" cap="none" strike="noStrike">
                <a:solidFill>
                  <a:srgbClr val="CC3300"/>
                </a:solidFill>
                <a:latin typeface="Calibri"/>
                <a:ea typeface="Calibri"/>
                <a:cs typeface="Calibri"/>
                <a:sym typeface="Calibri"/>
              </a:rPr>
              <a:t>Trees, Binary Trees, and Binary Search Trees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9" name="Shape 139"/>
        <p:cNvGrpSpPr/>
        <p:nvPr/>
      </p:nvGrpSpPr>
      <p:grpSpPr>
        <a:xfrm>
          <a:off x="0" y="0"/>
          <a:ext cx="0" cy="0"/>
          <a:chOff x="0" y="0"/>
          <a:chExt cx="0" cy="0"/>
        </a:xfrm>
      </p:grpSpPr>
      <p:sp>
        <p:nvSpPr>
          <p:cNvPr id="140" name="Google Shape;140;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None/>
            </a:pPr>
            <a:fld id="{00000000-1234-1234-1234-123412341234}" type="slidenum">
              <a:rPr lang="en-US"/>
              <a:t>‹#›</a:t>
            </a:fld>
            <a:endParaRPr/>
          </a:p>
        </p:txBody>
      </p:sp>
      <p:sp>
        <p:nvSpPr>
          <p:cNvPr id="141" name="Google Shape;141;p4"/>
          <p:cNvSpPr txBox="1"/>
          <p:nvPr/>
        </p:nvSpPr>
        <p:spPr>
          <a:xfrm>
            <a:off x="2895600" y="6356350"/>
            <a:ext cx="3352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Data Structures and Algorithms in Java </a:t>
            </a:r>
            <a:endParaRPr/>
          </a:p>
        </p:txBody>
      </p:sp>
      <p:sp>
        <p:nvSpPr>
          <p:cNvPr id="142" name="Google Shape;142;p4"/>
          <p:cNvSpPr txBox="1"/>
          <p:nvPr>
            <p:ph type="title"/>
          </p:nvPr>
        </p:nvSpPr>
        <p:spPr>
          <a:xfrm>
            <a:off x="1828800" y="0"/>
            <a:ext cx="5715000" cy="641350"/>
          </a:xfrm>
          <a:prstGeom prst="rect">
            <a:avLst/>
          </a:prstGeom>
          <a:noFill/>
          <a:ln>
            <a:noFill/>
          </a:ln>
        </p:spPr>
        <p:txBody>
          <a:bodyPr anchorCtr="0" anchor="ctr" bIns="45700" lIns="91425" spcFirstLastPara="1" rIns="91425" wrap="square" tIns="45700">
            <a:spAutoFit/>
          </a:bodyPr>
          <a:lstStyle/>
          <a:p>
            <a:pPr indent="0" lvl="0" marL="0" rtl="0" algn="ctr">
              <a:lnSpc>
                <a:spcPct val="100000"/>
              </a:lnSpc>
              <a:spcBef>
                <a:spcPts val="0"/>
              </a:spcBef>
              <a:spcAft>
                <a:spcPts val="0"/>
              </a:spcAft>
              <a:buClr>
                <a:srgbClr val="CC3300"/>
              </a:buClr>
              <a:buSzPts val="3600"/>
              <a:buFont typeface="Calibri"/>
              <a:buNone/>
            </a:pPr>
            <a:r>
              <a:rPr b="1" i="0" lang="en-US" sz="3600" u="none">
                <a:solidFill>
                  <a:srgbClr val="CC3300"/>
                </a:solidFill>
                <a:latin typeface="Calibri"/>
                <a:ea typeface="Calibri"/>
                <a:cs typeface="Calibri"/>
                <a:sym typeface="Calibri"/>
              </a:rPr>
              <a:t>Tree Terminology - 1</a:t>
            </a:r>
            <a:endParaRPr/>
          </a:p>
        </p:txBody>
      </p:sp>
      <p:sp>
        <p:nvSpPr>
          <p:cNvPr id="143" name="Google Shape;143;p4"/>
          <p:cNvSpPr txBox="1"/>
          <p:nvPr>
            <p:ph idx="1" type="body"/>
          </p:nvPr>
        </p:nvSpPr>
        <p:spPr>
          <a:xfrm>
            <a:off x="76200" y="596900"/>
            <a:ext cx="5410200" cy="3495675"/>
          </a:xfrm>
          <a:prstGeom prst="rect">
            <a:avLst/>
          </a:prstGeom>
          <a:noFill/>
          <a:ln>
            <a:noFill/>
          </a:ln>
        </p:spPr>
        <p:txBody>
          <a:bodyPr anchorCtr="0" anchor="t" bIns="45700" lIns="91425" spcFirstLastPara="1" rIns="91425" wrap="square" tIns="45700">
            <a:spAutoFit/>
          </a:bodyPr>
          <a:lstStyle/>
          <a:p>
            <a:pPr indent="-342900" lvl="0" marL="342900" rtl="0" algn="l">
              <a:lnSpc>
                <a:spcPct val="80000"/>
              </a:lnSpc>
              <a:spcBef>
                <a:spcPts val="0"/>
              </a:spcBef>
              <a:spcAft>
                <a:spcPts val="0"/>
              </a:spcAft>
              <a:buSzPts val="1680"/>
              <a:buFont typeface="Arial"/>
              <a:buChar char="•"/>
            </a:pPr>
            <a:r>
              <a:rPr b="1" i="0" lang="en-US" sz="2100" u="none">
                <a:solidFill>
                  <a:schemeClr val="hlink"/>
                </a:solidFill>
                <a:latin typeface="Calibri"/>
                <a:ea typeface="Calibri"/>
                <a:cs typeface="Calibri"/>
                <a:sym typeface="Calibri"/>
              </a:rPr>
              <a:t>Root</a:t>
            </a:r>
            <a:r>
              <a:rPr b="0" i="0" lang="en-US" sz="2100" u="none">
                <a:solidFill>
                  <a:schemeClr val="dk1"/>
                </a:solidFill>
                <a:latin typeface="Calibri"/>
                <a:ea typeface="Calibri"/>
                <a:cs typeface="Calibri"/>
                <a:sym typeface="Calibri"/>
              </a:rPr>
              <a:t>: unique node without a parent </a:t>
            </a:r>
            <a:endParaRPr/>
          </a:p>
          <a:p>
            <a:pPr indent="-342900" lvl="0" marL="342900" rtl="0" algn="l">
              <a:lnSpc>
                <a:spcPct val="80000"/>
              </a:lnSpc>
              <a:spcBef>
                <a:spcPts val="420"/>
              </a:spcBef>
              <a:spcAft>
                <a:spcPts val="0"/>
              </a:spcAft>
              <a:buSzPts val="1680"/>
              <a:buFont typeface="Arial"/>
              <a:buChar char="•"/>
            </a:pPr>
            <a:r>
              <a:rPr b="1" i="0" lang="en-US" sz="2100" u="none">
                <a:solidFill>
                  <a:schemeClr val="hlink"/>
                </a:solidFill>
                <a:latin typeface="Calibri"/>
                <a:ea typeface="Calibri"/>
                <a:cs typeface="Calibri"/>
                <a:sym typeface="Calibri"/>
              </a:rPr>
              <a:t>Internal node</a:t>
            </a:r>
            <a:r>
              <a:rPr b="0" i="0" lang="en-US" sz="2100" u="none">
                <a:solidFill>
                  <a:schemeClr val="dk1"/>
                </a:solidFill>
                <a:latin typeface="Calibri"/>
                <a:ea typeface="Calibri"/>
                <a:cs typeface="Calibri"/>
                <a:sym typeface="Calibri"/>
              </a:rPr>
              <a:t>: node with at least one child (A, B, C, F)</a:t>
            </a:r>
            <a:endParaRPr/>
          </a:p>
          <a:p>
            <a:pPr indent="-342900" lvl="0" marL="342900" rtl="0" algn="l">
              <a:lnSpc>
                <a:spcPct val="80000"/>
              </a:lnSpc>
              <a:spcBef>
                <a:spcPts val="420"/>
              </a:spcBef>
              <a:spcAft>
                <a:spcPts val="0"/>
              </a:spcAft>
              <a:buSzPts val="1680"/>
              <a:buFont typeface="Arial"/>
              <a:buChar char="•"/>
            </a:pPr>
            <a:r>
              <a:rPr b="1" i="0" lang="en-US" sz="2100" u="none">
                <a:solidFill>
                  <a:schemeClr val="hlink"/>
                </a:solidFill>
                <a:latin typeface="Calibri"/>
                <a:ea typeface="Calibri"/>
                <a:cs typeface="Calibri"/>
                <a:sym typeface="Calibri"/>
              </a:rPr>
              <a:t>External (leaf) node</a:t>
            </a:r>
            <a:r>
              <a:rPr b="0" i="0" lang="en-US" sz="2100" u="none">
                <a:solidFill>
                  <a:schemeClr val="dk1"/>
                </a:solidFill>
                <a:latin typeface="Calibri"/>
                <a:ea typeface="Calibri"/>
                <a:cs typeface="Calibri"/>
                <a:sym typeface="Calibri"/>
              </a:rPr>
              <a:t>: node without children (E, I, J, K, G, H, D)</a:t>
            </a:r>
            <a:endParaRPr/>
          </a:p>
          <a:p>
            <a:pPr indent="-342900" lvl="0" marL="342900" rtl="0" algn="l">
              <a:lnSpc>
                <a:spcPct val="80000"/>
              </a:lnSpc>
              <a:spcBef>
                <a:spcPts val="420"/>
              </a:spcBef>
              <a:spcAft>
                <a:spcPts val="0"/>
              </a:spcAft>
              <a:buSzPts val="1680"/>
              <a:buFont typeface="Arial"/>
              <a:buChar char="•"/>
            </a:pPr>
            <a:r>
              <a:rPr b="1" i="0" lang="en-US" sz="2100" u="none">
                <a:solidFill>
                  <a:schemeClr val="hlink"/>
                </a:solidFill>
                <a:latin typeface="Calibri"/>
                <a:ea typeface="Calibri"/>
                <a:cs typeface="Calibri"/>
                <a:sym typeface="Calibri"/>
              </a:rPr>
              <a:t>Ancestors</a:t>
            </a:r>
            <a:r>
              <a:rPr b="0" i="0" lang="en-US" sz="2100" u="none">
                <a:solidFill>
                  <a:schemeClr val="dk1"/>
                </a:solidFill>
                <a:latin typeface="Calibri"/>
                <a:ea typeface="Calibri"/>
                <a:cs typeface="Calibri"/>
                <a:sym typeface="Calibri"/>
              </a:rPr>
              <a:t> of a node: parent, grandparent, great-grandparent, …</a:t>
            </a:r>
            <a:endParaRPr/>
          </a:p>
          <a:p>
            <a:pPr indent="-342900" lvl="0" marL="342900" rtl="0" algn="l">
              <a:lnSpc>
                <a:spcPct val="80000"/>
              </a:lnSpc>
              <a:spcBef>
                <a:spcPts val="420"/>
              </a:spcBef>
              <a:spcAft>
                <a:spcPts val="0"/>
              </a:spcAft>
              <a:buSzPts val="1680"/>
              <a:buFont typeface="Arial"/>
              <a:buChar char="•"/>
            </a:pPr>
            <a:r>
              <a:rPr b="1" i="0" lang="en-US" sz="2100" u="none">
                <a:solidFill>
                  <a:schemeClr val="hlink"/>
                </a:solidFill>
                <a:latin typeface="Calibri"/>
                <a:ea typeface="Calibri"/>
                <a:cs typeface="Calibri"/>
                <a:sym typeface="Calibri"/>
              </a:rPr>
              <a:t>Descendants</a:t>
            </a:r>
            <a:r>
              <a:rPr b="0" i="0" lang="en-US" sz="2100" u="none">
                <a:solidFill>
                  <a:schemeClr val="dk1"/>
                </a:solidFill>
                <a:latin typeface="Calibri"/>
                <a:ea typeface="Calibri"/>
                <a:cs typeface="Calibri"/>
                <a:sym typeface="Calibri"/>
              </a:rPr>
              <a:t> of a node: child, grandchild, great-grandchild, etc.</a:t>
            </a:r>
            <a:endParaRPr/>
          </a:p>
          <a:p>
            <a:pPr indent="-342900" lvl="0" marL="342900" rtl="0" algn="l">
              <a:lnSpc>
                <a:spcPct val="80000"/>
              </a:lnSpc>
              <a:spcBef>
                <a:spcPts val="420"/>
              </a:spcBef>
              <a:spcAft>
                <a:spcPts val="0"/>
              </a:spcAft>
              <a:buSzPts val="1680"/>
              <a:buFont typeface="Arial"/>
              <a:buChar char="•"/>
            </a:pPr>
            <a:r>
              <a:rPr b="1" i="0" lang="en-US" sz="2100" u="none">
                <a:solidFill>
                  <a:schemeClr val="hlink"/>
                </a:solidFill>
                <a:latin typeface="Calibri"/>
                <a:ea typeface="Calibri"/>
                <a:cs typeface="Calibri"/>
                <a:sym typeface="Calibri"/>
              </a:rPr>
              <a:t>Level</a:t>
            </a:r>
            <a:r>
              <a:rPr b="0" i="0" lang="en-US" sz="2100" u="none">
                <a:solidFill>
                  <a:schemeClr val="dk1"/>
                </a:solidFill>
                <a:latin typeface="Calibri"/>
                <a:ea typeface="Calibri"/>
                <a:cs typeface="Calibri"/>
                <a:sym typeface="Calibri"/>
              </a:rPr>
              <a:t> of a node: The </a:t>
            </a:r>
            <a:r>
              <a:rPr b="1" i="0" lang="en-US" sz="2100" u="none">
                <a:solidFill>
                  <a:schemeClr val="dk1"/>
                </a:solidFill>
                <a:latin typeface="Calibri"/>
                <a:ea typeface="Calibri"/>
                <a:cs typeface="Calibri"/>
                <a:sym typeface="Calibri"/>
              </a:rPr>
              <a:t>level of the root is 1</a:t>
            </a:r>
            <a:r>
              <a:rPr b="0" i="0" lang="en-US" sz="2100" u="none">
                <a:solidFill>
                  <a:schemeClr val="dk1"/>
                </a:solidFill>
                <a:latin typeface="Calibri"/>
                <a:ea typeface="Calibri"/>
                <a:cs typeface="Calibri"/>
                <a:sym typeface="Calibri"/>
              </a:rPr>
              <a:t>. If a father has level i then its children has level i+1.</a:t>
            </a:r>
            <a:endParaRPr/>
          </a:p>
        </p:txBody>
      </p:sp>
      <p:grpSp>
        <p:nvGrpSpPr>
          <p:cNvPr id="144" name="Google Shape;144;p4"/>
          <p:cNvGrpSpPr/>
          <p:nvPr/>
        </p:nvGrpSpPr>
        <p:grpSpPr>
          <a:xfrm>
            <a:off x="5410200" y="581025"/>
            <a:ext cx="3108325" cy="2847975"/>
            <a:chOff x="3562" y="672"/>
            <a:chExt cx="1958" cy="1794"/>
          </a:xfrm>
        </p:grpSpPr>
        <p:sp>
          <p:nvSpPr>
            <p:cNvPr id="145" name="Google Shape;145;p4"/>
            <p:cNvSpPr/>
            <p:nvPr/>
          </p:nvSpPr>
          <p:spPr>
            <a:xfrm>
              <a:off x="4492" y="1074"/>
              <a:ext cx="1014" cy="870"/>
            </a:xfrm>
            <a:prstGeom prst="triangle">
              <a:avLst>
                <a:gd fmla="val 50000" name="adj"/>
              </a:avLst>
            </a:prstGeom>
            <a:solidFill>
              <a:schemeClr val="folHlink"/>
            </a:solidFill>
            <a:ln cap="flat" cmpd="sng" w="9525">
              <a:solidFill>
                <a:schemeClr val="dk1"/>
              </a:solidFill>
              <a:prstDash val="solid"/>
              <a:miter lim="800000"/>
              <a:headEnd len="sm" w="sm" type="none"/>
              <a:tailEnd len="sm" w="sm" type="none"/>
            </a:ln>
          </p:spPr>
          <p:txBody>
            <a:bodyPr anchorCtr="1" anchor="b" bIns="0" lIns="91425" spcFirstLastPara="1" rIns="91425" wrap="square" tIns="2651750">
              <a:noAutofit/>
            </a:bodyPr>
            <a:lstStyle/>
            <a:p>
              <a:pPr indent="0" lvl="0" marL="0" marR="0" rtl="0" algn="ctr">
                <a:lnSpc>
                  <a:spcPct val="100000"/>
                </a:lnSpc>
                <a:spcBef>
                  <a:spcPts val="0"/>
                </a:spcBef>
                <a:spcAft>
                  <a:spcPts val="0"/>
                </a:spcAft>
                <a:buClr>
                  <a:schemeClr val="dk1"/>
                </a:buClr>
                <a:buSzPts val="2400"/>
                <a:buFont typeface="Tahoma"/>
                <a:buNone/>
              </a:pPr>
              <a:r>
                <a:rPr b="0" i="0" lang="en-US" sz="2400" u="none" cap="none" strike="noStrike">
                  <a:solidFill>
                    <a:schemeClr val="dk1"/>
                  </a:solidFill>
                  <a:latin typeface="Tahoma"/>
                  <a:ea typeface="Tahoma"/>
                  <a:cs typeface="Tahoma"/>
                  <a:sym typeface="Tahoma"/>
                </a:rPr>
                <a:t>  sub-tree</a:t>
              </a:r>
              <a:endParaRPr/>
            </a:p>
          </p:txBody>
        </p:sp>
        <p:grpSp>
          <p:nvGrpSpPr>
            <p:cNvPr id="146" name="Google Shape;146;p4"/>
            <p:cNvGrpSpPr/>
            <p:nvPr/>
          </p:nvGrpSpPr>
          <p:grpSpPr>
            <a:xfrm>
              <a:off x="3562" y="672"/>
              <a:ext cx="1958" cy="1794"/>
              <a:chOff x="3113" y="1242"/>
              <a:chExt cx="2382" cy="1986"/>
            </a:xfrm>
          </p:grpSpPr>
          <p:sp>
            <p:nvSpPr>
              <p:cNvPr id="147" name="Google Shape;147;p4"/>
              <p:cNvSpPr/>
              <p:nvPr/>
            </p:nvSpPr>
            <p:spPr>
              <a:xfrm>
                <a:off x="4195" y="1242"/>
                <a:ext cx="259" cy="257"/>
              </a:xfrm>
              <a:prstGeom prst="roundRect">
                <a:avLst>
                  <a:gd fmla="val 16667" name="adj"/>
                </a:avLst>
              </a:prstGeom>
              <a:solidFill>
                <a:schemeClr val="accent1"/>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Tahoma"/>
                  <a:buNone/>
                </a:pPr>
                <a:r>
                  <a:rPr b="0" i="0" lang="en-US" sz="1600" u="none" cap="none" strike="noStrike">
                    <a:solidFill>
                      <a:schemeClr val="dk1"/>
                    </a:solidFill>
                    <a:latin typeface="Tahoma"/>
                    <a:ea typeface="Tahoma"/>
                    <a:cs typeface="Tahoma"/>
                    <a:sym typeface="Tahoma"/>
                  </a:rPr>
                  <a:t>A</a:t>
                </a:r>
                <a:endParaRPr/>
              </a:p>
            </p:txBody>
          </p:sp>
          <p:sp>
            <p:nvSpPr>
              <p:cNvPr id="148" name="Google Shape;148;p4"/>
              <p:cNvSpPr/>
              <p:nvPr/>
            </p:nvSpPr>
            <p:spPr>
              <a:xfrm>
                <a:off x="3362" y="1816"/>
                <a:ext cx="257" cy="257"/>
              </a:xfrm>
              <a:prstGeom prst="roundRect">
                <a:avLst>
                  <a:gd fmla="val 16667" name="adj"/>
                </a:avLst>
              </a:prstGeom>
              <a:solidFill>
                <a:schemeClr val="accent1"/>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Tahoma"/>
                  <a:buNone/>
                </a:pPr>
                <a:r>
                  <a:rPr b="0" i="0" lang="en-US" sz="1600" u="none" cap="none" strike="noStrike">
                    <a:solidFill>
                      <a:schemeClr val="dk1"/>
                    </a:solidFill>
                    <a:latin typeface="Tahoma"/>
                    <a:ea typeface="Tahoma"/>
                    <a:cs typeface="Tahoma"/>
                    <a:sym typeface="Tahoma"/>
                  </a:rPr>
                  <a:t>B</a:t>
                </a:r>
                <a:endParaRPr/>
              </a:p>
            </p:txBody>
          </p:sp>
          <p:sp>
            <p:nvSpPr>
              <p:cNvPr id="149" name="Google Shape;149;p4"/>
              <p:cNvSpPr/>
              <p:nvPr/>
            </p:nvSpPr>
            <p:spPr>
              <a:xfrm>
                <a:off x="5223" y="1815"/>
                <a:ext cx="272" cy="258"/>
              </a:xfrm>
              <a:prstGeom prst="roundRect">
                <a:avLst>
                  <a:gd fmla="val 16667" name="adj"/>
                </a:avLst>
              </a:prstGeom>
              <a:solidFill>
                <a:schemeClr val="accent1"/>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Tahoma"/>
                  <a:buNone/>
                </a:pPr>
                <a:r>
                  <a:rPr b="0" i="0" lang="en-US" sz="1600" u="none" cap="none" strike="noStrike">
                    <a:solidFill>
                      <a:schemeClr val="dk1"/>
                    </a:solidFill>
                    <a:latin typeface="Tahoma"/>
                    <a:ea typeface="Tahoma"/>
                    <a:cs typeface="Tahoma"/>
                    <a:sym typeface="Tahoma"/>
                  </a:rPr>
                  <a:t>D</a:t>
                </a:r>
                <a:endParaRPr/>
              </a:p>
            </p:txBody>
          </p:sp>
          <p:sp>
            <p:nvSpPr>
              <p:cNvPr id="150" name="Google Shape;150;p4"/>
              <p:cNvSpPr/>
              <p:nvPr/>
            </p:nvSpPr>
            <p:spPr>
              <a:xfrm>
                <a:off x="4734" y="1818"/>
                <a:ext cx="259" cy="256"/>
              </a:xfrm>
              <a:prstGeom prst="roundRect">
                <a:avLst>
                  <a:gd fmla="val 16667" name="adj"/>
                </a:avLst>
              </a:prstGeom>
              <a:solidFill>
                <a:schemeClr val="accent1"/>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Tahoma"/>
                  <a:buNone/>
                </a:pPr>
                <a:r>
                  <a:rPr b="0" i="0" lang="en-US" sz="1600" u="none" cap="none" strike="noStrike">
                    <a:solidFill>
                      <a:schemeClr val="dk1"/>
                    </a:solidFill>
                    <a:latin typeface="Tahoma"/>
                    <a:ea typeface="Tahoma"/>
                    <a:cs typeface="Tahoma"/>
                    <a:sym typeface="Tahoma"/>
                  </a:rPr>
                  <a:t>C</a:t>
                </a:r>
                <a:endParaRPr/>
              </a:p>
            </p:txBody>
          </p:sp>
          <p:sp>
            <p:nvSpPr>
              <p:cNvPr id="151" name="Google Shape;151;p4"/>
              <p:cNvSpPr/>
              <p:nvPr/>
            </p:nvSpPr>
            <p:spPr>
              <a:xfrm>
                <a:off x="4470" y="2392"/>
                <a:ext cx="270" cy="258"/>
              </a:xfrm>
              <a:prstGeom prst="roundRect">
                <a:avLst>
                  <a:gd fmla="val 16667" name="adj"/>
                </a:avLst>
              </a:prstGeom>
              <a:solidFill>
                <a:schemeClr val="accent1"/>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Tahoma"/>
                  <a:buNone/>
                </a:pPr>
                <a:r>
                  <a:rPr b="0" i="0" lang="en-US" sz="1600" u="none" cap="none" strike="noStrike">
                    <a:solidFill>
                      <a:schemeClr val="dk1"/>
                    </a:solidFill>
                    <a:latin typeface="Tahoma"/>
                    <a:ea typeface="Tahoma"/>
                    <a:cs typeface="Tahoma"/>
                    <a:sym typeface="Tahoma"/>
                  </a:rPr>
                  <a:t>G</a:t>
                </a:r>
                <a:endParaRPr/>
              </a:p>
            </p:txBody>
          </p:sp>
          <p:sp>
            <p:nvSpPr>
              <p:cNvPr id="152" name="Google Shape;152;p4"/>
              <p:cNvSpPr/>
              <p:nvPr/>
            </p:nvSpPr>
            <p:spPr>
              <a:xfrm>
                <a:off x="4983" y="2392"/>
                <a:ext cx="271" cy="258"/>
              </a:xfrm>
              <a:prstGeom prst="roundRect">
                <a:avLst>
                  <a:gd fmla="val 16667" name="adj"/>
                </a:avLst>
              </a:prstGeom>
              <a:solidFill>
                <a:schemeClr val="accent1"/>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Tahoma"/>
                  <a:buNone/>
                </a:pPr>
                <a:r>
                  <a:rPr b="0" i="0" lang="en-US" sz="1600" u="none" cap="none" strike="noStrike">
                    <a:solidFill>
                      <a:schemeClr val="dk1"/>
                    </a:solidFill>
                    <a:latin typeface="Tahoma"/>
                    <a:ea typeface="Tahoma"/>
                    <a:cs typeface="Tahoma"/>
                    <a:sym typeface="Tahoma"/>
                  </a:rPr>
                  <a:t>H</a:t>
                </a:r>
                <a:endParaRPr/>
              </a:p>
            </p:txBody>
          </p:sp>
          <p:sp>
            <p:nvSpPr>
              <p:cNvPr id="153" name="Google Shape;153;p4"/>
              <p:cNvSpPr/>
              <p:nvPr/>
            </p:nvSpPr>
            <p:spPr>
              <a:xfrm>
                <a:off x="3113" y="2392"/>
                <a:ext cx="253" cy="257"/>
              </a:xfrm>
              <a:prstGeom prst="roundRect">
                <a:avLst>
                  <a:gd fmla="val 16667" name="adj"/>
                </a:avLst>
              </a:prstGeom>
              <a:solidFill>
                <a:schemeClr val="accent1"/>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Tahoma"/>
                  <a:buNone/>
                </a:pPr>
                <a:r>
                  <a:rPr b="0" i="0" lang="en-US" sz="1600" u="none" cap="none" strike="noStrike">
                    <a:solidFill>
                      <a:schemeClr val="dk1"/>
                    </a:solidFill>
                    <a:latin typeface="Tahoma"/>
                    <a:ea typeface="Tahoma"/>
                    <a:cs typeface="Tahoma"/>
                    <a:sym typeface="Tahoma"/>
                  </a:rPr>
                  <a:t>E</a:t>
                </a:r>
                <a:endParaRPr/>
              </a:p>
            </p:txBody>
          </p:sp>
          <p:sp>
            <p:nvSpPr>
              <p:cNvPr id="154" name="Google Shape;154;p4"/>
              <p:cNvSpPr/>
              <p:nvPr/>
            </p:nvSpPr>
            <p:spPr>
              <a:xfrm>
                <a:off x="3617" y="2392"/>
                <a:ext cx="246" cy="256"/>
              </a:xfrm>
              <a:prstGeom prst="roundRect">
                <a:avLst>
                  <a:gd fmla="val 16667" name="adj"/>
                </a:avLst>
              </a:prstGeom>
              <a:solidFill>
                <a:schemeClr val="accent1"/>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Tahoma"/>
                  <a:buNone/>
                </a:pPr>
                <a:r>
                  <a:rPr b="0" i="0" lang="en-US" sz="1600" u="none" cap="none" strike="noStrike">
                    <a:solidFill>
                      <a:schemeClr val="dk1"/>
                    </a:solidFill>
                    <a:latin typeface="Tahoma"/>
                    <a:ea typeface="Tahoma"/>
                    <a:cs typeface="Tahoma"/>
                    <a:sym typeface="Tahoma"/>
                  </a:rPr>
                  <a:t>F</a:t>
                </a:r>
                <a:endParaRPr/>
              </a:p>
            </p:txBody>
          </p:sp>
          <p:cxnSp>
            <p:nvCxnSpPr>
              <p:cNvPr id="155" name="Google Shape;155;p4"/>
              <p:cNvCxnSpPr/>
              <p:nvPr/>
            </p:nvCxnSpPr>
            <p:spPr>
              <a:xfrm flipH="1">
                <a:off x="3491" y="1494"/>
                <a:ext cx="833" cy="326"/>
              </a:xfrm>
              <a:prstGeom prst="straightConnector1">
                <a:avLst/>
              </a:prstGeom>
              <a:noFill/>
              <a:ln cap="flat" cmpd="sng" w="19050">
                <a:solidFill>
                  <a:schemeClr val="dk1"/>
                </a:solidFill>
                <a:prstDash val="solid"/>
                <a:miter lim="800000"/>
                <a:headEnd len="med" w="med" type="none"/>
                <a:tailEnd len="med" w="med" type="none"/>
              </a:ln>
            </p:spPr>
          </p:cxnSp>
          <p:cxnSp>
            <p:nvCxnSpPr>
              <p:cNvPr id="156" name="Google Shape;156;p4"/>
              <p:cNvCxnSpPr/>
              <p:nvPr/>
            </p:nvCxnSpPr>
            <p:spPr>
              <a:xfrm>
                <a:off x="4324" y="1494"/>
                <a:ext cx="538" cy="325"/>
              </a:xfrm>
              <a:prstGeom prst="straightConnector1">
                <a:avLst/>
              </a:prstGeom>
              <a:noFill/>
              <a:ln cap="flat" cmpd="sng" w="19050">
                <a:solidFill>
                  <a:schemeClr val="dk1"/>
                </a:solidFill>
                <a:prstDash val="solid"/>
                <a:miter lim="800000"/>
                <a:headEnd len="med" w="med" type="none"/>
                <a:tailEnd len="med" w="med" type="none"/>
              </a:ln>
            </p:spPr>
          </p:cxnSp>
          <p:cxnSp>
            <p:nvCxnSpPr>
              <p:cNvPr id="157" name="Google Shape;157;p4"/>
              <p:cNvCxnSpPr/>
              <p:nvPr/>
            </p:nvCxnSpPr>
            <p:spPr>
              <a:xfrm>
                <a:off x="4324" y="1494"/>
                <a:ext cx="1036" cy="325"/>
              </a:xfrm>
              <a:prstGeom prst="straightConnector1">
                <a:avLst/>
              </a:prstGeom>
              <a:noFill/>
              <a:ln cap="flat" cmpd="sng" w="19050">
                <a:solidFill>
                  <a:schemeClr val="dk1"/>
                </a:solidFill>
                <a:prstDash val="solid"/>
                <a:miter lim="800000"/>
                <a:headEnd len="med" w="med" type="none"/>
                <a:tailEnd len="med" w="med" type="none"/>
              </a:ln>
            </p:spPr>
          </p:cxnSp>
          <p:cxnSp>
            <p:nvCxnSpPr>
              <p:cNvPr id="158" name="Google Shape;158;p4"/>
              <p:cNvCxnSpPr/>
              <p:nvPr/>
            </p:nvCxnSpPr>
            <p:spPr>
              <a:xfrm>
                <a:off x="4862" y="2071"/>
                <a:ext cx="257" cy="324"/>
              </a:xfrm>
              <a:prstGeom prst="straightConnector1">
                <a:avLst/>
              </a:prstGeom>
              <a:noFill/>
              <a:ln cap="flat" cmpd="sng" w="19050">
                <a:solidFill>
                  <a:schemeClr val="dk1"/>
                </a:solidFill>
                <a:prstDash val="solid"/>
                <a:miter lim="800000"/>
                <a:headEnd len="med" w="med" type="none"/>
                <a:tailEnd len="med" w="med" type="none"/>
              </a:ln>
            </p:spPr>
          </p:cxnSp>
          <p:cxnSp>
            <p:nvCxnSpPr>
              <p:cNvPr id="159" name="Google Shape;159;p4"/>
              <p:cNvCxnSpPr/>
              <p:nvPr/>
            </p:nvCxnSpPr>
            <p:spPr>
              <a:xfrm flipH="1">
                <a:off x="4606" y="2071"/>
                <a:ext cx="256" cy="324"/>
              </a:xfrm>
              <a:prstGeom prst="straightConnector1">
                <a:avLst/>
              </a:prstGeom>
              <a:noFill/>
              <a:ln cap="flat" cmpd="sng" w="19050">
                <a:solidFill>
                  <a:schemeClr val="dk1"/>
                </a:solidFill>
                <a:prstDash val="solid"/>
                <a:miter lim="800000"/>
                <a:headEnd len="med" w="med" type="none"/>
                <a:tailEnd len="med" w="med" type="none"/>
              </a:ln>
            </p:spPr>
          </p:cxnSp>
          <p:cxnSp>
            <p:nvCxnSpPr>
              <p:cNvPr id="160" name="Google Shape;160;p4"/>
              <p:cNvCxnSpPr/>
              <p:nvPr/>
            </p:nvCxnSpPr>
            <p:spPr>
              <a:xfrm>
                <a:off x="3491" y="2070"/>
                <a:ext cx="250" cy="326"/>
              </a:xfrm>
              <a:prstGeom prst="straightConnector1">
                <a:avLst/>
              </a:prstGeom>
              <a:noFill/>
              <a:ln cap="flat" cmpd="sng" w="19050">
                <a:solidFill>
                  <a:schemeClr val="dk1"/>
                </a:solidFill>
                <a:prstDash val="solid"/>
                <a:miter lim="800000"/>
                <a:headEnd len="med" w="med" type="none"/>
                <a:tailEnd len="med" w="med" type="none"/>
              </a:ln>
            </p:spPr>
          </p:cxnSp>
          <p:cxnSp>
            <p:nvCxnSpPr>
              <p:cNvPr id="161" name="Google Shape;161;p4"/>
              <p:cNvCxnSpPr/>
              <p:nvPr/>
            </p:nvCxnSpPr>
            <p:spPr>
              <a:xfrm flipH="1">
                <a:off x="3239" y="2070"/>
                <a:ext cx="252" cy="323"/>
              </a:xfrm>
              <a:prstGeom prst="straightConnector1">
                <a:avLst/>
              </a:prstGeom>
              <a:noFill/>
              <a:ln cap="flat" cmpd="sng" w="19050">
                <a:solidFill>
                  <a:schemeClr val="dk1"/>
                </a:solidFill>
                <a:prstDash val="solid"/>
                <a:miter lim="800000"/>
                <a:headEnd len="med" w="med" type="none"/>
                <a:tailEnd len="med" w="med" type="none"/>
              </a:ln>
            </p:spPr>
          </p:cxnSp>
          <p:sp>
            <p:nvSpPr>
              <p:cNvPr id="162" name="Google Shape;162;p4"/>
              <p:cNvSpPr/>
              <p:nvPr/>
            </p:nvSpPr>
            <p:spPr>
              <a:xfrm>
                <a:off x="3269" y="2972"/>
                <a:ext cx="220" cy="254"/>
              </a:xfrm>
              <a:prstGeom prst="roundRect">
                <a:avLst>
                  <a:gd fmla="val 16667" name="adj"/>
                </a:avLst>
              </a:prstGeom>
              <a:solidFill>
                <a:schemeClr val="accent1"/>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Tahoma"/>
                  <a:buNone/>
                </a:pPr>
                <a:r>
                  <a:rPr b="0" i="0" lang="en-US" sz="1600" u="none" cap="none" strike="noStrike">
                    <a:solidFill>
                      <a:schemeClr val="dk1"/>
                    </a:solidFill>
                    <a:latin typeface="Tahoma"/>
                    <a:ea typeface="Tahoma"/>
                    <a:cs typeface="Tahoma"/>
                    <a:sym typeface="Tahoma"/>
                  </a:rPr>
                  <a:t>I</a:t>
                </a:r>
                <a:endParaRPr/>
              </a:p>
            </p:txBody>
          </p:sp>
          <p:sp>
            <p:nvSpPr>
              <p:cNvPr id="163" name="Google Shape;163;p4"/>
              <p:cNvSpPr/>
              <p:nvPr/>
            </p:nvSpPr>
            <p:spPr>
              <a:xfrm>
                <a:off x="3635" y="2973"/>
                <a:ext cx="228" cy="255"/>
              </a:xfrm>
              <a:prstGeom prst="roundRect">
                <a:avLst>
                  <a:gd fmla="val 16667" name="adj"/>
                </a:avLst>
              </a:prstGeom>
              <a:solidFill>
                <a:schemeClr val="accent1"/>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Tahoma"/>
                  <a:buNone/>
                </a:pPr>
                <a:r>
                  <a:rPr b="0" i="0" lang="en-US" sz="1600" u="none" cap="none" strike="noStrike">
                    <a:solidFill>
                      <a:schemeClr val="dk1"/>
                    </a:solidFill>
                    <a:latin typeface="Tahoma"/>
                    <a:ea typeface="Tahoma"/>
                    <a:cs typeface="Tahoma"/>
                    <a:sym typeface="Tahoma"/>
                  </a:rPr>
                  <a:t>J</a:t>
                </a:r>
                <a:endParaRPr/>
              </a:p>
            </p:txBody>
          </p:sp>
          <p:cxnSp>
            <p:nvCxnSpPr>
              <p:cNvPr id="164" name="Google Shape;164;p4"/>
              <p:cNvCxnSpPr/>
              <p:nvPr/>
            </p:nvCxnSpPr>
            <p:spPr>
              <a:xfrm>
                <a:off x="3741" y="2646"/>
                <a:ext cx="8" cy="329"/>
              </a:xfrm>
              <a:prstGeom prst="straightConnector1">
                <a:avLst/>
              </a:prstGeom>
              <a:noFill/>
              <a:ln cap="flat" cmpd="sng" w="19050">
                <a:solidFill>
                  <a:schemeClr val="dk1"/>
                </a:solidFill>
                <a:prstDash val="solid"/>
                <a:miter lim="800000"/>
                <a:headEnd len="med" w="med" type="none"/>
                <a:tailEnd len="med" w="med" type="none"/>
              </a:ln>
            </p:spPr>
          </p:cxnSp>
          <p:cxnSp>
            <p:nvCxnSpPr>
              <p:cNvPr id="165" name="Google Shape;165;p4"/>
              <p:cNvCxnSpPr/>
              <p:nvPr/>
            </p:nvCxnSpPr>
            <p:spPr>
              <a:xfrm flipH="1">
                <a:off x="3380" y="2646"/>
                <a:ext cx="361" cy="329"/>
              </a:xfrm>
              <a:prstGeom prst="straightConnector1">
                <a:avLst/>
              </a:prstGeom>
              <a:noFill/>
              <a:ln cap="flat" cmpd="sng" w="19050">
                <a:solidFill>
                  <a:schemeClr val="dk1"/>
                </a:solidFill>
                <a:prstDash val="solid"/>
                <a:miter lim="800000"/>
                <a:headEnd len="med" w="med" type="none"/>
                <a:tailEnd len="med" w="med" type="none"/>
              </a:ln>
            </p:spPr>
          </p:cxnSp>
          <p:sp>
            <p:nvSpPr>
              <p:cNvPr id="166" name="Google Shape;166;p4"/>
              <p:cNvSpPr/>
              <p:nvPr/>
            </p:nvSpPr>
            <p:spPr>
              <a:xfrm>
                <a:off x="4005" y="2971"/>
                <a:ext cx="257" cy="257"/>
              </a:xfrm>
              <a:prstGeom prst="roundRect">
                <a:avLst>
                  <a:gd fmla="val 16667" name="adj"/>
                </a:avLst>
              </a:prstGeom>
              <a:solidFill>
                <a:schemeClr val="accent1"/>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Tahoma"/>
                  <a:buNone/>
                </a:pPr>
                <a:r>
                  <a:rPr b="0" i="0" lang="en-US" sz="1600" u="none" cap="none" strike="noStrike">
                    <a:solidFill>
                      <a:schemeClr val="dk1"/>
                    </a:solidFill>
                    <a:latin typeface="Tahoma"/>
                    <a:ea typeface="Tahoma"/>
                    <a:cs typeface="Tahoma"/>
                    <a:sym typeface="Tahoma"/>
                  </a:rPr>
                  <a:t>K</a:t>
                </a:r>
                <a:endParaRPr/>
              </a:p>
            </p:txBody>
          </p:sp>
          <p:cxnSp>
            <p:nvCxnSpPr>
              <p:cNvPr id="167" name="Google Shape;167;p4"/>
              <p:cNvCxnSpPr/>
              <p:nvPr/>
            </p:nvCxnSpPr>
            <p:spPr>
              <a:xfrm>
                <a:off x="3741" y="2646"/>
                <a:ext cx="392" cy="328"/>
              </a:xfrm>
              <a:prstGeom prst="straightConnector1">
                <a:avLst/>
              </a:prstGeom>
              <a:noFill/>
              <a:ln cap="flat" cmpd="sng" w="19050">
                <a:solidFill>
                  <a:schemeClr val="dk1"/>
                </a:solidFill>
                <a:prstDash val="solid"/>
                <a:miter lim="800000"/>
                <a:headEnd len="med" w="med" type="none"/>
                <a:tailEnd len="med" w="med" type="none"/>
              </a:ln>
            </p:spPr>
          </p:cxnSp>
        </p:grpSp>
      </p:grpSp>
      <p:sp>
        <p:nvSpPr>
          <p:cNvPr descr="Rectangle: Click to edit Master text styles &#10;Second level &#10;Third level &#10;Fourth level &#10;Fifth level" id="168" name="Google Shape;168;p4"/>
          <p:cNvSpPr txBox="1"/>
          <p:nvPr/>
        </p:nvSpPr>
        <p:spPr>
          <a:xfrm>
            <a:off x="5410200" y="3581400"/>
            <a:ext cx="3429000" cy="587375"/>
          </a:xfrm>
          <a:prstGeom prst="rect">
            <a:avLst/>
          </a:prstGeom>
          <a:noFill/>
          <a:ln>
            <a:noFill/>
          </a:ln>
        </p:spPr>
        <p:txBody>
          <a:bodyPr anchorCtr="0" anchor="t" bIns="45700" lIns="91425" spcFirstLastPara="1" rIns="91425" wrap="square" tIns="45700">
            <a:spAutoFit/>
          </a:bodyPr>
          <a:lstStyle/>
          <a:p>
            <a:pPr indent="-342900" lvl="0" marL="342900" marR="0" rtl="0" algn="l">
              <a:lnSpc>
                <a:spcPct val="90000"/>
              </a:lnSpc>
              <a:spcBef>
                <a:spcPts val="0"/>
              </a:spcBef>
              <a:spcAft>
                <a:spcPts val="0"/>
              </a:spcAft>
              <a:buClr>
                <a:schemeClr val="hlink"/>
              </a:buClr>
              <a:buSzPts val="1800"/>
              <a:buFont typeface="Arial"/>
              <a:buChar char="•"/>
            </a:pPr>
            <a:r>
              <a:rPr b="1" i="1" lang="en-US" sz="1800" u="none" cap="none" strike="noStrike">
                <a:solidFill>
                  <a:schemeClr val="hlink"/>
                </a:solidFill>
                <a:latin typeface="Calibri"/>
                <a:ea typeface="Calibri"/>
                <a:cs typeface="Calibri"/>
                <a:sym typeface="Calibri"/>
              </a:rPr>
              <a:t>Sub-tree</a:t>
            </a:r>
            <a:r>
              <a:rPr b="0" i="0" lang="en-US" sz="1800" u="none" cap="none" strike="noStrike">
                <a:solidFill>
                  <a:schemeClr val="dk1"/>
                </a:solidFill>
                <a:latin typeface="Calibri"/>
                <a:ea typeface="Calibri"/>
                <a:cs typeface="Calibri"/>
                <a:sym typeface="Calibri"/>
              </a:rPr>
              <a:t>: tree consisting of a node and its descendants</a:t>
            </a:r>
            <a:endParaRPr/>
          </a:p>
        </p:txBody>
      </p:sp>
      <p:sp>
        <p:nvSpPr>
          <p:cNvPr id="169" name="Google Shape;169;p4"/>
          <p:cNvSpPr txBox="1"/>
          <p:nvPr/>
        </p:nvSpPr>
        <p:spPr>
          <a:xfrm>
            <a:off x="0" y="4114800"/>
            <a:ext cx="8763000" cy="1504950"/>
          </a:xfrm>
          <a:prstGeom prst="rect">
            <a:avLst/>
          </a:prstGeom>
          <a:noFill/>
          <a:ln>
            <a:noFill/>
          </a:ln>
        </p:spPr>
        <p:txBody>
          <a:bodyPr anchorCtr="0" anchor="t" bIns="45700" lIns="91425" spcFirstLastPara="1" rIns="91425" wrap="square" tIns="45700">
            <a:spAutoFit/>
          </a:bodyPr>
          <a:lstStyle/>
          <a:p>
            <a:pPr indent="-342900" lvl="0" marL="342900" marR="0" rtl="0" algn="l">
              <a:lnSpc>
                <a:spcPct val="80000"/>
              </a:lnSpc>
              <a:spcBef>
                <a:spcPts val="0"/>
              </a:spcBef>
              <a:spcAft>
                <a:spcPts val="0"/>
              </a:spcAft>
              <a:buClr>
                <a:schemeClr val="dk1"/>
              </a:buClr>
              <a:buSzPts val="2100"/>
              <a:buFont typeface="Calibri"/>
              <a:buNone/>
            </a:pPr>
            <a:r>
              <a:rPr b="0" i="0" lang="en-US" sz="2100" u="none" cap="none" strike="noStrike">
                <a:solidFill>
                  <a:schemeClr val="dk1"/>
                </a:solidFill>
                <a:latin typeface="Calibri"/>
                <a:ea typeface="Calibri"/>
                <a:cs typeface="Calibri"/>
                <a:sym typeface="Calibri"/>
              </a:rPr>
              <a:t>	(The level is known with other name: depth. In some documents a level of the root is defined as 0)</a:t>
            </a:r>
            <a:endParaRPr b="1" i="0" sz="2100" u="none" cap="none" strike="noStrike">
              <a:solidFill>
                <a:schemeClr val="dk2"/>
              </a:solidFill>
              <a:latin typeface="Calibri"/>
              <a:ea typeface="Calibri"/>
              <a:cs typeface="Calibri"/>
              <a:sym typeface="Calibri"/>
            </a:endParaRPr>
          </a:p>
          <a:p>
            <a:pPr indent="-342900" lvl="0" marL="342900" marR="0" rtl="0" algn="l">
              <a:lnSpc>
                <a:spcPct val="80000"/>
              </a:lnSpc>
              <a:spcBef>
                <a:spcPts val="420"/>
              </a:spcBef>
              <a:spcAft>
                <a:spcPts val="0"/>
              </a:spcAft>
              <a:buClr>
                <a:schemeClr val="dk2"/>
              </a:buClr>
              <a:buSzPts val="2100"/>
              <a:buFont typeface="Arial"/>
              <a:buChar char="•"/>
            </a:pPr>
            <a:r>
              <a:rPr b="1" i="0" lang="en-US" sz="2100" u="none" cap="none" strike="noStrike">
                <a:solidFill>
                  <a:schemeClr val="dk2"/>
                </a:solidFill>
                <a:latin typeface="Calibri"/>
                <a:ea typeface="Calibri"/>
                <a:cs typeface="Calibri"/>
                <a:sym typeface="Calibri"/>
              </a:rPr>
              <a:t>Height of a tree</a:t>
            </a:r>
            <a:r>
              <a:rPr b="0" i="0" lang="en-US" sz="2100" u="none" cap="none" strike="noStrike">
                <a:solidFill>
                  <a:schemeClr val="dk1"/>
                </a:solidFill>
                <a:latin typeface="Calibri"/>
                <a:ea typeface="Calibri"/>
                <a:cs typeface="Calibri"/>
                <a:sym typeface="Calibri"/>
              </a:rPr>
              <a:t>: </a:t>
            </a:r>
            <a:r>
              <a:rPr b="1" i="1" lang="en-US" sz="2100" u="none" cap="none" strike="noStrike">
                <a:solidFill>
                  <a:schemeClr val="dk1"/>
                </a:solidFill>
                <a:latin typeface="Calibri"/>
                <a:ea typeface="Calibri"/>
                <a:cs typeface="Calibri"/>
                <a:sym typeface="Calibri"/>
              </a:rPr>
              <a:t>maximum level</a:t>
            </a:r>
            <a:r>
              <a:rPr b="0" i="0" lang="en-US" sz="2100" u="none" cap="none" strike="noStrike">
                <a:solidFill>
                  <a:schemeClr val="dk1"/>
                </a:solidFill>
                <a:latin typeface="Calibri"/>
                <a:ea typeface="Calibri"/>
                <a:cs typeface="Calibri"/>
                <a:sym typeface="Calibri"/>
              </a:rPr>
              <a:t> in a tree, thus  </a:t>
            </a:r>
            <a:r>
              <a:rPr b="1" i="1" lang="en-US" sz="2100" u="none" cap="none" strike="noStrike">
                <a:solidFill>
                  <a:schemeClr val="dk1"/>
                </a:solidFill>
                <a:latin typeface="Calibri"/>
                <a:ea typeface="Calibri"/>
                <a:cs typeface="Calibri"/>
                <a:sym typeface="Calibri"/>
              </a:rPr>
              <a:t>a single node is a tree of height  1</a:t>
            </a:r>
            <a:r>
              <a:rPr b="0" i="0" lang="en-US" sz="2100" u="none" cap="none" strike="noStrike">
                <a:solidFill>
                  <a:schemeClr val="dk1"/>
                </a:solidFill>
                <a:latin typeface="Calibri"/>
                <a:ea typeface="Calibri"/>
                <a:cs typeface="Calibri"/>
                <a:sym typeface="Calibri"/>
              </a:rPr>
              <a:t>. The height of an empty tree is 0.</a:t>
            </a:r>
            <a:endParaRPr/>
          </a:p>
          <a:p>
            <a:pPr indent="-342900" lvl="0" marL="342900" marR="0" rtl="0" algn="l">
              <a:lnSpc>
                <a:spcPct val="80000"/>
              </a:lnSpc>
              <a:spcBef>
                <a:spcPts val="420"/>
              </a:spcBef>
              <a:spcAft>
                <a:spcPts val="0"/>
              </a:spcAft>
              <a:buClr>
                <a:schemeClr val="dk2"/>
              </a:buClr>
              <a:buSzPts val="2100"/>
              <a:buFont typeface="Arial"/>
              <a:buChar char="•"/>
            </a:pPr>
            <a:r>
              <a:rPr b="1" i="0" lang="en-US" sz="2100" u="none" cap="none" strike="noStrike">
                <a:solidFill>
                  <a:schemeClr val="dk2"/>
                </a:solidFill>
                <a:latin typeface="Calibri"/>
                <a:ea typeface="Calibri"/>
                <a:cs typeface="Calibri"/>
                <a:sym typeface="Calibri"/>
              </a:rPr>
              <a:t>Height of a node</a:t>
            </a:r>
            <a:r>
              <a:rPr b="0" i="0" lang="en-US" sz="2100" u="none" cap="none" strike="noStrike">
                <a:solidFill>
                  <a:schemeClr val="dk1"/>
                </a:solidFill>
                <a:latin typeface="Calibri"/>
                <a:ea typeface="Calibri"/>
                <a:cs typeface="Calibri"/>
                <a:sym typeface="Calibri"/>
              </a:rPr>
              <a:t> p is the height of the sub-tree with root p.</a:t>
            </a:r>
            <a:endParaRPr/>
          </a:p>
        </p:txBody>
      </p:sp>
      <p:sp>
        <p:nvSpPr>
          <p:cNvPr id="170" name="Google Shape;170;p4"/>
          <p:cNvSpPr txBox="1"/>
          <p:nvPr/>
        </p:nvSpPr>
        <p:spPr>
          <a:xfrm>
            <a:off x="381000" y="5575300"/>
            <a:ext cx="8610600" cy="825500"/>
          </a:xfrm>
          <a:prstGeom prst="rect">
            <a:avLst/>
          </a:prstGeom>
          <a:solidFill>
            <a:srgbClr val="CCFFCC"/>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We can see that the height of a tree is the maximum number of nodes on a path from the root to a leaf node. </a:t>
            </a:r>
            <a:endParaRPr/>
          </a:p>
          <a:p>
            <a:pPr indent="0" lvl="0" marL="0"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In text book and some other documents the height of a tree with single node is defined as 0</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4" name="Shape 174"/>
        <p:cNvGrpSpPr/>
        <p:nvPr/>
      </p:nvGrpSpPr>
      <p:grpSpPr>
        <a:xfrm>
          <a:off x="0" y="0"/>
          <a:ext cx="0" cy="0"/>
          <a:chOff x="0" y="0"/>
          <a:chExt cx="0" cy="0"/>
        </a:xfrm>
      </p:grpSpPr>
      <p:sp>
        <p:nvSpPr>
          <p:cNvPr id="175" name="Google Shape;175;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None/>
            </a:pPr>
            <a:fld id="{00000000-1234-1234-1234-123412341234}" type="slidenum">
              <a:rPr lang="en-US"/>
              <a:t>‹#›</a:t>
            </a:fld>
            <a:endParaRPr/>
          </a:p>
        </p:txBody>
      </p:sp>
      <p:sp>
        <p:nvSpPr>
          <p:cNvPr id="176" name="Google Shape;176;p5"/>
          <p:cNvSpPr txBox="1"/>
          <p:nvPr/>
        </p:nvSpPr>
        <p:spPr>
          <a:xfrm>
            <a:off x="2895600" y="6356350"/>
            <a:ext cx="3352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Data Structures and Algorithms in Java </a:t>
            </a:r>
            <a:endParaRPr/>
          </a:p>
        </p:txBody>
      </p:sp>
      <p:sp>
        <p:nvSpPr>
          <p:cNvPr id="177" name="Google Shape;177;p5"/>
          <p:cNvSpPr txBox="1"/>
          <p:nvPr>
            <p:ph idx="4294967295" type="title"/>
          </p:nvPr>
        </p:nvSpPr>
        <p:spPr>
          <a:xfrm>
            <a:off x="1828800" y="0"/>
            <a:ext cx="5715000" cy="64135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CC3300"/>
              </a:buClr>
              <a:buSzPts val="3600"/>
              <a:buFont typeface="Calibri"/>
              <a:buNone/>
            </a:pPr>
            <a:r>
              <a:rPr b="1" i="0" lang="en-US" sz="3600" u="none" cap="none" strike="noStrike">
                <a:solidFill>
                  <a:srgbClr val="CC3300"/>
                </a:solidFill>
                <a:latin typeface="Calibri"/>
                <a:ea typeface="Calibri"/>
                <a:cs typeface="Calibri"/>
                <a:sym typeface="Calibri"/>
              </a:rPr>
              <a:t>Tree Terminology - 2</a:t>
            </a:r>
            <a:endParaRPr/>
          </a:p>
        </p:txBody>
      </p:sp>
      <p:sp>
        <p:nvSpPr>
          <p:cNvPr id="178" name="Google Shape;178;p5"/>
          <p:cNvSpPr txBox="1"/>
          <p:nvPr>
            <p:ph idx="4294967295" type="body"/>
          </p:nvPr>
        </p:nvSpPr>
        <p:spPr>
          <a:xfrm>
            <a:off x="304800" y="596900"/>
            <a:ext cx="8382000" cy="1298575"/>
          </a:xfrm>
          <a:prstGeom prst="rect">
            <a:avLst/>
          </a:prstGeom>
          <a:noFill/>
          <a:ln>
            <a:noFill/>
          </a:ln>
        </p:spPr>
        <p:txBody>
          <a:bodyPr anchorCtr="0" anchor="t" bIns="45700" lIns="91425" spcFirstLastPara="1" rIns="91425" wrap="square" tIns="45700">
            <a:spAutoFit/>
          </a:bodyPr>
          <a:lstStyle/>
          <a:p>
            <a:pPr indent="-342900" lvl="0" marL="342900" marR="0" rtl="0" algn="l">
              <a:lnSpc>
                <a:spcPct val="80000"/>
              </a:lnSpc>
              <a:spcBef>
                <a:spcPts val="0"/>
              </a:spcBef>
              <a:spcAft>
                <a:spcPts val="0"/>
              </a:spcAft>
              <a:buClr>
                <a:schemeClr val="hlink"/>
              </a:buClr>
              <a:buSzPts val="2200"/>
              <a:buFont typeface="Arial"/>
              <a:buChar char="•"/>
            </a:pPr>
            <a:r>
              <a:rPr b="1" i="0" lang="en-US" sz="2200" u="none" cap="none" strike="noStrike">
                <a:solidFill>
                  <a:schemeClr val="hlink"/>
                </a:solidFill>
                <a:latin typeface="Calibri"/>
                <a:ea typeface="Calibri"/>
                <a:cs typeface="Calibri"/>
                <a:sym typeface="Calibri"/>
              </a:rPr>
              <a:t>Degree (order)</a:t>
            </a:r>
            <a:r>
              <a:rPr b="0" i="0" lang="en-US" sz="2200" u="none" cap="none" strike="noStrike">
                <a:solidFill>
                  <a:schemeClr val="dk1"/>
                </a:solidFill>
                <a:latin typeface="Calibri"/>
                <a:ea typeface="Calibri"/>
                <a:cs typeface="Calibri"/>
                <a:sym typeface="Calibri"/>
              </a:rPr>
              <a:t> of a node: number of its non-empty childrens.</a:t>
            </a:r>
            <a:endParaRPr/>
          </a:p>
          <a:p>
            <a:pPr indent="-342900" lvl="0" marL="342900" marR="0" rtl="0" algn="l">
              <a:lnSpc>
                <a:spcPct val="80000"/>
              </a:lnSpc>
              <a:spcBef>
                <a:spcPts val="440"/>
              </a:spcBef>
              <a:spcAft>
                <a:spcPts val="0"/>
              </a:spcAft>
              <a:buClr>
                <a:schemeClr val="dk1"/>
              </a:buClr>
              <a:buSzPts val="2200"/>
              <a:buFont typeface="Arial"/>
              <a:buChar char="•"/>
            </a:pPr>
            <a:r>
              <a:rPr b="0" i="0" lang="en-US" sz="2200" u="none" cap="none" strike="noStrike">
                <a:solidFill>
                  <a:schemeClr val="dk1"/>
                </a:solidFill>
                <a:latin typeface="Calibri"/>
                <a:ea typeface="Calibri"/>
                <a:cs typeface="Calibri"/>
                <a:sym typeface="Calibri"/>
              </a:rPr>
              <a:t>Each node has to be reachable from the root through a unique sequence of arcs (edges), called a </a:t>
            </a:r>
            <a:r>
              <a:rPr b="1" i="1" lang="en-US" sz="2200" u="none" cap="none" strike="noStrike">
                <a:solidFill>
                  <a:schemeClr val="hlink"/>
                </a:solidFill>
                <a:latin typeface="Calibri"/>
                <a:ea typeface="Calibri"/>
                <a:cs typeface="Calibri"/>
                <a:sym typeface="Calibri"/>
              </a:rPr>
              <a:t>path</a:t>
            </a:r>
            <a:endParaRPr/>
          </a:p>
          <a:p>
            <a:pPr indent="-342900" lvl="0" marL="342900" marR="0" rtl="0" algn="l">
              <a:lnSpc>
                <a:spcPct val="80000"/>
              </a:lnSpc>
              <a:spcBef>
                <a:spcPts val="440"/>
              </a:spcBef>
              <a:spcAft>
                <a:spcPts val="0"/>
              </a:spcAft>
              <a:buClr>
                <a:schemeClr val="dk1"/>
              </a:buClr>
              <a:buSzPts val="2200"/>
              <a:buFont typeface="Arial"/>
              <a:buChar char="•"/>
            </a:pPr>
            <a:r>
              <a:rPr b="0" i="0" lang="en-US" sz="2200" u="none" cap="none" strike="noStrike">
                <a:solidFill>
                  <a:schemeClr val="dk1"/>
                </a:solidFill>
                <a:latin typeface="Calibri"/>
                <a:ea typeface="Calibri"/>
                <a:cs typeface="Calibri"/>
                <a:sym typeface="Calibri"/>
              </a:rPr>
              <a:t>The number of arcs in a path is called the </a:t>
            </a:r>
            <a:r>
              <a:rPr b="1" i="1" lang="en-US" sz="2200" u="none" cap="none" strike="noStrike">
                <a:solidFill>
                  <a:schemeClr val="hlink"/>
                </a:solidFill>
                <a:latin typeface="Calibri"/>
                <a:ea typeface="Calibri"/>
                <a:cs typeface="Calibri"/>
                <a:sym typeface="Calibri"/>
              </a:rPr>
              <a:t>length of the path</a:t>
            </a:r>
            <a:endParaRPr/>
          </a:p>
        </p:txBody>
      </p:sp>
      <p:pic>
        <p:nvPicPr>
          <p:cNvPr id="179" name="Google Shape;179;p5"/>
          <p:cNvPicPr preferRelativeResize="0"/>
          <p:nvPr/>
        </p:nvPicPr>
        <p:blipFill rotWithShape="1">
          <a:blip r:embed="rId3">
            <a:alphaModFix/>
          </a:blip>
          <a:srcRect b="0" l="0" r="0" t="0"/>
          <a:stretch/>
        </p:blipFill>
        <p:spPr>
          <a:xfrm>
            <a:off x="533400" y="2362200"/>
            <a:ext cx="8116887" cy="2809875"/>
          </a:xfrm>
          <a:prstGeom prst="rect">
            <a:avLst/>
          </a:prstGeom>
          <a:noFill/>
          <a:ln>
            <a:noFill/>
          </a:ln>
        </p:spPr>
      </p:pic>
      <p:sp>
        <p:nvSpPr>
          <p:cNvPr id="180" name="Google Shape;180;p5"/>
          <p:cNvSpPr txBox="1"/>
          <p:nvPr/>
        </p:nvSpPr>
        <p:spPr>
          <a:xfrm>
            <a:off x="609600" y="5486400"/>
            <a:ext cx="7770812"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Tree example: Hierarchical structure of a university shown as a tree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5" name="Shape 185"/>
        <p:cNvGrpSpPr/>
        <p:nvPr/>
      </p:nvGrpSpPr>
      <p:grpSpPr>
        <a:xfrm>
          <a:off x="0" y="0"/>
          <a:ext cx="0" cy="0"/>
          <a:chOff x="0" y="0"/>
          <a:chExt cx="0" cy="0"/>
        </a:xfrm>
      </p:grpSpPr>
      <p:sp>
        <p:nvSpPr>
          <p:cNvPr id="186" name="Google Shape;186;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None/>
            </a:pPr>
            <a:fld id="{00000000-1234-1234-1234-123412341234}" type="slidenum">
              <a:rPr lang="en-US"/>
              <a:t>‹#›</a:t>
            </a:fld>
            <a:endParaRPr/>
          </a:p>
        </p:txBody>
      </p:sp>
      <p:pic>
        <p:nvPicPr>
          <p:cNvPr id="187" name="Google Shape;187;p6"/>
          <p:cNvPicPr preferRelativeResize="0"/>
          <p:nvPr/>
        </p:nvPicPr>
        <p:blipFill rotWithShape="1">
          <a:blip r:embed="rId3">
            <a:alphaModFix/>
          </a:blip>
          <a:srcRect b="66667" l="0" r="0" t="0"/>
          <a:stretch/>
        </p:blipFill>
        <p:spPr>
          <a:xfrm>
            <a:off x="609600" y="1395412"/>
            <a:ext cx="7391400" cy="1371600"/>
          </a:xfrm>
          <a:prstGeom prst="rect">
            <a:avLst/>
          </a:prstGeom>
          <a:noFill/>
          <a:ln>
            <a:noFill/>
          </a:ln>
        </p:spPr>
      </p:pic>
      <p:pic>
        <p:nvPicPr>
          <p:cNvPr id="188" name="Google Shape;188;p6"/>
          <p:cNvPicPr preferRelativeResize="0"/>
          <p:nvPr/>
        </p:nvPicPr>
        <p:blipFill rotWithShape="1">
          <a:blip r:embed="rId4">
            <a:alphaModFix/>
          </a:blip>
          <a:srcRect b="0" l="0" r="0" t="0"/>
          <a:stretch/>
        </p:blipFill>
        <p:spPr>
          <a:xfrm>
            <a:off x="0" y="2995612"/>
            <a:ext cx="4673600" cy="2667000"/>
          </a:xfrm>
          <a:prstGeom prst="rect">
            <a:avLst/>
          </a:prstGeom>
          <a:noFill/>
          <a:ln>
            <a:noFill/>
          </a:ln>
        </p:spPr>
      </p:pic>
      <p:sp>
        <p:nvSpPr>
          <p:cNvPr id="189" name="Google Shape;189;p6"/>
          <p:cNvSpPr txBox="1"/>
          <p:nvPr/>
        </p:nvSpPr>
        <p:spPr>
          <a:xfrm>
            <a:off x="609600" y="5738812"/>
            <a:ext cx="177165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Arial"/>
              <a:buNone/>
            </a:pPr>
            <a:r>
              <a:rPr b="0" i="1" lang="en-US" sz="1400" u="none" cap="none" strike="noStrike">
                <a:solidFill>
                  <a:schemeClr val="dk1"/>
                </a:solidFill>
                <a:latin typeface="Arial"/>
                <a:ea typeface="Arial"/>
                <a:cs typeface="Arial"/>
                <a:sym typeface="Arial"/>
              </a:rPr>
              <a:t>Image Source: JEDI</a:t>
            </a:r>
            <a:endParaRPr/>
          </a:p>
        </p:txBody>
      </p:sp>
      <p:pic>
        <p:nvPicPr>
          <p:cNvPr id="190" name="Google Shape;190;p6"/>
          <p:cNvPicPr preferRelativeResize="0"/>
          <p:nvPr/>
        </p:nvPicPr>
        <p:blipFill rotWithShape="1">
          <a:blip r:embed="rId5">
            <a:alphaModFix/>
          </a:blip>
          <a:srcRect b="0" l="0" r="0" t="0"/>
          <a:stretch/>
        </p:blipFill>
        <p:spPr>
          <a:xfrm>
            <a:off x="4495800" y="3138487"/>
            <a:ext cx="4572000" cy="2752725"/>
          </a:xfrm>
          <a:prstGeom prst="rect">
            <a:avLst/>
          </a:prstGeom>
          <a:noFill/>
          <a:ln>
            <a:noFill/>
          </a:ln>
        </p:spPr>
      </p:pic>
      <p:sp>
        <p:nvSpPr>
          <p:cNvPr id="191" name="Google Shape;191;p6"/>
          <p:cNvSpPr txBox="1"/>
          <p:nvPr/>
        </p:nvSpPr>
        <p:spPr>
          <a:xfrm>
            <a:off x="914400" y="381000"/>
            <a:ext cx="7010400" cy="701675"/>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CC3300"/>
              </a:buClr>
              <a:buSzPts val="4000"/>
              <a:buFont typeface="Calibri"/>
              <a:buNone/>
            </a:pPr>
            <a:r>
              <a:rPr b="1" i="0" lang="en-US" sz="4000" u="none" cap="none" strike="noStrike">
                <a:solidFill>
                  <a:srgbClr val="CC3300"/>
                </a:solidFill>
                <a:latin typeface="Calibri"/>
                <a:ea typeface="Calibri"/>
                <a:cs typeface="Calibri"/>
                <a:sym typeface="Calibri"/>
              </a:rPr>
              <a:t>Tree examples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5" name="Shape 195"/>
        <p:cNvGrpSpPr/>
        <p:nvPr/>
      </p:nvGrpSpPr>
      <p:grpSpPr>
        <a:xfrm>
          <a:off x="0" y="0"/>
          <a:ext cx="0" cy="0"/>
          <a:chOff x="0" y="0"/>
          <a:chExt cx="0" cy="0"/>
        </a:xfrm>
      </p:grpSpPr>
      <p:sp>
        <p:nvSpPr>
          <p:cNvPr id="196" name="Google Shape;196;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None/>
            </a:pPr>
            <a:fld id="{00000000-1234-1234-1234-123412341234}" type="slidenum">
              <a:rPr lang="en-US"/>
              <a:t>‹#›</a:t>
            </a:fld>
            <a:endParaRPr/>
          </a:p>
        </p:txBody>
      </p:sp>
      <p:sp>
        <p:nvSpPr>
          <p:cNvPr id="197" name="Google Shape;197;p7"/>
          <p:cNvSpPr txBox="1"/>
          <p:nvPr>
            <p:ph type="title"/>
          </p:nvPr>
        </p:nvSpPr>
        <p:spPr>
          <a:xfrm>
            <a:off x="1676400" y="101600"/>
            <a:ext cx="5715000" cy="646112"/>
          </a:xfrm>
          <a:prstGeom prst="rect">
            <a:avLst/>
          </a:prstGeom>
          <a:noFill/>
          <a:ln>
            <a:noFill/>
          </a:ln>
        </p:spPr>
        <p:txBody>
          <a:bodyPr anchorCtr="0" anchor="ctr" bIns="45700" lIns="91425" spcFirstLastPara="1" rIns="91425" wrap="square" tIns="45700">
            <a:spAutoFit/>
          </a:bodyPr>
          <a:lstStyle/>
          <a:p>
            <a:pPr indent="0" lvl="0" marL="0" rtl="0" algn="ctr">
              <a:lnSpc>
                <a:spcPct val="100000"/>
              </a:lnSpc>
              <a:spcBef>
                <a:spcPts val="0"/>
              </a:spcBef>
              <a:spcAft>
                <a:spcPts val="0"/>
              </a:spcAft>
              <a:buClr>
                <a:srgbClr val="CC3300"/>
              </a:buClr>
              <a:buSzPts val="3600"/>
              <a:buFont typeface="Calibri"/>
              <a:buNone/>
            </a:pPr>
            <a:r>
              <a:rPr b="1" i="0" lang="en-US" sz="3600" u="none">
                <a:solidFill>
                  <a:srgbClr val="CC3300"/>
                </a:solidFill>
                <a:latin typeface="Calibri"/>
                <a:ea typeface="Calibri"/>
                <a:cs typeface="Calibri"/>
                <a:sym typeface="Calibri"/>
              </a:rPr>
              <a:t>Ordered Trees</a:t>
            </a:r>
            <a:endParaRPr/>
          </a:p>
        </p:txBody>
      </p:sp>
      <p:sp>
        <p:nvSpPr>
          <p:cNvPr id="198" name="Google Shape;198;p7"/>
          <p:cNvSpPr txBox="1"/>
          <p:nvPr/>
        </p:nvSpPr>
        <p:spPr>
          <a:xfrm>
            <a:off x="381000" y="762000"/>
            <a:ext cx="8382000" cy="2678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Calibri"/>
              <a:buNone/>
            </a:pPr>
            <a:r>
              <a:rPr b="0" i="0" lang="en-US" sz="2800" u="none" cap="none" strike="noStrike">
                <a:solidFill>
                  <a:schemeClr val="dk1"/>
                </a:solidFill>
                <a:latin typeface="Calibri"/>
                <a:ea typeface="Calibri"/>
                <a:cs typeface="Calibri"/>
                <a:sym typeface="Calibri"/>
              </a:rPr>
              <a:t>A tree is </a:t>
            </a:r>
            <a:r>
              <a:rPr b="0" i="1" lang="en-US" sz="2800" u="none" cap="none" strike="noStrike">
                <a:solidFill>
                  <a:schemeClr val="dk1"/>
                </a:solidFill>
                <a:latin typeface="Calibri"/>
                <a:ea typeface="Calibri"/>
                <a:cs typeface="Calibri"/>
                <a:sym typeface="Calibri"/>
              </a:rPr>
              <a:t>ordered if there is a meaningful linear order among the children of each </a:t>
            </a:r>
            <a:r>
              <a:rPr b="0" i="0" lang="en-US" sz="2800" u="none" cap="none" strike="noStrike">
                <a:solidFill>
                  <a:schemeClr val="dk1"/>
                </a:solidFill>
                <a:latin typeface="Calibri"/>
                <a:ea typeface="Calibri"/>
                <a:cs typeface="Calibri"/>
                <a:sym typeface="Calibri"/>
              </a:rPr>
              <a:t>node; that is, we purposefully identify the children of a node as being the first, second, third, and so on. Such an order is usually visualized by arranging siblings left to right, according to their order.</a:t>
            </a:r>
            <a:endParaRPr/>
          </a:p>
        </p:txBody>
      </p:sp>
      <p:pic>
        <p:nvPicPr>
          <p:cNvPr id="199" name="Google Shape;199;p7"/>
          <p:cNvPicPr preferRelativeResize="0"/>
          <p:nvPr/>
        </p:nvPicPr>
        <p:blipFill rotWithShape="1">
          <a:blip r:embed="rId3">
            <a:alphaModFix/>
          </a:blip>
          <a:srcRect b="11200" l="25640" r="19711" t="45082"/>
          <a:stretch/>
        </p:blipFill>
        <p:spPr>
          <a:xfrm>
            <a:off x="2362200" y="3048000"/>
            <a:ext cx="5943600" cy="3200400"/>
          </a:xfrm>
          <a:prstGeom prst="rect">
            <a:avLst/>
          </a:prstGeom>
          <a:noFill/>
          <a:ln>
            <a:noFill/>
          </a:ln>
        </p:spPr>
      </p:pic>
      <p:sp>
        <p:nvSpPr>
          <p:cNvPr id="200" name="Google Shape;200;p7"/>
          <p:cNvSpPr txBox="1"/>
          <p:nvPr/>
        </p:nvSpPr>
        <p:spPr>
          <a:xfrm>
            <a:off x="533400" y="3733800"/>
            <a:ext cx="1752600" cy="15700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Calibri"/>
              <a:buNone/>
            </a:pPr>
            <a:r>
              <a:rPr b="0" i="0" lang="en-US" sz="2400" u="none" cap="none" strike="noStrike">
                <a:solidFill>
                  <a:schemeClr val="dk1"/>
                </a:solidFill>
                <a:latin typeface="Calibri"/>
                <a:ea typeface="Calibri"/>
                <a:cs typeface="Calibri"/>
                <a:sym typeface="Calibri"/>
              </a:rPr>
              <a:t>An ordered tree associated with a book.</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4" name="Shape 204"/>
        <p:cNvGrpSpPr/>
        <p:nvPr/>
      </p:nvGrpSpPr>
      <p:grpSpPr>
        <a:xfrm>
          <a:off x="0" y="0"/>
          <a:ext cx="0" cy="0"/>
          <a:chOff x="0" y="0"/>
          <a:chExt cx="0" cy="0"/>
        </a:xfrm>
      </p:grpSpPr>
      <p:sp>
        <p:nvSpPr>
          <p:cNvPr id="205" name="Google Shape;205;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None/>
            </a:pPr>
            <a:fld id="{00000000-1234-1234-1234-123412341234}" type="slidenum">
              <a:rPr lang="en-US"/>
              <a:t>‹#›</a:t>
            </a:fld>
            <a:endParaRPr/>
          </a:p>
        </p:txBody>
      </p:sp>
      <p:sp>
        <p:nvSpPr>
          <p:cNvPr id="206" name="Google Shape;206;p8"/>
          <p:cNvSpPr txBox="1"/>
          <p:nvPr/>
        </p:nvSpPr>
        <p:spPr>
          <a:xfrm>
            <a:off x="2895600" y="6356350"/>
            <a:ext cx="3352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Data Structures and Algorithms in Java </a:t>
            </a:r>
            <a:endParaRPr/>
          </a:p>
        </p:txBody>
      </p:sp>
      <p:sp>
        <p:nvSpPr>
          <p:cNvPr id="207" name="Google Shape;207;p8"/>
          <p:cNvSpPr txBox="1"/>
          <p:nvPr>
            <p:ph idx="4294967295" type="title"/>
          </p:nvPr>
        </p:nvSpPr>
        <p:spPr>
          <a:xfrm>
            <a:off x="381000" y="762000"/>
            <a:ext cx="8077200" cy="701675"/>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CC3300"/>
              </a:buClr>
              <a:buSzPts val="4000"/>
              <a:buFont typeface="Calibri"/>
              <a:buNone/>
            </a:pPr>
            <a:r>
              <a:rPr b="1" i="0" lang="en-US" sz="4000" u="none" cap="none" strike="noStrike">
                <a:solidFill>
                  <a:srgbClr val="CC3300"/>
                </a:solidFill>
                <a:latin typeface="Calibri"/>
                <a:ea typeface="Calibri"/>
                <a:cs typeface="Calibri"/>
                <a:sym typeface="Calibri"/>
              </a:rPr>
              <a:t>Pre-order Traversal of a tree</a:t>
            </a:r>
            <a:endParaRPr/>
          </a:p>
        </p:txBody>
      </p:sp>
      <p:sp>
        <p:nvSpPr>
          <p:cNvPr id="208" name="Google Shape;208;p8"/>
          <p:cNvSpPr txBox="1"/>
          <p:nvPr>
            <p:ph idx="4294967295" type="body"/>
          </p:nvPr>
        </p:nvSpPr>
        <p:spPr>
          <a:xfrm>
            <a:off x="609600" y="1600200"/>
            <a:ext cx="4267200" cy="2286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80000"/>
              </a:lnSpc>
              <a:spcBef>
                <a:spcPts val="0"/>
              </a:spcBef>
              <a:spcAft>
                <a:spcPts val="0"/>
              </a:spcAft>
              <a:buClr>
                <a:schemeClr val="dk1"/>
              </a:buClr>
              <a:buSzPts val="2000"/>
              <a:buFont typeface="Arial"/>
              <a:buChar char="•"/>
            </a:pPr>
            <a:r>
              <a:rPr b="1" i="0" lang="en-US" sz="2000" u="none" cap="none" strike="noStrike">
                <a:solidFill>
                  <a:schemeClr val="dk1"/>
                </a:solidFill>
                <a:latin typeface="Calibri"/>
                <a:ea typeface="Calibri"/>
                <a:cs typeface="Calibri"/>
                <a:sym typeface="Calibri"/>
              </a:rPr>
              <a:t>Tree traversal</a:t>
            </a:r>
            <a:r>
              <a:rPr b="0" i="1" lang="en-US" sz="2000" u="none" cap="none" strike="noStrike">
                <a:solidFill>
                  <a:schemeClr val="dk1"/>
                </a:solidFill>
                <a:latin typeface="Calibri"/>
                <a:ea typeface="Calibri"/>
                <a:cs typeface="Calibri"/>
                <a:sym typeface="Calibri"/>
              </a:rPr>
              <a:t> </a:t>
            </a:r>
            <a:r>
              <a:rPr b="0" i="0" lang="en-US" sz="2000" u="none" cap="none" strike="noStrike">
                <a:solidFill>
                  <a:schemeClr val="dk1"/>
                </a:solidFill>
                <a:latin typeface="Calibri"/>
                <a:ea typeface="Calibri"/>
                <a:cs typeface="Calibri"/>
                <a:sym typeface="Calibri"/>
              </a:rPr>
              <a:t>is the process of visiting each node in the tree exactly one time.</a:t>
            </a:r>
            <a:endParaRPr/>
          </a:p>
          <a:p>
            <a:pPr indent="-342900" lvl="0" marL="342900" marR="0" rtl="0" algn="l">
              <a:lnSpc>
                <a:spcPct val="80000"/>
              </a:lnSpc>
              <a:spcBef>
                <a:spcPts val="40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In a pre-order traversal, a node is visited before its descendants </a:t>
            </a:r>
            <a:endParaRPr/>
          </a:p>
          <a:p>
            <a:pPr indent="-342900" lvl="0" marL="342900" marR="0" rtl="0" algn="l">
              <a:lnSpc>
                <a:spcPct val="80000"/>
              </a:lnSpc>
              <a:spcBef>
                <a:spcPts val="40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Application: print a structured document</a:t>
            </a:r>
            <a:endParaRPr/>
          </a:p>
        </p:txBody>
      </p:sp>
      <p:sp>
        <p:nvSpPr>
          <p:cNvPr id="209" name="Google Shape;209;p8"/>
          <p:cNvSpPr/>
          <p:nvPr/>
        </p:nvSpPr>
        <p:spPr>
          <a:xfrm>
            <a:off x="3960812" y="3886200"/>
            <a:ext cx="1865312" cy="384175"/>
          </a:xfrm>
          <a:prstGeom prst="roundRect">
            <a:avLst>
              <a:gd fmla="val 16667" name="adj"/>
            </a:avLst>
          </a:prstGeom>
          <a:solidFill>
            <a:schemeClr val="accent1"/>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Tahoma"/>
              <a:buNone/>
            </a:pPr>
            <a:r>
              <a:rPr b="0" i="0" lang="en-US" sz="1600" u="none" cap="none" strike="noStrike">
                <a:solidFill>
                  <a:schemeClr val="dk1"/>
                </a:solidFill>
                <a:latin typeface="Tahoma"/>
                <a:ea typeface="Tahoma"/>
                <a:cs typeface="Tahoma"/>
                <a:sym typeface="Tahoma"/>
              </a:rPr>
              <a:t>Make Money Fast!</a:t>
            </a:r>
            <a:endParaRPr/>
          </a:p>
        </p:txBody>
      </p:sp>
      <p:sp>
        <p:nvSpPr>
          <p:cNvPr id="210" name="Google Shape;210;p8"/>
          <p:cNvSpPr/>
          <p:nvPr/>
        </p:nvSpPr>
        <p:spPr>
          <a:xfrm>
            <a:off x="1306512" y="4800600"/>
            <a:ext cx="1493837" cy="384175"/>
          </a:xfrm>
          <a:prstGeom prst="roundRect">
            <a:avLst>
              <a:gd fmla="val 16667" name="adj"/>
            </a:avLst>
          </a:prstGeom>
          <a:solidFill>
            <a:schemeClr val="accent1"/>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Tahoma"/>
              <a:buNone/>
            </a:pPr>
            <a:r>
              <a:rPr b="0" i="0" lang="en-US" sz="1600" u="none" cap="none" strike="noStrike">
                <a:solidFill>
                  <a:schemeClr val="dk1"/>
                </a:solidFill>
                <a:latin typeface="Tahoma"/>
                <a:ea typeface="Tahoma"/>
                <a:cs typeface="Tahoma"/>
                <a:sym typeface="Tahoma"/>
              </a:rPr>
              <a:t>1. Motivations</a:t>
            </a:r>
            <a:endParaRPr/>
          </a:p>
        </p:txBody>
      </p:sp>
      <p:sp>
        <p:nvSpPr>
          <p:cNvPr id="211" name="Google Shape;211;p8"/>
          <p:cNvSpPr/>
          <p:nvPr/>
        </p:nvSpPr>
        <p:spPr>
          <a:xfrm>
            <a:off x="7543800" y="4800600"/>
            <a:ext cx="1223962" cy="384175"/>
          </a:xfrm>
          <a:prstGeom prst="roundRect">
            <a:avLst>
              <a:gd fmla="val 16667" name="adj"/>
            </a:avLst>
          </a:prstGeom>
          <a:solidFill>
            <a:schemeClr val="accent1"/>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Tahoma"/>
              <a:buNone/>
            </a:pPr>
            <a:r>
              <a:rPr b="0" i="0" lang="en-US" sz="1600" u="none" cap="none" strike="noStrike">
                <a:solidFill>
                  <a:schemeClr val="dk1"/>
                </a:solidFill>
                <a:latin typeface="Tahoma"/>
                <a:ea typeface="Tahoma"/>
                <a:cs typeface="Tahoma"/>
                <a:sym typeface="Tahoma"/>
              </a:rPr>
              <a:t>References</a:t>
            </a:r>
            <a:endParaRPr/>
          </a:p>
        </p:txBody>
      </p:sp>
      <p:sp>
        <p:nvSpPr>
          <p:cNvPr id="212" name="Google Shape;212;p8"/>
          <p:cNvSpPr/>
          <p:nvPr/>
        </p:nvSpPr>
        <p:spPr>
          <a:xfrm>
            <a:off x="5368925" y="4800600"/>
            <a:ext cx="1233487" cy="384175"/>
          </a:xfrm>
          <a:prstGeom prst="roundRect">
            <a:avLst>
              <a:gd fmla="val 16667" name="adj"/>
            </a:avLst>
          </a:prstGeom>
          <a:solidFill>
            <a:schemeClr val="accent1"/>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Tahoma"/>
              <a:buNone/>
            </a:pPr>
            <a:r>
              <a:rPr b="0" i="0" lang="en-US" sz="1600" u="none" cap="none" strike="noStrike">
                <a:solidFill>
                  <a:schemeClr val="dk1"/>
                </a:solidFill>
                <a:latin typeface="Tahoma"/>
                <a:ea typeface="Tahoma"/>
                <a:cs typeface="Tahoma"/>
                <a:sym typeface="Tahoma"/>
              </a:rPr>
              <a:t>2. Methods</a:t>
            </a:r>
            <a:endParaRPr/>
          </a:p>
        </p:txBody>
      </p:sp>
      <p:sp>
        <p:nvSpPr>
          <p:cNvPr id="213" name="Google Shape;213;p8"/>
          <p:cNvSpPr/>
          <p:nvPr/>
        </p:nvSpPr>
        <p:spPr>
          <a:xfrm>
            <a:off x="3886200" y="5572125"/>
            <a:ext cx="1092200" cy="654050"/>
          </a:xfrm>
          <a:prstGeom prst="roundRect">
            <a:avLst>
              <a:gd fmla="val 16667" name="adj"/>
            </a:avLst>
          </a:prstGeom>
          <a:solidFill>
            <a:schemeClr val="accent1"/>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Tahoma"/>
              <a:buNone/>
            </a:pPr>
            <a:r>
              <a:rPr b="0" i="0" lang="en-US" sz="1600" u="none" cap="none" strike="noStrike">
                <a:solidFill>
                  <a:schemeClr val="dk1"/>
                </a:solidFill>
                <a:latin typeface="Tahoma"/>
                <a:ea typeface="Tahoma"/>
                <a:cs typeface="Tahoma"/>
                <a:sym typeface="Tahoma"/>
              </a:rPr>
              <a:t>2.1 Stock</a:t>
            </a:r>
            <a:br>
              <a:rPr b="0" i="0" lang="en-US" sz="1600" u="none" cap="none" strike="noStrike">
                <a:solidFill>
                  <a:schemeClr val="dk1"/>
                </a:solidFill>
                <a:latin typeface="Tahoma"/>
                <a:ea typeface="Tahoma"/>
                <a:cs typeface="Tahoma"/>
                <a:sym typeface="Tahoma"/>
              </a:rPr>
            </a:br>
            <a:r>
              <a:rPr b="0" i="0" lang="en-US" sz="1600" u="none" cap="none" strike="noStrike">
                <a:solidFill>
                  <a:schemeClr val="dk1"/>
                </a:solidFill>
                <a:latin typeface="Tahoma"/>
                <a:ea typeface="Tahoma"/>
                <a:cs typeface="Tahoma"/>
                <a:sym typeface="Tahoma"/>
              </a:rPr>
              <a:t>Fraud</a:t>
            </a:r>
            <a:endParaRPr/>
          </a:p>
        </p:txBody>
      </p:sp>
      <p:sp>
        <p:nvSpPr>
          <p:cNvPr id="214" name="Google Shape;214;p8"/>
          <p:cNvSpPr/>
          <p:nvPr/>
        </p:nvSpPr>
        <p:spPr>
          <a:xfrm>
            <a:off x="5451475" y="5572125"/>
            <a:ext cx="1077912" cy="654050"/>
          </a:xfrm>
          <a:prstGeom prst="roundRect">
            <a:avLst>
              <a:gd fmla="val 16667" name="adj"/>
            </a:avLst>
          </a:prstGeom>
          <a:solidFill>
            <a:schemeClr val="accent1"/>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Tahoma"/>
              <a:buNone/>
            </a:pPr>
            <a:r>
              <a:rPr b="0" i="0" lang="en-US" sz="1600" u="none" cap="none" strike="noStrike">
                <a:solidFill>
                  <a:schemeClr val="dk1"/>
                </a:solidFill>
                <a:latin typeface="Tahoma"/>
                <a:ea typeface="Tahoma"/>
                <a:cs typeface="Tahoma"/>
                <a:sym typeface="Tahoma"/>
              </a:rPr>
              <a:t>2.2 Ponzi</a:t>
            </a:r>
            <a:br>
              <a:rPr b="0" i="0" lang="en-US" sz="1600" u="none" cap="none" strike="noStrike">
                <a:solidFill>
                  <a:schemeClr val="dk1"/>
                </a:solidFill>
                <a:latin typeface="Tahoma"/>
                <a:ea typeface="Tahoma"/>
                <a:cs typeface="Tahoma"/>
                <a:sym typeface="Tahoma"/>
              </a:rPr>
            </a:br>
            <a:r>
              <a:rPr b="0" i="0" lang="en-US" sz="1600" u="none" cap="none" strike="noStrike">
                <a:solidFill>
                  <a:schemeClr val="dk1"/>
                </a:solidFill>
                <a:latin typeface="Tahoma"/>
                <a:ea typeface="Tahoma"/>
                <a:cs typeface="Tahoma"/>
                <a:sym typeface="Tahoma"/>
              </a:rPr>
              <a:t>Scheme</a:t>
            </a:r>
            <a:endParaRPr/>
          </a:p>
        </p:txBody>
      </p:sp>
      <p:sp>
        <p:nvSpPr>
          <p:cNvPr id="215" name="Google Shape;215;p8"/>
          <p:cNvSpPr/>
          <p:nvPr/>
        </p:nvSpPr>
        <p:spPr>
          <a:xfrm>
            <a:off x="762000" y="5707062"/>
            <a:ext cx="1119187" cy="384175"/>
          </a:xfrm>
          <a:prstGeom prst="roundRect">
            <a:avLst>
              <a:gd fmla="val 16667" name="adj"/>
            </a:avLst>
          </a:prstGeom>
          <a:solidFill>
            <a:schemeClr val="accent1"/>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Tahoma"/>
              <a:buNone/>
            </a:pPr>
            <a:r>
              <a:rPr b="0" i="0" lang="en-US" sz="1600" u="none" cap="none" strike="noStrike">
                <a:solidFill>
                  <a:schemeClr val="dk1"/>
                </a:solidFill>
                <a:latin typeface="Tahoma"/>
                <a:ea typeface="Tahoma"/>
                <a:cs typeface="Tahoma"/>
                <a:sym typeface="Tahoma"/>
              </a:rPr>
              <a:t>1.1 Greed</a:t>
            </a:r>
            <a:endParaRPr/>
          </a:p>
        </p:txBody>
      </p:sp>
      <p:sp>
        <p:nvSpPr>
          <p:cNvPr id="216" name="Google Shape;216;p8"/>
          <p:cNvSpPr/>
          <p:nvPr/>
        </p:nvSpPr>
        <p:spPr>
          <a:xfrm>
            <a:off x="2266950" y="5707062"/>
            <a:ext cx="1184275" cy="384175"/>
          </a:xfrm>
          <a:prstGeom prst="roundRect">
            <a:avLst>
              <a:gd fmla="val 16667" name="adj"/>
            </a:avLst>
          </a:prstGeom>
          <a:solidFill>
            <a:schemeClr val="accent1"/>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Tahoma"/>
              <a:buNone/>
            </a:pPr>
            <a:r>
              <a:rPr b="0" i="0" lang="en-US" sz="1600" u="none" cap="none" strike="noStrike">
                <a:solidFill>
                  <a:schemeClr val="dk1"/>
                </a:solidFill>
                <a:latin typeface="Tahoma"/>
                <a:ea typeface="Tahoma"/>
                <a:cs typeface="Tahoma"/>
                <a:sym typeface="Tahoma"/>
              </a:rPr>
              <a:t>1.2 Avidity</a:t>
            </a:r>
            <a:endParaRPr/>
          </a:p>
        </p:txBody>
      </p:sp>
      <p:cxnSp>
        <p:nvCxnSpPr>
          <p:cNvPr id="217" name="Google Shape;217;p8"/>
          <p:cNvCxnSpPr/>
          <p:nvPr/>
        </p:nvCxnSpPr>
        <p:spPr>
          <a:xfrm flipH="1">
            <a:off x="2054225" y="4279900"/>
            <a:ext cx="2840037" cy="511175"/>
          </a:xfrm>
          <a:prstGeom prst="straightConnector1">
            <a:avLst/>
          </a:prstGeom>
          <a:noFill/>
          <a:ln cap="flat" cmpd="sng" w="19050">
            <a:solidFill>
              <a:schemeClr val="dk1"/>
            </a:solidFill>
            <a:prstDash val="solid"/>
            <a:miter lim="800000"/>
            <a:headEnd len="med" w="med" type="none"/>
            <a:tailEnd len="med" w="med" type="none"/>
          </a:ln>
        </p:spPr>
      </p:cxnSp>
      <p:cxnSp>
        <p:nvCxnSpPr>
          <p:cNvPr id="218" name="Google Shape;218;p8"/>
          <p:cNvCxnSpPr/>
          <p:nvPr/>
        </p:nvCxnSpPr>
        <p:spPr>
          <a:xfrm>
            <a:off x="4894262" y="4279900"/>
            <a:ext cx="1092200" cy="511175"/>
          </a:xfrm>
          <a:prstGeom prst="straightConnector1">
            <a:avLst/>
          </a:prstGeom>
          <a:noFill/>
          <a:ln cap="flat" cmpd="sng" w="19050">
            <a:solidFill>
              <a:schemeClr val="dk1"/>
            </a:solidFill>
            <a:prstDash val="solid"/>
            <a:miter lim="800000"/>
            <a:headEnd len="med" w="med" type="none"/>
            <a:tailEnd len="med" w="med" type="none"/>
          </a:ln>
        </p:spPr>
      </p:cxnSp>
      <p:cxnSp>
        <p:nvCxnSpPr>
          <p:cNvPr id="219" name="Google Shape;219;p8"/>
          <p:cNvCxnSpPr/>
          <p:nvPr/>
        </p:nvCxnSpPr>
        <p:spPr>
          <a:xfrm>
            <a:off x="4894262" y="4279900"/>
            <a:ext cx="3262312" cy="511175"/>
          </a:xfrm>
          <a:prstGeom prst="straightConnector1">
            <a:avLst/>
          </a:prstGeom>
          <a:noFill/>
          <a:ln cap="flat" cmpd="sng" w="19050">
            <a:solidFill>
              <a:schemeClr val="dk1"/>
            </a:solidFill>
            <a:prstDash val="solid"/>
            <a:miter lim="800000"/>
            <a:headEnd len="med" w="med" type="none"/>
            <a:tailEnd len="med" w="med" type="none"/>
          </a:ln>
        </p:spPr>
      </p:cxnSp>
      <p:cxnSp>
        <p:nvCxnSpPr>
          <p:cNvPr id="220" name="Google Shape;220;p8"/>
          <p:cNvCxnSpPr/>
          <p:nvPr/>
        </p:nvCxnSpPr>
        <p:spPr>
          <a:xfrm>
            <a:off x="5986462" y="5194300"/>
            <a:ext cx="4762" cy="368300"/>
          </a:xfrm>
          <a:prstGeom prst="straightConnector1">
            <a:avLst/>
          </a:prstGeom>
          <a:noFill/>
          <a:ln cap="flat" cmpd="sng" w="19050">
            <a:solidFill>
              <a:schemeClr val="dk1"/>
            </a:solidFill>
            <a:prstDash val="solid"/>
            <a:miter lim="800000"/>
            <a:headEnd len="med" w="med" type="none"/>
            <a:tailEnd len="med" w="med" type="none"/>
          </a:ln>
        </p:spPr>
      </p:cxnSp>
      <p:cxnSp>
        <p:nvCxnSpPr>
          <p:cNvPr id="221" name="Google Shape;221;p8"/>
          <p:cNvCxnSpPr/>
          <p:nvPr/>
        </p:nvCxnSpPr>
        <p:spPr>
          <a:xfrm flipH="1">
            <a:off x="4432300" y="5194300"/>
            <a:ext cx="1554162" cy="368300"/>
          </a:xfrm>
          <a:prstGeom prst="straightConnector1">
            <a:avLst/>
          </a:prstGeom>
          <a:noFill/>
          <a:ln cap="flat" cmpd="sng" w="19050">
            <a:solidFill>
              <a:schemeClr val="dk1"/>
            </a:solidFill>
            <a:prstDash val="solid"/>
            <a:miter lim="800000"/>
            <a:headEnd len="med" w="med" type="none"/>
            <a:tailEnd len="med" w="med" type="none"/>
          </a:ln>
        </p:spPr>
      </p:cxnSp>
      <p:cxnSp>
        <p:nvCxnSpPr>
          <p:cNvPr id="222" name="Google Shape;222;p8"/>
          <p:cNvCxnSpPr/>
          <p:nvPr/>
        </p:nvCxnSpPr>
        <p:spPr>
          <a:xfrm>
            <a:off x="2054225" y="5194300"/>
            <a:ext cx="804862" cy="503237"/>
          </a:xfrm>
          <a:prstGeom prst="straightConnector1">
            <a:avLst/>
          </a:prstGeom>
          <a:noFill/>
          <a:ln cap="flat" cmpd="sng" w="19050">
            <a:solidFill>
              <a:schemeClr val="dk1"/>
            </a:solidFill>
            <a:prstDash val="solid"/>
            <a:miter lim="800000"/>
            <a:headEnd len="med" w="med" type="none"/>
            <a:tailEnd len="med" w="med" type="none"/>
          </a:ln>
        </p:spPr>
      </p:cxnSp>
      <p:cxnSp>
        <p:nvCxnSpPr>
          <p:cNvPr id="223" name="Google Shape;223;p8"/>
          <p:cNvCxnSpPr/>
          <p:nvPr/>
        </p:nvCxnSpPr>
        <p:spPr>
          <a:xfrm flipH="1">
            <a:off x="1322387" y="5194300"/>
            <a:ext cx="731837" cy="503237"/>
          </a:xfrm>
          <a:prstGeom prst="straightConnector1">
            <a:avLst/>
          </a:prstGeom>
          <a:noFill/>
          <a:ln cap="flat" cmpd="sng" w="19050">
            <a:solidFill>
              <a:schemeClr val="dk1"/>
            </a:solidFill>
            <a:prstDash val="solid"/>
            <a:miter lim="800000"/>
            <a:headEnd len="med" w="med" type="none"/>
            <a:tailEnd len="med" w="med" type="none"/>
          </a:ln>
        </p:spPr>
      </p:cxnSp>
      <p:sp>
        <p:nvSpPr>
          <p:cNvPr id="224" name="Google Shape;224;p8"/>
          <p:cNvSpPr/>
          <p:nvPr/>
        </p:nvSpPr>
        <p:spPr>
          <a:xfrm>
            <a:off x="6838950" y="5570537"/>
            <a:ext cx="1044575" cy="654050"/>
          </a:xfrm>
          <a:prstGeom prst="roundRect">
            <a:avLst>
              <a:gd fmla="val 16667" name="adj"/>
            </a:avLst>
          </a:prstGeom>
          <a:solidFill>
            <a:schemeClr val="accent1"/>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Tahoma"/>
              <a:buNone/>
            </a:pPr>
            <a:r>
              <a:rPr b="0" i="0" lang="en-US" sz="1600" u="none" cap="none" strike="noStrike">
                <a:solidFill>
                  <a:schemeClr val="dk1"/>
                </a:solidFill>
                <a:latin typeface="Tahoma"/>
                <a:ea typeface="Tahoma"/>
                <a:cs typeface="Tahoma"/>
                <a:sym typeface="Tahoma"/>
              </a:rPr>
              <a:t>2.3 Bank</a:t>
            </a:r>
            <a:br>
              <a:rPr b="0" i="0" lang="en-US" sz="1600" u="none" cap="none" strike="noStrike">
                <a:solidFill>
                  <a:schemeClr val="dk1"/>
                </a:solidFill>
                <a:latin typeface="Tahoma"/>
                <a:ea typeface="Tahoma"/>
                <a:cs typeface="Tahoma"/>
                <a:sym typeface="Tahoma"/>
              </a:rPr>
            </a:br>
            <a:r>
              <a:rPr b="0" i="0" lang="en-US" sz="1600" u="none" cap="none" strike="noStrike">
                <a:solidFill>
                  <a:schemeClr val="dk1"/>
                </a:solidFill>
                <a:latin typeface="Tahoma"/>
                <a:ea typeface="Tahoma"/>
                <a:cs typeface="Tahoma"/>
                <a:sym typeface="Tahoma"/>
              </a:rPr>
              <a:t>Robbery</a:t>
            </a:r>
            <a:endParaRPr/>
          </a:p>
        </p:txBody>
      </p:sp>
      <p:cxnSp>
        <p:nvCxnSpPr>
          <p:cNvPr id="225" name="Google Shape;225;p8"/>
          <p:cNvCxnSpPr/>
          <p:nvPr/>
        </p:nvCxnSpPr>
        <p:spPr>
          <a:xfrm>
            <a:off x="5986462" y="5194300"/>
            <a:ext cx="1374775" cy="366712"/>
          </a:xfrm>
          <a:prstGeom prst="straightConnector1">
            <a:avLst/>
          </a:prstGeom>
          <a:noFill/>
          <a:ln cap="flat" cmpd="sng" w="19050">
            <a:solidFill>
              <a:schemeClr val="dk1"/>
            </a:solidFill>
            <a:prstDash val="solid"/>
            <a:miter lim="800000"/>
            <a:headEnd len="med" w="med" type="none"/>
            <a:tailEnd len="med" w="med" type="none"/>
          </a:ln>
        </p:spPr>
      </p:cxnSp>
      <p:sp>
        <p:nvSpPr>
          <p:cNvPr id="226" name="Google Shape;226;p8"/>
          <p:cNvSpPr txBox="1"/>
          <p:nvPr/>
        </p:nvSpPr>
        <p:spPr>
          <a:xfrm>
            <a:off x="3581400" y="3657600"/>
            <a:ext cx="322262"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2"/>
              </a:buClr>
              <a:buSzPts val="2000"/>
              <a:buFont typeface="Tahoma"/>
              <a:buNone/>
            </a:pPr>
            <a:r>
              <a:rPr b="0" i="0" lang="en-US" sz="2000" u="none" cap="none" strike="noStrike">
                <a:solidFill>
                  <a:schemeClr val="dk2"/>
                </a:solidFill>
                <a:latin typeface="Tahoma"/>
                <a:ea typeface="Tahoma"/>
                <a:cs typeface="Tahoma"/>
                <a:sym typeface="Tahoma"/>
              </a:rPr>
              <a:t>1</a:t>
            </a:r>
            <a:endParaRPr/>
          </a:p>
        </p:txBody>
      </p:sp>
      <p:sp>
        <p:nvSpPr>
          <p:cNvPr id="227" name="Google Shape;227;p8"/>
          <p:cNvSpPr txBox="1"/>
          <p:nvPr/>
        </p:nvSpPr>
        <p:spPr>
          <a:xfrm>
            <a:off x="1858962" y="4470400"/>
            <a:ext cx="322262"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2"/>
              </a:buClr>
              <a:buSzPts val="2000"/>
              <a:buFont typeface="Tahoma"/>
              <a:buNone/>
            </a:pPr>
            <a:r>
              <a:rPr b="0" i="0" lang="en-US" sz="2000" u="none" cap="none" strike="noStrike">
                <a:solidFill>
                  <a:schemeClr val="dk2"/>
                </a:solidFill>
                <a:latin typeface="Tahoma"/>
                <a:ea typeface="Tahoma"/>
                <a:cs typeface="Tahoma"/>
                <a:sym typeface="Tahoma"/>
              </a:rPr>
              <a:t>2</a:t>
            </a:r>
            <a:endParaRPr/>
          </a:p>
        </p:txBody>
      </p:sp>
      <p:sp>
        <p:nvSpPr>
          <p:cNvPr id="228" name="Google Shape;228;p8"/>
          <p:cNvSpPr txBox="1"/>
          <p:nvPr/>
        </p:nvSpPr>
        <p:spPr>
          <a:xfrm>
            <a:off x="1125537" y="5346700"/>
            <a:ext cx="322262"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2"/>
              </a:buClr>
              <a:buSzPts val="2000"/>
              <a:buFont typeface="Tahoma"/>
              <a:buNone/>
            </a:pPr>
            <a:r>
              <a:rPr b="0" i="0" lang="en-US" sz="2000" u="none" cap="none" strike="noStrike">
                <a:solidFill>
                  <a:schemeClr val="dk2"/>
                </a:solidFill>
                <a:latin typeface="Tahoma"/>
                <a:ea typeface="Tahoma"/>
                <a:cs typeface="Tahoma"/>
                <a:sym typeface="Tahoma"/>
              </a:rPr>
              <a:t>3</a:t>
            </a:r>
            <a:endParaRPr/>
          </a:p>
        </p:txBody>
      </p:sp>
      <p:sp>
        <p:nvSpPr>
          <p:cNvPr id="229" name="Google Shape;229;p8"/>
          <p:cNvSpPr txBox="1"/>
          <p:nvPr/>
        </p:nvSpPr>
        <p:spPr>
          <a:xfrm>
            <a:off x="5135562" y="4470400"/>
            <a:ext cx="322262"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2"/>
              </a:buClr>
              <a:buSzPts val="2000"/>
              <a:buFont typeface="Tahoma"/>
              <a:buNone/>
            </a:pPr>
            <a:r>
              <a:rPr b="0" i="0" lang="en-US" sz="2000" u="none" cap="none" strike="noStrike">
                <a:solidFill>
                  <a:schemeClr val="dk2"/>
                </a:solidFill>
                <a:latin typeface="Tahoma"/>
                <a:ea typeface="Tahoma"/>
                <a:cs typeface="Tahoma"/>
                <a:sym typeface="Tahoma"/>
              </a:rPr>
              <a:t>5</a:t>
            </a:r>
            <a:endParaRPr/>
          </a:p>
        </p:txBody>
      </p:sp>
      <p:sp>
        <p:nvSpPr>
          <p:cNvPr id="230" name="Google Shape;230;p8"/>
          <p:cNvSpPr txBox="1"/>
          <p:nvPr/>
        </p:nvSpPr>
        <p:spPr>
          <a:xfrm>
            <a:off x="2725737" y="5346700"/>
            <a:ext cx="322262"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2"/>
              </a:buClr>
              <a:buSzPts val="2000"/>
              <a:buFont typeface="Tahoma"/>
              <a:buNone/>
            </a:pPr>
            <a:r>
              <a:rPr b="0" i="0" lang="en-US" sz="2000" u="none" cap="none" strike="noStrike">
                <a:solidFill>
                  <a:schemeClr val="dk2"/>
                </a:solidFill>
                <a:latin typeface="Tahoma"/>
                <a:ea typeface="Tahoma"/>
                <a:cs typeface="Tahoma"/>
                <a:sym typeface="Tahoma"/>
              </a:rPr>
              <a:t>4</a:t>
            </a:r>
            <a:endParaRPr/>
          </a:p>
        </p:txBody>
      </p:sp>
      <p:sp>
        <p:nvSpPr>
          <p:cNvPr id="231" name="Google Shape;231;p8"/>
          <p:cNvSpPr txBox="1"/>
          <p:nvPr/>
        </p:nvSpPr>
        <p:spPr>
          <a:xfrm>
            <a:off x="4030662" y="5213350"/>
            <a:ext cx="322262"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2"/>
              </a:buClr>
              <a:buSzPts val="2000"/>
              <a:buFont typeface="Tahoma"/>
              <a:buNone/>
            </a:pPr>
            <a:r>
              <a:rPr b="0" i="0" lang="en-US" sz="2000" u="none" cap="none" strike="noStrike">
                <a:solidFill>
                  <a:schemeClr val="dk2"/>
                </a:solidFill>
                <a:latin typeface="Tahoma"/>
                <a:ea typeface="Tahoma"/>
                <a:cs typeface="Tahoma"/>
                <a:sym typeface="Tahoma"/>
              </a:rPr>
              <a:t>6</a:t>
            </a:r>
            <a:endParaRPr/>
          </a:p>
        </p:txBody>
      </p:sp>
      <p:sp>
        <p:nvSpPr>
          <p:cNvPr id="232" name="Google Shape;232;p8"/>
          <p:cNvSpPr txBox="1"/>
          <p:nvPr/>
        </p:nvSpPr>
        <p:spPr>
          <a:xfrm>
            <a:off x="5630862" y="5213350"/>
            <a:ext cx="322262"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2"/>
              </a:buClr>
              <a:buSzPts val="2000"/>
              <a:buFont typeface="Tahoma"/>
              <a:buNone/>
            </a:pPr>
            <a:r>
              <a:rPr b="0" i="0" lang="en-US" sz="2000" u="none" cap="none" strike="noStrike">
                <a:solidFill>
                  <a:schemeClr val="dk2"/>
                </a:solidFill>
                <a:latin typeface="Tahoma"/>
                <a:ea typeface="Tahoma"/>
                <a:cs typeface="Tahoma"/>
                <a:sym typeface="Tahoma"/>
              </a:rPr>
              <a:t>7</a:t>
            </a:r>
            <a:endParaRPr/>
          </a:p>
        </p:txBody>
      </p:sp>
      <p:sp>
        <p:nvSpPr>
          <p:cNvPr id="233" name="Google Shape;233;p8"/>
          <p:cNvSpPr txBox="1"/>
          <p:nvPr/>
        </p:nvSpPr>
        <p:spPr>
          <a:xfrm>
            <a:off x="7231062" y="5213350"/>
            <a:ext cx="322262"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2"/>
              </a:buClr>
              <a:buSzPts val="2000"/>
              <a:buFont typeface="Tahoma"/>
              <a:buNone/>
            </a:pPr>
            <a:r>
              <a:rPr b="0" i="0" lang="en-US" sz="2000" u="none" cap="none" strike="noStrike">
                <a:solidFill>
                  <a:schemeClr val="dk2"/>
                </a:solidFill>
                <a:latin typeface="Tahoma"/>
                <a:ea typeface="Tahoma"/>
                <a:cs typeface="Tahoma"/>
                <a:sym typeface="Tahoma"/>
              </a:rPr>
              <a:t>8</a:t>
            </a:r>
            <a:endParaRPr/>
          </a:p>
        </p:txBody>
      </p:sp>
      <p:sp>
        <p:nvSpPr>
          <p:cNvPr id="234" name="Google Shape;234;p8"/>
          <p:cNvSpPr txBox="1"/>
          <p:nvPr/>
        </p:nvSpPr>
        <p:spPr>
          <a:xfrm>
            <a:off x="8031162" y="4470400"/>
            <a:ext cx="322262"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2"/>
              </a:buClr>
              <a:buSzPts val="2000"/>
              <a:buFont typeface="Tahoma"/>
              <a:buNone/>
            </a:pPr>
            <a:r>
              <a:rPr b="0" i="0" lang="en-US" sz="2000" u="none" cap="none" strike="noStrike">
                <a:solidFill>
                  <a:schemeClr val="dk2"/>
                </a:solidFill>
                <a:latin typeface="Tahoma"/>
                <a:ea typeface="Tahoma"/>
                <a:cs typeface="Tahoma"/>
                <a:sym typeface="Tahoma"/>
              </a:rPr>
              <a:t>9</a:t>
            </a:r>
            <a:endParaRPr/>
          </a:p>
        </p:txBody>
      </p:sp>
      <p:sp>
        <p:nvSpPr>
          <p:cNvPr id="235" name="Google Shape;235;p8"/>
          <p:cNvSpPr txBox="1"/>
          <p:nvPr/>
        </p:nvSpPr>
        <p:spPr>
          <a:xfrm>
            <a:off x="5181600" y="1676400"/>
            <a:ext cx="3352800" cy="1635125"/>
          </a:xfrm>
          <a:prstGeom prst="rect">
            <a:avLst/>
          </a:prstGeom>
          <a:no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2400"/>
              <a:buFont typeface="Times New Roman"/>
              <a:buNone/>
            </a:pPr>
            <a:r>
              <a:rPr b="1" i="0" lang="en-US" sz="2400" u="none" cap="none" strike="noStrike">
                <a:solidFill>
                  <a:srgbClr val="000000"/>
                </a:solidFill>
                <a:latin typeface="Times New Roman"/>
                <a:ea typeface="Times New Roman"/>
                <a:cs typeface="Times New Roman"/>
                <a:sym typeface="Times New Roman"/>
              </a:rPr>
              <a:t>Algorithm</a:t>
            </a:r>
            <a:r>
              <a:rPr b="0" i="0" lang="en-US" sz="2400" u="none" cap="none" strike="noStrike">
                <a:solidFill>
                  <a:schemeClr val="dk1"/>
                </a:solidFill>
                <a:latin typeface="Times New Roman"/>
                <a:ea typeface="Times New Roman"/>
                <a:cs typeface="Times New Roman"/>
                <a:sym typeface="Times New Roman"/>
              </a:rPr>
              <a:t> </a:t>
            </a:r>
            <a:r>
              <a:rPr b="1" i="1" lang="en-US" sz="2400" u="none" cap="none" strike="noStrike">
                <a:solidFill>
                  <a:schemeClr val="dk2"/>
                </a:solidFill>
                <a:latin typeface="Times New Roman"/>
                <a:ea typeface="Times New Roman"/>
                <a:cs typeface="Times New Roman"/>
                <a:sym typeface="Times New Roman"/>
              </a:rPr>
              <a:t>preOrder</a:t>
            </a:r>
            <a:r>
              <a:rPr b="0" i="0" lang="en-US" sz="2400" u="none" cap="none" strike="noStrike">
                <a:solidFill>
                  <a:schemeClr val="dk2"/>
                </a:solidFill>
                <a:latin typeface="Times New Roman"/>
                <a:ea typeface="Times New Roman"/>
                <a:cs typeface="Times New Roman"/>
                <a:sym typeface="Times New Roman"/>
              </a:rPr>
              <a:t>(</a:t>
            </a:r>
            <a:r>
              <a:rPr b="1" i="1" lang="en-US" sz="2400" u="none" cap="none" strike="noStrike">
                <a:solidFill>
                  <a:schemeClr val="dk2"/>
                </a:solidFill>
                <a:latin typeface="Times New Roman"/>
                <a:ea typeface="Times New Roman"/>
                <a:cs typeface="Times New Roman"/>
                <a:sym typeface="Times New Roman"/>
              </a:rPr>
              <a:t>v</a:t>
            </a:r>
            <a:r>
              <a:rPr b="0" i="0" lang="en-US" sz="2400" u="none" cap="none" strike="noStrike">
                <a:solidFill>
                  <a:schemeClr val="dk2"/>
                </a:solidFill>
                <a:latin typeface="Times New Roman"/>
                <a:ea typeface="Times New Roman"/>
                <a:cs typeface="Times New Roman"/>
                <a:sym typeface="Times New Roman"/>
              </a:rPr>
              <a:t>)</a:t>
            </a:r>
            <a:endParaRPr b="0" i="0" sz="2400" u="none" cap="none" strike="noStrike">
              <a:solidFill>
                <a:schemeClr val="dk1"/>
              </a:solidFill>
              <a:latin typeface="Times New Roman"/>
              <a:ea typeface="Times New Roman"/>
              <a:cs typeface="Times New Roman"/>
              <a:sym typeface="Times New Roman"/>
            </a:endParaRPr>
          </a:p>
          <a:p>
            <a:pPr indent="0" lvl="1" marL="457200" marR="0" rtl="0" algn="l">
              <a:lnSpc>
                <a:spcPct val="90000"/>
              </a:lnSpc>
              <a:spcBef>
                <a:spcPts val="480"/>
              </a:spcBef>
              <a:spcAft>
                <a:spcPts val="0"/>
              </a:spcAft>
              <a:buClr>
                <a:schemeClr val="accent2"/>
              </a:buClr>
              <a:buSzPts val="2400"/>
              <a:buFont typeface="Times New Roman"/>
              <a:buNone/>
            </a:pPr>
            <a:r>
              <a:rPr b="1" i="1" lang="en-US" sz="2400" u="none" cap="none" strike="noStrike">
                <a:solidFill>
                  <a:schemeClr val="accent2"/>
                </a:solidFill>
                <a:latin typeface="Times New Roman"/>
                <a:ea typeface="Times New Roman"/>
                <a:cs typeface="Times New Roman"/>
                <a:sym typeface="Times New Roman"/>
              </a:rPr>
              <a:t>visit</a:t>
            </a:r>
            <a:r>
              <a:rPr b="0" i="0" lang="en-US" sz="2400" u="none" cap="none" strike="noStrike">
                <a:solidFill>
                  <a:schemeClr val="accent2"/>
                </a:solidFill>
                <a:latin typeface="Times New Roman"/>
                <a:ea typeface="Times New Roman"/>
                <a:cs typeface="Times New Roman"/>
                <a:sym typeface="Times New Roman"/>
              </a:rPr>
              <a:t>(</a:t>
            </a:r>
            <a:r>
              <a:rPr b="1" i="1" lang="en-US" sz="2400" u="none" cap="none" strike="noStrike">
                <a:solidFill>
                  <a:schemeClr val="accent2"/>
                </a:solidFill>
                <a:latin typeface="Times New Roman"/>
                <a:ea typeface="Times New Roman"/>
                <a:cs typeface="Times New Roman"/>
                <a:sym typeface="Times New Roman"/>
              </a:rPr>
              <a:t>v</a:t>
            </a:r>
            <a:r>
              <a:rPr b="0" i="0" lang="en-US" sz="2400" u="none" cap="none" strike="noStrike">
                <a:solidFill>
                  <a:schemeClr val="accent2"/>
                </a:solidFill>
                <a:latin typeface="Times New Roman"/>
                <a:ea typeface="Times New Roman"/>
                <a:cs typeface="Times New Roman"/>
                <a:sym typeface="Times New Roman"/>
              </a:rPr>
              <a:t>)</a:t>
            </a:r>
            <a:endParaRPr b="1" i="1" sz="2400" u="none" cap="none" strike="noStrike">
              <a:solidFill>
                <a:schemeClr val="accent2"/>
              </a:solidFill>
              <a:latin typeface="Times New Roman"/>
              <a:ea typeface="Times New Roman"/>
              <a:cs typeface="Times New Roman"/>
              <a:sym typeface="Times New Roman"/>
            </a:endParaRPr>
          </a:p>
          <a:p>
            <a:pPr indent="0" lvl="1" marL="457200" marR="0" rtl="0" algn="l">
              <a:lnSpc>
                <a:spcPct val="90000"/>
              </a:lnSpc>
              <a:spcBef>
                <a:spcPts val="480"/>
              </a:spcBef>
              <a:spcAft>
                <a:spcPts val="0"/>
              </a:spcAft>
              <a:buClr>
                <a:srgbClr val="000000"/>
              </a:buClr>
              <a:buSzPts val="2400"/>
              <a:buFont typeface="Times New Roman"/>
              <a:buNone/>
            </a:pPr>
            <a:r>
              <a:rPr b="1" i="0" lang="en-US" sz="2400" u="none" cap="none" strike="noStrike">
                <a:solidFill>
                  <a:srgbClr val="000000"/>
                </a:solidFill>
                <a:latin typeface="Times New Roman"/>
                <a:ea typeface="Times New Roman"/>
                <a:cs typeface="Times New Roman"/>
                <a:sym typeface="Times New Roman"/>
              </a:rPr>
              <a:t>for</a:t>
            </a:r>
            <a:r>
              <a:rPr b="0" i="0" lang="en-US" sz="2400" u="none" cap="none" strike="noStrike">
                <a:solidFill>
                  <a:srgbClr val="000000"/>
                </a:solidFill>
                <a:latin typeface="Times New Roman"/>
                <a:ea typeface="Times New Roman"/>
                <a:cs typeface="Times New Roman"/>
                <a:sym typeface="Times New Roman"/>
              </a:rPr>
              <a:t> </a:t>
            </a:r>
            <a:r>
              <a:rPr b="1" i="0" lang="en-US" sz="2400" u="none" cap="none" strike="noStrike">
                <a:solidFill>
                  <a:srgbClr val="000000"/>
                </a:solidFill>
                <a:latin typeface="Times New Roman"/>
                <a:ea typeface="Times New Roman"/>
                <a:cs typeface="Times New Roman"/>
                <a:sym typeface="Times New Roman"/>
              </a:rPr>
              <a:t>each</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accent2"/>
                </a:solidFill>
                <a:latin typeface="Times New Roman"/>
                <a:ea typeface="Times New Roman"/>
                <a:cs typeface="Times New Roman"/>
                <a:sym typeface="Times New Roman"/>
              </a:rPr>
              <a:t>child </a:t>
            </a:r>
            <a:r>
              <a:rPr b="1" i="1" lang="en-US" sz="2400" u="none" cap="none" strike="noStrike">
                <a:solidFill>
                  <a:schemeClr val="accent2"/>
                </a:solidFill>
                <a:latin typeface="Times New Roman"/>
                <a:ea typeface="Times New Roman"/>
                <a:cs typeface="Times New Roman"/>
                <a:sym typeface="Times New Roman"/>
              </a:rPr>
              <a:t>w</a:t>
            </a:r>
            <a:r>
              <a:rPr b="0" i="0" lang="en-US" sz="2400" u="none" cap="none" strike="noStrike">
                <a:solidFill>
                  <a:schemeClr val="accent2"/>
                </a:solidFill>
                <a:latin typeface="Times New Roman"/>
                <a:ea typeface="Times New Roman"/>
                <a:cs typeface="Times New Roman"/>
                <a:sym typeface="Times New Roman"/>
              </a:rPr>
              <a:t> of </a:t>
            </a:r>
            <a:r>
              <a:rPr b="1" i="1" lang="en-US" sz="2400" u="none" cap="none" strike="noStrike">
                <a:solidFill>
                  <a:schemeClr val="accent2"/>
                </a:solidFill>
                <a:latin typeface="Times New Roman"/>
                <a:ea typeface="Times New Roman"/>
                <a:cs typeface="Times New Roman"/>
                <a:sym typeface="Times New Roman"/>
              </a:rPr>
              <a:t>v</a:t>
            </a:r>
            <a:endParaRPr/>
          </a:p>
          <a:p>
            <a:pPr indent="0" lvl="1" marL="457200" marR="0" rtl="0" algn="l">
              <a:lnSpc>
                <a:spcPct val="90000"/>
              </a:lnSpc>
              <a:spcBef>
                <a:spcPts val="480"/>
              </a:spcBef>
              <a:spcAft>
                <a:spcPts val="0"/>
              </a:spcAft>
              <a:buClr>
                <a:schemeClr val="accent2"/>
              </a:buClr>
              <a:buSzPts val="2400"/>
              <a:buFont typeface="Times New Roman"/>
              <a:buNone/>
            </a:pPr>
            <a:r>
              <a:rPr b="1" i="1" lang="en-US" sz="2400" u="none" cap="none" strike="noStrike">
                <a:solidFill>
                  <a:schemeClr val="accent2"/>
                </a:solidFill>
                <a:latin typeface="Times New Roman"/>
                <a:ea typeface="Times New Roman"/>
                <a:cs typeface="Times New Roman"/>
                <a:sym typeface="Times New Roman"/>
              </a:rPr>
              <a:t>	preorder</a:t>
            </a:r>
            <a:r>
              <a:rPr b="0" i="0" lang="en-US" sz="2400" u="none" cap="none" strike="noStrike">
                <a:solidFill>
                  <a:schemeClr val="accent2"/>
                </a:solidFill>
                <a:latin typeface="Times New Roman"/>
                <a:ea typeface="Times New Roman"/>
                <a:cs typeface="Times New Roman"/>
                <a:sym typeface="Times New Roman"/>
              </a:rPr>
              <a:t> (</a:t>
            </a:r>
            <a:r>
              <a:rPr b="1" i="1" lang="en-US" sz="2400" u="none" cap="none" strike="noStrike">
                <a:solidFill>
                  <a:schemeClr val="accent2"/>
                </a:solidFill>
                <a:latin typeface="Times New Roman"/>
                <a:ea typeface="Times New Roman"/>
                <a:cs typeface="Times New Roman"/>
                <a:sym typeface="Times New Roman"/>
              </a:rPr>
              <a:t>w</a:t>
            </a:r>
            <a:r>
              <a:rPr b="0" i="0" lang="en-US" sz="2400" u="none" cap="none" strike="noStrike">
                <a:solidFill>
                  <a:schemeClr val="accent2"/>
                </a:solidFill>
                <a:latin typeface="Times New Roman"/>
                <a:ea typeface="Times New Roman"/>
                <a:cs typeface="Times New Roman"/>
                <a:sym typeface="Times New Roman"/>
              </a:rPr>
              <a:t>)</a:t>
            </a:r>
            <a:endParaRPr/>
          </a:p>
        </p:txBody>
      </p:sp>
      <p:sp>
        <p:nvSpPr>
          <p:cNvPr id="236" name="Google Shape;236;p8"/>
          <p:cNvSpPr txBox="1"/>
          <p:nvPr/>
        </p:nvSpPr>
        <p:spPr>
          <a:xfrm>
            <a:off x="0" y="319087"/>
            <a:ext cx="9144000" cy="519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2800"/>
              <a:buFont typeface="Arial"/>
              <a:buNone/>
            </a:pPr>
            <a:r>
              <a:rPr b="1" i="0" lang="en-US" sz="2800" u="none" cap="none" strike="noStrike">
                <a:solidFill>
                  <a:schemeClr val="dk2"/>
                </a:solidFill>
                <a:latin typeface="Arial"/>
                <a:ea typeface="Arial"/>
                <a:cs typeface="Arial"/>
                <a:sym typeface="Arial"/>
              </a:rPr>
              <a:t>Preorder and Postorder Traversals of General Trees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0" name="Shape 240"/>
        <p:cNvGrpSpPr/>
        <p:nvPr/>
      </p:nvGrpSpPr>
      <p:grpSpPr>
        <a:xfrm>
          <a:off x="0" y="0"/>
          <a:ext cx="0" cy="0"/>
          <a:chOff x="0" y="0"/>
          <a:chExt cx="0" cy="0"/>
        </a:xfrm>
      </p:grpSpPr>
      <p:sp>
        <p:nvSpPr>
          <p:cNvPr id="241" name="Google Shape;241;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None/>
            </a:pPr>
            <a:fld id="{00000000-1234-1234-1234-123412341234}" type="slidenum">
              <a:rPr lang="en-US"/>
              <a:t>‹#›</a:t>
            </a:fld>
            <a:endParaRPr/>
          </a:p>
        </p:txBody>
      </p:sp>
      <p:sp>
        <p:nvSpPr>
          <p:cNvPr id="242" name="Google Shape;242;p9"/>
          <p:cNvSpPr txBox="1"/>
          <p:nvPr/>
        </p:nvSpPr>
        <p:spPr>
          <a:xfrm>
            <a:off x="2895600" y="6356350"/>
            <a:ext cx="3352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Data Structures and Algorithms in Java </a:t>
            </a:r>
            <a:endParaRPr/>
          </a:p>
        </p:txBody>
      </p:sp>
      <p:sp>
        <p:nvSpPr>
          <p:cNvPr id="243" name="Google Shape;243;p9"/>
          <p:cNvSpPr txBox="1"/>
          <p:nvPr>
            <p:ph idx="4294967295" type="body"/>
          </p:nvPr>
        </p:nvSpPr>
        <p:spPr>
          <a:xfrm>
            <a:off x="838200" y="1600200"/>
            <a:ext cx="4038600" cy="21336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In a postorder traversal, a node is visited after its descendants</a:t>
            </a:r>
            <a:endParaRPr/>
          </a:p>
          <a:p>
            <a:pPr indent="-342900" lvl="0" marL="342900" marR="0" rtl="0" algn="l">
              <a:lnSpc>
                <a:spcPct val="100000"/>
              </a:lnSpc>
              <a:spcBef>
                <a:spcPts val="40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Application: compute space used by files in a directory and its subdirectories</a:t>
            </a:r>
            <a:endParaRPr/>
          </a:p>
        </p:txBody>
      </p:sp>
      <p:sp>
        <p:nvSpPr>
          <p:cNvPr id="244" name="Google Shape;244;p9"/>
          <p:cNvSpPr txBox="1"/>
          <p:nvPr/>
        </p:nvSpPr>
        <p:spPr>
          <a:xfrm>
            <a:off x="5181600" y="1676400"/>
            <a:ext cx="3352800" cy="1635125"/>
          </a:xfrm>
          <a:prstGeom prst="rect">
            <a:avLst/>
          </a:prstGeom>
          <a:no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2400"/>
              <a:buFont typeface="Times New Roman"/>
              <a:buNone/>
            </a:pPr>
            <a:r>
              <a:rPr b="1" i="0" lang="en-US" sz="2400" u="none" cap="none" strike="noStrike">
                <a:solidFill>
                  <a:srgbClr val="000000"/>
                </a:solidFill>
                <a:latin typeface="Times New Roman"/>
                <a:ea typeface="Times New Roman"/>
                <a:cs typeface="Times New Roman"/>
                <a:sym typeface="Times New Roman"/>
              </a:rPr>
              <a:t>Algorithm</a:t>
            </a:r>
            <a:r>
              <a:rPr b="0" i="0" lang="en-US" sz="2400" u="none" cap="none" strike="noStrike">
                <a:solidFill>
                  <a:schemeClr val="dk1"/>
                </a:solidFill>
                <a:latin typeface="Times New Roman"/>
                <a:ea typeface="Times New Roman"/>
                <a:cs typeface="Times New Roman"/>
                <a:sym typeface="Times New Roman"/>
              </a:rPr>
              <a:t> </a:t>
            </a:r>
            <a:r>
              <a:rPr b="1" i="1" lang="en-US" sz="2400" u="none" cap="none" strike="noStrike">
                <a:solidFill>
                  <a:schemeClr val="dk2"/>
                </a:solidFill>
                <a:latin typeface="Times New Roman"/>
                <a:ea typeface="Times New Roman"/>
                <a:cs typeface="Times New Roman"/>
                <a:sym typeface="Times New Roman"/>
              </a:rPr>
              <a:t>postOrder</a:t>
            </a:r>
            <a:r>
              <a:rPr b="0" i="0" lang="en-US" sz="2400" u="none" cap="none" strike="noStrike">
                <a:solidFill>
                  <a:schemeClr val="dk2"/>
                </a:solidFill>
                <a:latin typeface="Times New Roman"/>
                <a:ea typeface="Times New Roman"/>
                <a:cs typeface="Times New Roman"/>
                <a:sym typeface="Times New Roman"/>
              </a:rPr>
              <a:t>(</a:t>
            </a:r>
            <a:r>
              <a:rPr b="1" i="1" lang="en-US" sz="2400" u="none" cap="none" strike="noStrike">
                <a:solidFill>
                  <a:schemeClr val="dk2"/>
                </a:solidFill>
                <a:latin typeface="Times New Roman"/>
                <a:ea typeface="Times New Roman"/>
                <a:cs typeface="Times New Roman"/>
                <a:sym typeface="Times New Roman"/>
              </a:rPr>
              <a:t>v</a:t>
            </a:r>
            <a:r>
              <a:rPr b="0" i="0" lang="en-US" sz="2400" u="none" cap="none" strike="noStrike">
                <a:solidFill>
                  <a:schemeClr val="dk2"/>
                </a:solidFill>
                <a:latin typeface="Times New Roman"/>
                <a:ea typeface="Times New Roman"/>
                <a:cs typeface="Times New Roman"/>
                <a:sym typeface="Times New Roman"/>
              </a:rPr>
              <a:t>)</a:t>
            </a:r>
            <a:endParaRPr/>
          </a:p>
          <a:p>
            <a:pPr indent="0" lvl="1" marL="457200" marR="0" rtl="0" algn="l">
              <a:lnSpc>
                <a:spcPct val="90000"/>
              </a:lnSpc>
              <a:spcBef>
                <a:spcPts val="480"/>
              </a:spcBef>
              <a:spcAft>
                <a:spcPts val="0"/>
              </a:spcAft>
              <a:buClr>
                <a:srgbClr val="000000"/>
              </a:buClr>
              <a:buSzPts val="2400"/>
              <a:buFont typeface="Times New Roman"/>
              <a:buNone/>
            </a:pPr>
            <a:r>
              <a:rPr b="1" i="0" lang="en-US" sz="2400" u="none" cap="none" strike="noStrike">
                <a:solidFill>
                  <a:srgbClr val="000000"/>
                </a:solidFill>
                <a:latin typeface="Times New Roman"/>
                <a:ea typeface="Times New Roman"/>
                <a:cs typeface="Times New Roman"/>
                <a:sym typeface="Times New Roman"/>
              </a:rPr>
              <a:t>for</a:t>
            </a:r>
            <a:r>
              <a:rPr b="0" i="0" lang="en-US" sz="2400" u="none" cap="none" strike="noStrike">
                <a:solidFill>
                  <a:srgbClr val="000000"/>
                </a:solidFill>
                <a:latin typeface="Times New Roman"/>
                <a:ea typeface="Times New Roman"/>
                <a:cs typeface="Times New Roman"/>
                <a:sym typeface="Times New Roman"/>
              </a:rPr>
              <a:t> </a:t>
            </a:r>
            <a:r>
              <a:rPr b="1" i="0" lang="en-US" sz="2400" u="none" cap="none" strike="noStrike">
                <a:solidFill>
                  <a:srgbClr val="000000"/>
                </a:solidFill>
                <a:latin typeface="Times New Roman"/>
                <a:ea typeface="Times New Roman"/>
                <a:cs typeface="Times New Roman"/>
                <a:sym typeface="Times New Roman"/>
              </a:rPr>
              <a:t>each</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accent2"/>
                </a:solidFill>
                <a:latin typeface="Times New Roman"/>
                <a:ea typeface="Times New Roman"/>
                <a:cs typeface="Times New Roman"/>
                <a:sym typeface="Times New Roman"/>
              </a:rPr>
              <a:t>child </a:t>
            </a:r>
            <a:r>
              <a:rPr b="1" i="1" lang="en-US" sz="2400" u="none" cap="none" strike="noStrike">
                <a:solidFill>
                  <a:schemeClr val="accent2"/>
                </a:solidFill>
                <a:latin typeface="Times New Roman"/>
                <a:ea typeface="Times New Roman"/>
                <a:cs typeface="Times New Roman"/>
                <a:sym typeface="Times New Roman"/>
              </a:rPr>
              <a:t>w</a:t>
            </a:r>
            <a:r>
              <a:rPr b="0" i="0" lang="en-US" sz="2400" u="none" cap="none" strike="noStrike">
                <a:solidFill>
                  <a:schemeClr val="accent2"/>
                </a:solidFill>
                <a:latin typeface="Times New Roman"/>
                <a:ea typeface="Times New Roman"/>
                <a:cs typeface="Times New Roman"/>
                <a:sym typeface="Times New Roman"/>
              </a:rPr>
              <a:t> of </a:t>
            </a:r>
            <a:r>
              <a:rPr b="1" i="1" lang="en-US" sz="2400" u="none" cap="none" strike="noStrike">
                <a:solidFill>
                  <a:schemeClr val="accent2"/>
                </a:solidFill>
                <a:latin typeface="Times New Roman"/>
                <a:ea typeface="Times New Roman"/>
                <a:cs typeface="Times New Roman"/>
                <a:sym typeface="Times New Roman"/>
              </a:rPr>
              <a:t>v</a:t>
            </a:r>
            <a:endParaRPr/>
          </a:p>
          <a:p>
            <a:pPr indent="0" lvl="1" marL="457200" marR="0" rtl="0" algn="l">
              <a:lnSpc>
                <a:spcPct val="90000"/>
              </a:lnSpc>
              <a:spcBef>
                <a:spcPts val="480"/>
              </a:spcBef>
              <a:spcAft>
                <a:spcPts val="0"/>
              </a:spcAft>
              <a:buClr>
                <a:schemeClr val="accent2"/>
              </a:buClr>
              <a:buSzPts val="2400"/>
              <a:buFont typeface="Times New Roman"/>
              <a:buNone/>
            </a:pPr>
            <a:r>
              <a:rPr b="1" i="1" lang="en-US" sz="2400" u="none" cap="none" strike="noStrike">
                <a:solidFill>
                  <a:schemeClr val="accent2"/>
                </a:solidFill>
                <a:latin typeface="Times New Roman"/>
                <a:ea typeface="Times New Roman"/>
                <a:cs typeface="Times New Roman"/>
                <a:sym typeface="Times New Roman"/>
              </a:rPr>
              <a:t>	postOrder</a:t>
            </a:r>
            <a:r>
              <a:rPr b="0" i="0" lang="en-US" sz="2400" u="none" cap="none" strike="noStrike">
                <a:solidFill>
                  <a:schemeClr val="accent2"/>
                </a:solidFill>
                <a:latin typeface="Times New Roman"/>
                <a:ea typeface="Times New Roman"/>
                <a:cs typeface="Times New Roman"/>
                <a:sym typeface="Times New Roman"/>
              </a:rPr>
              <a:t> (</a:t>
            </a:r>
            <a:r>
              <a:rPr b="1" i="1" lang="en-US" sz="2400" u="none" cap="none" strike="noStrike">
                <a:solidFill>
                  <a:schemeClr val="accent2"/>
                </a:solidFill>
                <a:latin typeface="Times New Roman"/>
                <a:ea typeface="Times New Roman"/>
                <a:cs typeface="Times New Roman"/>
                <a:sym typeface="Times New Roman"/>
              </a:rPr>
              <a:t>w</a:t>
            </a:r>
            <a:r>
              <a:rPr b="0" i="0" lang="en-US" sz="2400" u="none" cap="none" strike="noStrike">
                <a:solidFill>
                  <a:schemeClr val="accent2"/>
                </a:solidFill>
                <a:latin typeface="Times New Roman"/>
                <a:ea typeface="Times New Roman"/>
                <a:cs typeface="Times New Roman"/>
                <a:sym typeface="Times New Roman"/>
              </a:rPr>
              <a:t>)</a:t>
            </a:r>
            <a:endParaRPr b="0" i="0" sz="2400" u="none" cap="none" strike="noStrike">
              <a:solidFill>
                <a:schemeClr val="dk1"/>
              </a:solidFill>
              <a:latin typeface="Times New Roman"/>
              <a:ea typeface="Times New Roman"/>
              <a:cs typeface="Times New Roman"/>
              <a:sym typeface="Times New Roman"/>
            </a:endParaRPr>
          </a:p>
          <a:p>
            <a:pPr indent="0" lvl="1" marL="457200" marR="0" rtl="0" algn="l">
              <a:lnSpc>
                <a:spcPct val="90000"/>
              </a:lnSpc>
              <a:spcBef>
                <a:spcPts val="480"/>
              </a:spcBef>
              <a:spcAft>
                <a:spcPts val="0"/>
              </a:spcAft>
              <a:buClr>
                <a:schemeClr val="accent2"/>
              </a:buClr>
              <a:buSzPts val="2400"/>
              <a:buFont typeface="Times New Roman"/>
              <a:buNone/>
            </a:pPr>
            <a:r>
              <a:rPr b="1" i="1" lang="en-US" sz="2400" u="none" cap="none" strike="noStrike">
                <a:solidFill>
                  <a:schemeClr val="accent2"/>
                </a:solidFill>
                <a:latin typeface="Times New Roman"/>
                <a:ea typeface="Times New Roman"/>
                <a:cs typeface="Times New Roman"/>
                <a:sym typeface="Times New Roman"/>
              </a:rPr>
              <a:t>visit</a:t>
            </a:r>
            <a:r>
              <a:rPr b="0" i="0" lang="en-US" sz="2400" u="none" cap="none" strike="noStrike">
                <a:solidFill>
                  <a:schemeClr val="accent2"/>
                </a:solidFill>
                <a:latin typeface="Times New Roman"/>
                <a:ea typeface="Times New Roman"/>
                <a:cs typeface="Times New Roman"/>
                <a:sym typeface="Times New Roman"/>
              </a:rPr>
              <a:t>(</a:t>
            </a:r>
            <a:r>
              <a:rPr b="1" i="1" lang="en-US" sz="2400" u="none" cap="none" strike="noStrike">
                <a:solidFill>
                  <a:schemeClr val="accent2"/>
                </a:solidFill>
                <a:latin typeface="Times New Roman"/>
                <a:ea typeface="Times New Roman"/>
                <a:cs typeface="Times New Roman"/>
                <a:sym typeface="Times New Roman"/>
              </a:rPr>
              <a:t>v</a:t>
            </a:r>
            <a:r>
              <a:rPr b="0" i="0" lang="en-US" sz="2400" u="none" cap="none" strike="noStrike">
                <a:solidFill>
                  <a:schemeClr val="accent2"/>
                </a:solidFill>
                <a:latin typeface="Times New Roman"/>
                <a:ea typeface="Times New Roman"/>
                <a:cs typeface="Times New Roman"/>
                <a:sym typeface="Times New Roman"/>
              </a:rPr>
              <a:t>)</a:t>
            </a:r>
            <a:endParaRPr/>
          </a:p>
        </p:txBody>
      </p:sp>
      <p:sp>
        <p:nvSpPr>
          <p:cNvPr id="245" name="Google Shape;245;p9"/>
          <p:cNvSpPr/>
          <p:nvPr/>
        </p:nvSpPr>
        <p:spPr>
          <a:xfrm>
            <a:off x="4540250" y="3733800"/>
            <a:ext cx="715962" cy="384175"/>
          </a:xfrm>
          <a:prstGeom prst="roundRect">
            <a:avLst>
              <a:gd fmla="val 16667" name="adj"/>
            </a:avLst>
          </a:prstGeom>
          <a:solidFill>
            <a:schemeClr val="accent1"/>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Tahoma"/>
              <a:buNone/>
            </a:pPr>
            <a:r>
              <a:rPr b="0" i="0" lang="en-US" sz="1600" u="none" cap="none" strike="noStrike">
                <a:solidFill>
                  <a:schemeClr val="dk1"/>
                </a:solidFill>
                <a:latin typeface="Tahoma"/>
                <a:ea typeface="Tahoma"/>
                <a:cs typeface="Tahoma"/>
                <a:sym typeface="Tahoma"/>
              </a:rPr>
              <a:t>cs16/</a:t>
            </a:r>
            <a:endParaRPr/>
          </a:p>
        </p:txBody>
      </p:sp>
      <p:sp>
        <p:nvSpPr>
          <p:cNvPr id="246" name="Google Shape;246;p9"/>
          <p:cNvSpPr/>
          <p:nvPr/>
        </p:nvSpPr>
        <p:spPr>
          <a:xfrm>
            <a:off x="1384300" y="4648200"/>
            <a:ext cx="1344612" cy="384175"/>
          </a:xfrm>
          <a:prstGeom prst="roundRect">
            <a:avLst>
              <a:gd fmla="val 16667" name="adj"/>
            </a:avLst>
          </a:prstGeom>
          <a:solidFill>
            <a:schemeClr val="accent1"/>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Tahoma"/>
              <a:buNone/>
            </a:pPr>
            <a:r>
              <a:rPr b="0" i="0" lang="en-US" sz="1600" u="none" cap="none" strike="noStrike">
                <a:solidFill>
                  <a:schemeClr val="dk1"/>
                </a:solidFill>
                <a:latin typeface="Tahoma"/>
                <a:ea typeface="Tahoma"/>
                <a:cs typeface="Tahoma"/>
                <a:sym typeface="Tahoma"/>
              </a:rPr>
              <a:t>homeworks/</a:t>
            </a:r>
            <a:endParaRPr/>
          </a:p>
        </p:txBody>
      </p:sp>
      <p:sp>
        <p:nvSpPr>
          <p:cNvPr id="247" name="Google Shape;247;p9"/>
          <p:cNvSpPr/>
          <p:nvPr/>
        </p:nvSpPr>
        <p:spPr>
          <a:xfrm>
            <a:off x="7680325" y="4513262"/>
            <a:ext cx="958850" cy="654050"/>
          </a:xfrm>
          <a:prstGeom prst="roundRect">
            <a:avLst>
              <a:gd fmla="val 16667" name="adj"/>
            </a:avLst>
          </a:prstGeom>
          <a:solidFill>
            <a:schemeClr val="folHlink"/>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Tahoma"/>
              <a:buNone/>
            </a:pPr>
            <a:r>
              <a:rPr b="0" i="0" lang="en-US" sz="1600" u="none" cap="none" strike="noStrike">
                <a:solidFill>
                  <a:schemeClr val="dk1"/>
                </a:solidFill>
                <a:latin typeface="Tahoma"/>
                <a:ea typeface="Tahoma"/>
                <a:cs typeface="Tahoma"/>
                <a:sym typeface="Tahoma"/>
              </a:rPr>
              <a:t>todo.txt</a:t>
            </a:r>
            <a:br>
              <a:rPr b="0" i="0" lang="en-US" sz="1600" u="none" cap="none" strike="noStrike">
                <a:solidFill>
                  <a:schemeClr val="dk1"/>
                </a:solidFill>
                <a:latin typeface="Tahoma"/>
                <a:ea typeface="Tahoma"/>
                <a:cs typeface="Tahoma"/>
                <a:sym typeface="Tahoma"/>
              </a:rPr>
            </a:br>
            <a:r>
              <a:rPr b="0" i="0" lang="en-US" sz="1600" u="none" cap="none" strike="noStrike">
                <a:solidFill>
                  <a:schemeClr val="dk1"/>
                </a:solidFill>
                <a:latin typeface="Tahoma"/>
                <a:ea typeface="Tahoma"/>
                <a:cs typeface="Tahoma"/>
                <a:sym typeface="Tahoma"/>
              </a:rPr>
              <a:t>1K</a:t>
            </a:r>
            <a:endParaRPr/>
          </a:p>
        </p:txBody>
      </p:sp>
      <p:sp>
        <p:nvSpPr>
          <p:cNvPr id="248" name="Google Shape;248;p9"/>
          <p:cNvSpPr/>
          <p:nvPr/>
        </p:nvSpPr>
        <p:spPr>
          <a:xfrm>
            <a:off x="5405437" y="4648200"/>
            <a:ext cx="1166812" cy="384175"/>
          </a:xfrm>
          <a:prstGeom prst="roundRect">
            <a:avLst>
              <a:gd fmla="val 16667" name="adj"/>
            </a:avLst>
          </a:prstGeom>
          <a:solidFill>
            <a:schemeClr val="accent1"/>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Tahoma"/>
              <a:buNone/>
            </a:pPr>
            <a:r>
              <a:rPr b="0" i="0" lang="en-US" sz="1600" u="none" cap="none" strike="noStrike">
                <a:solidFill>
                  <a:schemeClr val="dk1"/>
                </a:solidFill>
                <a:latin typeface="Tahoma"/>
                <a:ea typeface="Tahoma"/>
                <a:cs typeface="Tahoma"/>
                <a:sym typeface="Tahoma"/>
              </a:rPr>
              <a:t>programs/</a:t>
            </a:r>
            <a:endParaRPr/>
          </a:p>
        </p:txBody>
      </p:sp>
      <p:sp>
        <p:nvSpPr>
          <p:cNvPr id="249" name="Google Shape;249;p9"/>
          <p:cNvSpPr/>
          <p:nvPr/>
        </p:nvSpPr>
        <p:spPr>
          <a:xfrm>
            <a:off x="3886200" y="5564187"/>
            <a:ext cx="1098550" cy="654050"/>
          </a:xfrm>
          <a:prstGeom prst="roundRect">
            <a:avLst>
              <a:gd fmla="val 16667" name="adj"/>
            </a:avLst>
          </a:prstGeom>
          <a:solidFill>
            <a:schemeClr val="folHlink"/>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Tahoma"/>
              <a:buNone/>
            </a:pPr>
            <a:r>
              <a:rPr b="0" i="0" lang="en-US" sz="1600" u="none" cap="none" strike="noStrike">
                <a:solidFill>
                  <a:schemeClr val="dk1"/>
                </a:solidFill>
                <a:latin typeface="Tahoma"/>
                <a:ea typeface="Tahoma"/>
                <a:cs typeface="Tahoma"/>
                <a:sym typeface="Tahoma"/>
              </a:rPr>
              <a:t>DDR.java</a:t>
            </a:r>
            <a:br>
              <a:rPr b="0" i="0" lang="en-US" sz="1600" u="none" cap="none" strike="noStrike">
                <a:solidFill>
                  <a:schemeClr val="dk1"/>
                </a:solidFill>
                <a:latin typeface="Tahoma"/>
                <a:ea typeface="Tahoma"/>
                <a:cs typeface="Tahoma"/>
                <a:sym typeface="Tahoma"/>
              </a:rPr>
            </a:br>
            <a:r>
              <a:rPr b="0" i="0" lang="en-US" sz="1600" u="none" cap="none" strike="noStrike">
                <a:solidFill>
                  <a:schemeClr val="dk1"/>
                </a:solidFill>
                <a:latin typeface="Tahoma"/>
                <a:ea typeface="Tahoma"/>
                <a:cs typeface="Tahoma"/>
                <a:sym typeface="Tahoma"/>
              </a:rPr>
              <a:t>10K</a:t>
            </a:r>
            <a:endParaRPr/>
          </a:p>
        </p:txBody>
      </p:sp>
      <p:sp>
        <p:nvSpPr>
          <p:cNvPr id="250" name="Google Shape;250;p9"/>
          <p:cNvSpPr/>
          <p:nvPr/>
        </p:nvSpPr>
        <p:spPr>
          <a:xfrm>
            <a:off x="5359400" y="5564187"/>
            <a:ext cx="1274762" cy="654050"/>
          </a:xfrm>
          <a:prstGeom prst="roundRect">
            <a:avLst>
              <a:gd fmla="val 16667" name="adj"/>
            </a:avLst>
          </a:prstGeom>
          <a:solidFill>
            <a:schemeClr val="folHlink"/>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Tahoma"/>
              <a:buNone/>
            </a:pPr>
            <a:r>
              <a:rPr b="0" i="0" lang="en-US" sz="1600" u="none" cap="none" strike="noStrike">
                <a:solidFill>
                  <a:schemeClr val="dk1"/>
                </a:solidFill>
                <a:latin typeface="Tahoma"/>
                <a:ea typeface="Tahoma"/>
                <a:cs typeface="Tahoma"/>
                <a:sym typeface="Tahoma"/>
              </a:rPr>
              <a:t>Stocks.java</a:t>
            </a:r>
            <a:br>
              <a:rPr b="0" i="0" lang="en-US" sz="1600" u="none" cap="none" strike="noStrike">
                <a:solidFill>
                  <a:schemeClr val="dk1"/>
                </a:solidFill>
                <a:latin typeface="Tahoma"/>
                <a:ea typeface="Tahoma"/>
                <a:cs typeface="Tahoma"/>
                <a:sym typeface="Tahoma"/>
              </a:rPr>
            </a:br>
            <a:r>
              <a:rPr b="0" i="0" lang="en-US" sz="1600" u="none" cap="none" strike="noStrike">
                <a:solidFill>
                  <a:schemeClr val="dk1"/>
                </a:solidFill>
                <a:latin typeface="Tahoma"/>
                <a:ea typeface="Tahoma"/>
                <a:cs typeface="Tahoma"/>
                <a:sym typeface="Tahoma"/>
              </a:rPr>
              <a:t>25K</a:t>
            </a:r>
            <a:endParaRPr/>
          </a:p>
        </p:txBody>
      </p:sp>
      <p:sp>
        <p:nvSpPr>
          <p:cNvPr id="251" name="Google Shape;251;p9"/>
          <p:cNvSpPr/>
          <p:nvPr/>
        </p:nvSpPr>
        <p:spPr>
          <a:xfrm>
            <a:off x="846137" y="5564187"/>
            <a:ext cx="957262" cy="654050"/>
          </a:xfrm>
          <a:prstGeom prst="roundRect">
            <a:avLst>
              <a:gd fmla="val 16667" name="adj"/>
            </a:avLst>
          </a:prstGeom>
          <a:solidFill>
            <a:schemeClr val="folHlink"/>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Tahoma"/>
              <a:buNone/>
            </a:pPr>
            <a:r>
              <a:rPr b="0" i="0" lang="en-US" sz="1600" u="none" cap="none" strike="noStrike">
                <a:solidFill>
                  <a:schemeClr val="dk1"/>
                </a:solidFill>
                <a:latin typeface="Tahoma"/>
                <a:ea typeface="Tahoma"/>
                <a:cs typeface="Tahoma"/>
                <a:sym typeface="Tahoma"/>
              </a:rPr>
              <a:t>h1c.doc</a:t>
            </a:r>
            <a:br>
              <a:rPr b="0" i="0" lang="en-US" sz="1600" u="none" cap="none" strike="noStrike">
                <a:solidFill>
                  <a:schemeClr val="dk1"/>
                </a:solidFill>
                <a:latin typeface="Tahoma"/>
                <a:ea typeface="Tahoma"/>
                <a:cs typeface="Tahoma"/>
                <a:sym typeface="Tahoma"/>
              </a:rPr>
            </a:br>
            <a:r>
              <a:rPr b="0" i="0" lang="en-US" sz="1600" u="none" cap="none" strike="noStrike">
                <a:solidFill>
                  <a:schemeClr val="dk1"/>
                </a:solidFill>
                <a:latin typeface="Tahoma"/>
                <a:ea typeface="Tahoma"/>
                <a:cs typeface="Tahoma"/>
                <a:sym typeface="Tahoma"/>
              </a:rPr>
              <a:t>3K</a:t>
            </a:r>
            <a:endParaRPr/>
          </a:p>
        </p:txBody>
      </p:sp>
      <p:sp>
        <p:nvSpPr>
          <p:cNvPr id="252" name="Google Shape;252;p9"/>
          <p:cNvSpPr/>
          <p:nvPr/>
        </p:nvSpPr>
        <p:spPr>
          <a:xfrm>
            <a:off x="2327275" y="5564187"/>
            <a:ext cx="1069975" cy="654050"/>
          </a:xfrm>
          <a:prstGeom prst="roundRect">
            <a:avLst>
              <a:gd fmla="val 16667" name="adj"/>
            </a:avLst>
          </a:prstGeom>
          <a:solidFill>
            <a:schemeClr val="folHlink"/>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Tahoma"/>
              <a:buNone/>
            </a:pPr>
            <a:r>
              <a:rPr b="0" i="0" lang="en-US" sz="1600" u="none" cap="none" strike="noStrike">
                <a:solidFill>
                  <a:schemeClr val="dk1"/>
                </a:solidFill>
                <a:latin typeface="Tahoma"/>
                <a:ea typeface="Tahoma"/>
                <a:cs typeface="Tahoma"/>
                <a:sym typeface="Tahoma"/>
              </a:rPr>
              <a:t>h1nc.doc</a:t>
            </a:r>
            <a:br>
              <a:rPr b="0" i="0" lang="en-US" sz="1600" u="none" cap="none" strike="noStrike">
                <a:solidFill>
                  <a:schemeClr val="dk1"/>
                </a:solidFill>
                <a:latin typeface="Tahoma"/>
                <a:ea typeface="Tahoma"/>
                <a:cs typeface="Tahoma"/>
                <a:sym typeface="Tahoma"/>
              </a:rPr>
            </a:br>
            <a:r>
              <a:rPr b="0" i="0" lang="en-US" sz="1600" u="none" cap="none" strike="noStrike">
                <a:solidFill>
                  <a:schemeClr val="dk1"/>
                </a:solidFill>
                <a:latin typeface="Tahoma"/>
                <a:ea typeface="Tahoma"/>
                <a:cs typeface="Tahoma"/>
                <a:sym typeface="Tahoma"/>
              </a:rPr>
              <a:t>2K</a:t>
            </a:r>
            <a:endParaRPr/>
          </a:p>
        </p:txBody>
      </p:sp>
      <p:cxnSp>
        <p:nvCxnSpPr>
          <p:cNvPr id="253" name="Google Shape;253;p9"/>
          <p:cNvCxnSpPr/>
          <p:nvPr/>
        </p:nvCxnSpPr>
        <p:spPr>
          <a:xfrm flipH="1">
            <a:off x="2057400" y="4127500"/>
            <a:ext cx="2841625" cy="511175"/>
          </a:xfrm>
          <a:prstGeom prst="straightConnector1">
            <a:avLst/>
          </a:prstGeom>
          <a:noFill/>
          <a:ln cap="flat" cmpd="sng" w="19050">
            <a:solidFill>
              <a:schemeClr val="dk1"/>
            </a:solidFill>
            <a:prstDash val="solid"/>
            <a:miter lim="800000"/>
            <a:headEnd len="med" w="med" type="none"/>
            <a:tailEnd len="med" w="med" type="none"/>
          </a:ln>
        </p:spPr>
      </p:cxnSp>
      <p:cxnSp>
        <p:nvCxnSpPr>
          <p:cNvPr id="254" name="Google Shape;254;p9"/>
          <p:cNvCxnSpPr/>
          <p:nvPr/>
        </p:nvCxnSpPr>
        <p:spPr>
          <a:xfrm>
            <a:off x="4899025" y="4127500"/>
            <a:ext cx="1090612" cy="511175"/>
          </a:xfrm>
          <a:prstGeom prst="straightConnector1">
            <a:avLst/>
          </a:prstGeom>
          <a:noFill/>
          <a:ln cap="flat" cmpd="sng" w="19050">
            <a:solidFill>
              <a:schemeClr val="dk1"/>
            </a:solidFill>
            <a:prstDash val="solid"/>
            <a:miter lim="800000"/>
            <a:headEnd len="med" w="med" type="none"/>
            <a:tailEnd len="med" w="med" type="none"/>
          </a:ln>
        </p:spPr>
      </p:cxnSp>
      <p:cxnSp>
        <p:nvCxnSpPr>
          <p:cNvPr id="255" name="Google Shape;255;p9"/>
          <p:cNvCxnSpPr/>
          <p:nvPr/>
        </p:nvCxnSpPr>
        <p:spPr>
          <a:xfrm>
            <a:off x="4899025" y="4127500"/>
            <a:ext cx="3260725" cy="376237"/>
          </a:xfrm>
          <a:prstGeom prst="straightConnector1">
            <a:avLst/>
          </a:prstGeom>
          <a:noFill/>
          <a:ln cap="flat" cmpd="sng" w="19050">
            <a:solidFill>
              <a:schemeClr val="dk1"/>
            </a:solidFill>
            <a:prstDash val="solid"/>
            <a:miter lim="800000"/>
            <a:headEnd len="med" w="med" type="none"/>
            <a:tailEnd len="med" w="med" type="none"/>
          </a:ln>
        </p:spPr>
      </p:cxnSp>
      <p:cxnSp>
        <p:nvCxnSpPr>
          <p:cNvPr id="256" name="Google Shape;256;p9"/>
          <p:cNvCxnSpPr/>
          <p:nvPr/>
        </p:nvCxnSpPr>
        <p:spPr>
          <a:xfrm>
            <a:off x="5989637" y="5041900"/>
            <a:ext cx="7937" cy="512762"/>
          </a:xfrm>
          <a:prstGeom prst="straightConnector1">
            <a:avLst/>
          </a:prstGeom>
          <a:noFill/>
          <a:ln cap="flat" cmpd="sng" w="19050">
            <a:solidFill>
              <a:schemeClr val="dk1"/>
            </a:solidFill>
            <a:prstDash val="solid"/>
            <a:miter lim="800000"/>
            <a:headEnd len="med" w="med" type="none"/>
            <a:tailEnd len="med" w="med" type="none"/>
          </a:ln>
        </p:spPr>
      </p:cxnSp>
      <p:cxnSp>
        <p:nvCxnSpPr>
          <p:cNvPr id="257" name="Google Shape;257;p9"/>
          <p:cNvCxnSpPr/>
          <p:nvPr/>
        </p:nvCxnSpPr>
        <p:spPr>
          <a:xfrm flipH="1">
            <a:off x="4435475" y="5041900"/>
            <a:ext cx="1554162" cy="512762"/>
          </a:xfrm>
          <a:prstGeom prst="straightConnector1">
            <a:avLst/>
          </a:prstGeom>
          <a:noFill/>
          <a:ln cap="flat" cmpd="sng" w="19050">
            <a:solidFill>
              <a:schemeClr val="dk1"/>
            </a:solidFill>
            <a:prstDash val="solid"/>
            <a:miter lim="800000"/>
            <a:headEnd len="med" w="med" type="none"/>
            <a:tailEnd len="med" w="med" type="none"/>
          </a:ln>
        </p:spPr>
      </p:cxnSp>
      <p:cxnSp>
        <p:nvCxnSpPr>
          <p:cNvPr id="258" name="Google Shape;258;p9"/>
          <p:cNvCxnSpPr/>
          <p:nvPr/>
        </p:nvCxnSpPr>
        <p:spPr>
          <a:xfrm>
            <a:off x="2057400" y="5041900"/>
            <a:ext cx="804862" cy="512762"/>
          </a:xfrm>
          <a:prstGeom prst="straightConnector1">
            <a:avLst/>
          </a:prstGeom>
          <a:noFill/>
          <a:ln cap="flat" cmpd="sng" w="19050">
            <a:solidFill>
              <a:schemeClr val="dk1"/>
            </a:solidFill>
            <a:prstDash val="solid"/>
            <a:miter lim="800000"/>
            <a:headEnd len="med" w="med" type="none"/>
            <a:tailEnd len="med" w="med" type="none"/>
          </a:ln>
        </p:spPr>
      </p:cxnSp>
      <p:cxnSp>
        <p:nvCxnSpPr>
          <p:cNvPr id="259" name="Google Shape;259;p9"/>
          <p:cNvCxnSpPr/>
          <p:nvPr/>
        </p:nvCxnSpPr>
        <p:spPr>
          <a:xfrm flipH="1">
            <a:off x="1325562" y="5041900"/>
            <a:ext cx="731837" cy="512762"/>
          </a:xfrm>
          <a:prstGeom prst="straightConnector1">
            <a:avLst/>
          </a:prstGeom>
          <a:noFill/>
          <a:ln cap="flat" cmpd="sng" w="19050">
            <a:solidFill>
              <a:schemeClr val="dk1"/>
            </a:solidFill>
            <a:prstDash val="solid"/>
            <a:miter lim="800000"/>
            <a:headEnd len="med" w="med" type="none"/>
            <a:tailEnd len="med" w="med" type="none"/>
          </a:ln>
        </p:spPr>
      </p:cxnSp>
      <p:sp>
        <p:nvSpPr>
          <p:cNvPr id="260" name="Google Shape;260;p9"/>
          <p:cNvSpPr/>
          <p:nvPr/>
        </p:nvSpPr>
        <p:spPr>
          <a:xfrm>
            <a:off x="7010400" y="5562600"/>
            <a:ext cx="1219200" cy="654050"/>
          </a:xfrm>
          <a:prstGeom prst="roundRect">
            <a:avLst>
              <a:gd fmla="val 16667" name="adj"/>
            </a:avLst>
          </a:prstGeom>
          <a:solidFill>
            <a:schemeClr val="folHlink"/>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Tahoma"/>
              <a:buNone/>
            </a:pPr>
            <a:r>
              <a:rPr b="0" i="0" lang="en-US" sz="1600" u="none" cap="none" strike="noStrike">
                <a:solidFill>
                  <a:schemeClr val="dk1"/>
                </a:solidFill>
                <a:latin typeface="Tahoma"/>
                <a:ea typeface="Tahoma"/>
                <a:cs typeface="Tahoma"/>
                <a:sym typeface="Tahoma"/>
              </a:rPr>
              <a:t>Robot.java</a:t>
            </a:r>
            <a:br>
              <a:rPr b="0" i="0" lang="en-US" sz="1600" u="none" cap="none" strike="noStrike">
                <a:solidFill>
                  <a:schemeClr val="dk1"/>
                </a:solidFill>
                <a:latin typeface="Tahoma"/>
                <a:ea typeface="Tahoma"/>
                <a:cs typeface="Tahoma"/>
                <a:sym typeface="Tahoma"/>
              </a:rPr>
            </a:br>
            <a:r>
              <a:rPr b="0" i="0" lang="en-US" sz="1600" u="none" cap="none" strike="noStrike">
                <a:solidFill>
                  <a:schemeClr val="dk1"/>
                </a:solidFill>
                <a:latin typeface="Tahoma"/>
                <a:ea typeface="Tahoma"/>
                <a:cs typeface="Tahoma"/>
                <a:sym typeface="Tahoma"/>
              </a:rPr>
              <a:t>20K</a:t>
            </a:r>
            <a:endParaRPr/>
          </a:p>
        </p:txBody>
      </p:sp>
      <p:cxnSp>
        <p:nvCxnSpPr>
          <p:cNvPr id="261" name="Google Shape;261;p9"/>
          <p:cNvCxnSpPr/>
          <p:nvPr/>
        </p:nvCxnSpPr>
        <p:spPr>
          <a:xfrm>
            <a:off x="5989637" y="5041900"/>
            <a:ext cx="1630362" cy="511175"/>
          </a:xfrm>
          <a:prstGeom prst="straightConnector1">
            <a:avLst/>
          </a:prstGeom>
          <a:noFill/>
          <a:ln cap="flat" cmpd="sng" w="19050">
            <a:solidFill>
              <a:schemeClr val="dk1"/>
            </a:solidFill>
            <a:prstDash val="solid"/>
            <a:miter lim="800000"/>
            <a:headEnd len="med" w="med" type="none"/>
            <a:tailEnd len="med" w="med" type="none"/>
          </a:ln>
        </p:spPr>
      </p:cxnSp>
      <p:sp>
        <p:nvSpPr>
          <p:cNvPr id="262" name="Google Shape;262;p9"/>
          <p:cNvSpPr txBox="1"/>
          <p:nvPr/>
        </p:nvSpPr>
        <p:spPr>
          <a:xfrm>
            <a:off x="4191000" y="3505200"/>
            <a:ext cx="322262"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2"/>
              </a:buClr>
              <a:buSzPts val="2000"/>
              <a:buFont typeface="Tahoma"/>
              <a:buNone/>
            </a:pPr>
            <a:r>
              <a:rPr b="0" i="0" lang="en-US" sz="2000" u="none" cap="none" strike="noStrike">
                <a:solidFill>
                  <a:schemeClr val="dk2"/>
                </a:solidFill>
                <a:latin typeface="Tahoma"/>
                <a:ea typeface="Tahoma"/>
                <a:cs typeface="Tahoma"/>
                <a:sym typeface="Tahoma"/>
              </a:rPr>
              <a:t>9</a:t>
            </a:r>
            <a:endParaRPr/>
          </a:p>
        </p:txBody>
      </p:sp>
      <p:sp>
        <p:nvSpPr>
          <p:cNvPr id="263" name="Google Shape;263;p9"/>
          <p:cNvSpPr txBox="1"/>
          <p:nvPr/>
        </p:nvSpPr>
        <p:spPr>
          <a:xfrm>
            <a:off x="1858962" y="4318000"/>
            <a:ext cx="322262"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2"/>
              </a:buClr>
              <a:buSzPts val="2000"/>
              <a:buFont typeface="Tahoma"/>
              <a:buNone/>
            </a:pPr>
            <a:r>
              <a:rPr b="0" i="0" lang="en-US" sz="2000" u="none" cap="none" strike="noStrike">
                <a:solidFill>
                  <a:schemeClr val="dk2"/>
                </a:solidFill>
                <a:latin typeface="Tahoma"/>
                <a:ea typeface="Tahoma"/>
                <a:cs typeface="Tahoma"/>
                <a:sym typeface="Tahoma"/>
              </a:rPr>
              <a:t>3</a:t>
            </a:r>
            <a:endParaRPr/>
          </a:p>
        </p:txBody>
      </p:sp>
      <p:sp>
        <p:nvSpPr>
          <p:cNvPr id="264" name="Google Shape;264;p9"/>
          <p:cNvSpPr txBox="1"/>
          <p:nvPr/>
        </p:nvSpPr>
        <p:spPr>
          <a:xfrm>
            <a:off x="1125537" y="5194300"/>
            <a:ext cx="322262"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2"/>
              </a:buClr>
              <a:buSzPts val="2000"/>
              <a:buFont typeface="Tahoma"/>
              <a:buNone/>
            </a:pPr>
            <a:r>
              <a:rPr b="0" i="0" lang="en-US" sz="2000" u="none" cap="none" strike="noStrike">
                <a:solidFill>
                  <a:schemeClr val="dk2"/>
                </a:solidFill>
                <a:latin typeface="Tahoma"/>
                <a:ea typeface="Tahoma"/>
                <a:cs typeface="Tahoma"/>
                <a:sym typeface="Tahoma"/>
              </a:rPr>
              <a:t>1</a:t>
            </a:r>
            <a:endParaRPr/>
          </a:p>
        </p:txBody>
      </p:sp>
      <p:sp>
        <p:nvSpPr>
          <p:cNvPr id="265" name="Google Shape;265;p9"/>
          <p:cNvSpPr txBox="1"/>
          <p:nvPr/>
        </p:nvSpPr>
        <p:spPr>
          <a:xfrm>
            <a:off x="5181600" y="4318000"/>
            <a:ext cx="322262"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2"/>
              </a:buClr>
              <a:buSzPts val="2000"/>
              <a:buFont typeface="Tahoma"/>
              <a:buNone/>
            </a:pPr>
            <a:r>
              <a:rPr b="0" i="0" lang="en-US" sz="2000" u="none" cap="none" strike="noStrike">
                <a:solidFill>
                  <a:schemeClr val="dk2"/>
                </a:solidFill>
                <a:latin typeface="Tahoma"/>
                <a:ea typeface="Tahoma"/>
                <a:cs typeface="Tahoma"/>
                <a:sym typeface="Tahoma"/>
              </a:rPr>
              <a:t>7</a:t>
            </a:r>
            <a:endParaRPr/>
          </a:p>
        </p:txBody>
      </p:sp>
      <p:sp>
        <p:nvSpPr>
          <p:cNvPr id="266" name="Google Shape;266;p9"/>
          <p:cNvSpPr txBox="1"/>
          <p:nvPr/>
        </p:nvSpPr>
        <p:spPr>
          <a:xfrm>
            <a:off x="2725737" y="5194300"/>
            <a:ext cx="322262"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2"/>
              </a:buClr>
              <a:buSzPts val="2000"/>
              <a:buFont typeface="Tahoma"/>
              <a:buNone/>
            </a:pPr>
            <a:r>
              <a:rPr b="0" i="0" lang="en-US" sz="2000" u="none" cap="none" strike="noStrike">
                <a:solidFill>
                  <a:schemeClr val="dk2"/>
                </a:solidFill>
                <a:latin typeface="Tahoma"/>
                <a:ea typeface="Tahoma"/>
                <a:cs typeface="Tahoma"/>
                <a:sym typeface="Tahoma"/>
              </a:rPr>
              <a:t>2</a:t>
            </a:r>
            <a:endParaRPr/>
          </a:p>
        </p:txBody>
      </p:sp>
      <p:sp>
        <p:nvSpPr>
          <p:cNvPr id="267" name="Google Shape;267;p9"/>
          <p:cNvSpPr txBox="1"/>
          <p:nvPr/>
        </p:nvSpPr>
        <p:spPr>
          <a:xfrm>
            <a:off x="4030662" y="5181600"/>
            <a:ext cx="322262"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2"/>
              </a:buClr>
              <a:buSzPts val="2000"/>
              <a:buFont typeface="Tahoma"/>
              <a:buNone/>
            </a:pPr>
            <a:r>
              <a:rPr b="0" i="0" lang="en-US" sz="2000" u="none" cap="none" strike="noStrike">
                <a:solidFill>
                  <a:schemeClr val="dk2"/>
                </a:solidFill>
                <a:latin typeface="Tahoma"/>
                <a:ea typeface="Tahoma"/>
                <a:cs typeface="Tahoma"/>
                <a:sym typeface="Tahoma"/>
              </a:rPr>
              <a:t>4</a:t>
            </a:r>
            <a:endParaRPr/>
          </a:p>
        </p:txBody>
      </p:sp>
      <p:sp>
        <p:nvSpPr>
          <p:cNvPr id="268" name="Google Shape;268;p9"/>
          <p:cNvSpPr txBox="1"/>
          <p:nvPr/>
        </p:nvSpPr>
        <p:spPr>
          <a:xfrm>
            <a:off x="5630862" y="5181600"/>
            <a:ext cx="322262"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2"/>
              </a:buClr>
              <a:buSzPts val="2000"/>
              <a:buFont typeface="Tahoma"/>
              <a:buNone/>
            </a:pPr>
            <a:r>
              <a:rPr b="0" i="0" lang="en-US" sz="2000" u="none" cap="none" strike="noStrike">
                <a:solidFill>
                  <a:schemeClr val="dk2"/>
                </a:solidFill>
                <a:latin typeface="Tahoma"/>
                <a:ea typeface="Tahoma"/>
                <a:cs typeface="Tahoma"/>
                <a:sym typeface="Tahoma"/>
              </a:rPr>
              <a:t>5</a:t>
            </a:r>
            <a:endParaRPr/>
          </a:p>
        </p:txBody>
      </p:sp>
      <p:sp>
        <p:nvSpPr>
          <p:cNvPr id="269" name="Google Shape;269;p9"/>
          <p:cNvSpPr txBox="1"/>
          <p:nvPr/>
        </p:nvSpPr>
        <p:spPr>
          <a:xfrm>
            <a:off x="7486650" y="5181600"/>
            <a:ext cx="322262"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2"/>
              </a:buClr>
              <a:buSzPts val="2000"/>
              <a:buFont typeface="Tahoma"/>
              <a:buNone/>
            </a:pPr>
            <a:r>
              <a:rPr b="0" i="0" lang="en-US" sz="2000" u="none" cap="none" strike="noStrike">
                <a:solidFill>
                  <a:schemeClr val="dk2"/>
                </a:solidFill>
                <a:latin typeface="Tahoma"/>
                <a:ea typeface="Tahoma"/>
                <a:cs typeface="Tahoma"/>
                <a:sym typeface="Tahoma"/>
              </a:rPr>
              <a:t>6</a:t>
            </a:r>
            <a:endParaRPr/>
          </a:p>
        </p:txBody>
      </p:sp>
      <p:sp>
        <p:nvSpPr>
          <p:cNvPr id="270" name="Google Shape;270;p9"/>
          <p:cNvSpPr txBox="1"/>
          <p:nvPr/>
        </p:nvSpPr>
        <p:spPr>
          <a:xfrm>
            <a:off x="8031162" y="4114800"/>
            <a:ext cx="322262"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2"/>
              </a:buClr>
              <a:buSzPts val="2000"/>
              <a:buFont typeface="Tahoma"/>
              <a:buNone/>
            </a:pPr>
            <a:r>
              <a:rPr b="0" i="0" lang="en-US" sz="2000" u="none" cap="none" strike="noStrike">
                <a:solidFill>
                  <a:schemeClr val="dk2"/>
                </a:solidFill>
                <a:latin typeface="Tahoma"/>
                <a:ea typeface="Tahoma"/>
                <a:cs typeface="Tahoma"/>
                <a:sym typeface="Tahoma"/>
              </a:rPr>
              <a:t>8</a:t>
            </a:r>
            <a:endParaRPr/>
          </a:p>
        </p:txBody>
      </p:sp>
      <p:sp>
        <p:nvSpPr>
          <p:cNvPr id="271" name="Google Shape;271;p9"/>
          <p:cNvSpPr txBox="1"/>
          <p:nvPr/>
        </p:nvSpPr>
        <p:spPr>
          <a:xfrm>
            <a:off x="228600" y="495300"/>
            <a:ext cx="8686800" cy="701675"/>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CC3300"/>
              </a:buClr>
              <a:buSzPts val="4000"/>
              <a:buFont typeface="Calibri"/>
              <a:buNone/>
            </a:pPr>
            <a:r>
              <a:rPr b="1" i="0" lang="en-US" sz="4000" u="none" cap="none" strike="noStrike">
                <a:solidFill>
                  <a:srgbClr val="CC3300"/>
                </a:solidFill>
                <a:latin typeface="Calibri"/>
                <a:ea typeface="Calibri"/>
                <a:cs typeface="Calibri"/>
                <a:sym typeface="Calibri"/>
              </a:rPr>
              <a:t>Post-order Traversal of a tree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5" name="Shape 275"/>
        <p:cNvGrpSpPr/>
        <p:nvPr/>
      </p:nvGrpSpPr>
      <p:grpSpPr>
        <a:xfrm>
          <a:off x="0" y="0"/>
          <a:ext cx="0" cy="0"/>
          <a:chOff x="0" y="0"/>
          <a:chExt cx="0" cy="0"/>
        </a:xfrm>
      </p:grpSpPr>
      <p:sp>
        <p:nvSpPr>
          <p:cNvPr id="276" name="Google Shape;276;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None/>
            </a:pPr>
            <a:fld id="{00000000-1234-1234-1234-123412341234}" type="slidenum">
              <a:rPr lang="en-US"/>
              <a:t>‹#›</a:t>
            </a:fld>
            <a:endParaRPr/>
          </a:p>
        </p:txBody>
      </p:sp>
      <p:sp>
        <p:nvSpPr>
          <p:cNvPr id="277" name="Google Shape;277;p10"/>
          <p:cNvSpPr txBox="1"/>
          <p:nvPr/>
        </p:nvSpPr>
        <p:spPr>
          <a:xfrm>
            <a:off x="2895600" y="6356350"/>
            <a:ext cx="3352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Data Structures and Algorithms in Java </a:t>
            </a:r>
            <a:endParaRPr/>
          </a:p>
        </p:txBody>
      </p:sp>
      <p:sp>
        <p:nvSpPr>
          <p:cNvPr id="278" name="Google Shape;278;p10"/>
          <p:cNvSpPr txBox="1"/>
          <p:nvPr>
            <p:ph idx="4294967295" type="title"/>
          </p:nvPr>
        </p:nvSpPr>
        <p:spPr>
          <a:xfrm>
            <a:off x="457200" y="495300"/>
            <a:ext cx="8077200" cy="701675"/>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CC3300"/>
              </a:buClr>
              <a:buSzPts val="4000"/>
              <a:buFont typeface="Calibri"/>
              <a:buNone/>
            </a:pPr>
            <a:r>
              <a:rPr b="1" i="0" lang="en-US" sz="4000" u="none" cap="none" strike="noStrike">
                <a:solidFill>
                  <a:srgbClr val="CC3300"/>
                </a:solidFill>
                <a:latin typeface="Calibri"/>
                <a:ea typeface="Calibri"/>
                <a:cs typeface="Calibri"/>
                <a:sym typeface="Calibri"/>
              </a:rPr>
              <a:t>Breadth-first Traversal of a tree</a:t>
            </a:r>
            <a:endParaRPr/>
          </a:p>
        </p:txBody>
      </p:sp>
      <p:sp>
        <p:nvSpPr>
          <p:cNvPr id="279" name="Google Shape;279;p10"/>
          <p:cNvSpPr txBox="1"/>
          <p:nvPr>
            <p:ph idx="4294967295" type="body"/>
          </p:nvPr>
        </p:nvSpPr>
        <p:spPr>
          <a:xfrm>
            <a:off x="609600" y="1600200"/>
            <a:ext cx="4267200" cy="2286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In a breadth-firth traversal, a node is visited first, then all its' children, then all its grandchildren,... </a:t>
            </a:r>
            <a:endParaRPr/>
          </a:p>
          <a:p>
            <a:pPr indent="-342900" lvl="0" marL="342900" marR="0" rtl="0" algn="l">
              <a:lnSpc>
                <a:spcPct val="90000"/>
              </a:lnSpc>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Application: visit family tree by generations.</a:t>
            </a:r>
            <a:endParaRPr/>
          </a:p>
        </p:txBody>
      </p:sp>
      <p:sp>
        <p:nvSpPr>
          <p:cNvPr id="280" name="Google Shape;280;p10"/>
          <p:cNvSpPr/>
          <p:nvPr/>
        </p:nvSpPr>
        <p:spPr>
          <a:xfrm>
            <a:off x="3960812" y="3886200"/>
            <a:ext cx="1865312" cy="384175"/>
          </a:xfrm>
          <a:prstGeom prst="roundRect">
            <a:avLst>
              <a:gd fmla="val 16667" name="adj"/>
            </a:avLst>
          </a:prstGeom>
          <a:solidFill>
            <a:schemeClr val="accent1"/>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Tahoma"/>
              <a:buNone/>
            </a:pPr>
            <a:r>
              <a:rPr b="0" i="0" lang="en-US" sz="1600" u="none" cap="none" strike="noStrike">
                <a:solidFill>
                  <a:schemeClr val="dk1"/>
                </a:solidFill>
                <a:latin typeface="Tahoma"/>
                <a:ea typeface="Tahoma"/>
                <a:cs typeface="Tahoma"/>
                <a:sym typeface="Tahoma"/>
              </a:rPr>
              <a:t>Make Money Fast!</a:t>
            </a:r>
            <a:endParaRPr/>
          </a:p>
        </p:txBody>
      </p:sp>
      <p:sp>
        <p:nvSpPr>
          <p:cNvPr id="281" name="Google Shape;281;p10"/>
          <p:cNvSpPr/>
          <p:nvPr/>
        </p:nvSpPr>
        <p:spPr>
          <a:xfrm>
            <a:off x="1306512" y="4800600"/>
            <a:ext cx="1493837" cy="384175"/>
          </a:xfrm>
          <a:prstGeom prst="roundRect">
            <a:avLst>
              <a:gd fmla="val 16667" name="adj"/>
            </a:avLst>
          </a:prstGeom>
          <a:solidFill>
            <a:schemeClr val="accent1"/>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Tahoma"/>
              <a:buNone/>
            </a:pPr>
            <a:r>
              <a:rPr b="0" i="0" lang="en-US" sz="1600" u="none" cap="none" strike="noStrike">
                <a:solidFill>
                  <a:schemeClr val="dk1"/>
                </a:solidFill>
                <a:latin typeface="Tahoma"/>
                <a:ea typeface="Tahoma"/>
                <a:cs typeface="Tahoma"/>
                <a:sym typeface="Tahoma"/>
              </a:rPr>
              <a:t>1. Motivations</a:t>
            </a:r>
            <a:endParaRPr/>
          </a:p>
        </p:txBody>
      </p:sp>
      <p:sp>
        <p:nvSpPr>
          <p:cNvPr id="282" name="Google Shape;282;p10"/>
          <p:cNvSpPr/>
          <p:nvPr/>
        </p:nvSpPr>
        <p:spPr>
          <a:xfrm>
            <a:off x="7543800" y="4800600"/>
            <a:ext cx="1223962" cy="384175"/>
          </a:xfrm>
          <a:prstGeom prst="roundRect">
            <a:avLst>
              <a:gd fmla="val 16667" name="adj"/>
            </a:avLst>
          </a:prstGeom>
          <a:solidFill>
            <a:schemeClr val="accent1"/>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Tahoma"/>
              <a:buNone/>
            </a:pPr>
            <a:r>
              <a:rPr b="0" i="0" lang="en-US" sz="1600" u="none" cap="none" strike="noStrike">
                <a:solidFill>
                  <a:schemeClr val="dk1"/>
                </a:solidFill>
                <a:latin typeface="Tahoma"/>
                <a:ea typeface="Tahoma"/>
                <a:cs typeface="Tahoma"/>
                <a:sym typeface="Tahoma"/>
              </a:rPr>
              <a:t>References</a:t>
            </a:r>
            <a:endParaRPr/>
          </a:p>
        </p:txBody>
      </p:sp>
      <p:sp>
        <p:nvSpPr>
          <p:cNvPr id="283" name="Google Shape;283;p10"/>
          <p:cNvSpPr/>
          <p:nvPr/>
        </p:nvSpPr>
        <p:spPr>
          <a:xfrm>
            <a:off x="5368925" y="4800600"/>
            <a:ext cx="1233487" cy="384175"/>
          </a:xfrm>
          <a:prstGeom prst="roundRect">
            <a:avLst>
              <a:gd fmla="val 16667" name="adj"/>
            </a:avLst>
          </a:prstGeom>
          <a:solidFill>
            <a:schemeClr val="accent1"/>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Tahoma"/>
              <a:buNone/>
            </a:pPr>
            <a:r>
              <a:rPr b="0" i="0" lang="en-US" sz="1600" u="none" cap="none" strike="noStrike">
                <a:solidFill>
                  <a:schemeClr val="dk1"/>
                </a:solidFill>
                <a:latin typeface="Tahoma"/>
                <a:ea typeface="Tahoma"/>
                <a:cs typeface="Tahoma"/>
                <a:sym typeface="Tahoma"/>
              </a:rPr>
              <a:t>2. Methods</a:t>
            </a:r>
            <a:endParaRPr/>
          </a:p>
        </p:txBody>
      </p:sp>
      <p:sp>
        <p:nvSpPr>
          <p:cNvPr id="284" name="Google Shape;284;p10"/>
          <p:cNvSpPr/>
          <p:nvPr/>
        </p:nvSpPr>
        <p:spPr>
          <a:xfrm>
            <a:off x="3886200" y="5572125"/>
            <a:ext cx="1092200" cy="654050"/>
          </a:xfrm>
          <a:prstGeom prst="roundRect">
            <a:avLst>
              <a:gd fmla="val 16667" name="adj"/>
            </a:avLst>
          </a:prstGeom>
          <a:solidFill>
            <a:schemeClr val="accent1"/>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Tahoma"/>
              <a:buNone/>
            </a:pPr>
            <a:r>
              <a:rPr b="0" i="0" lang="en-US" sz="1600" u="none" cap="none" strike="noStrike">
                <a:solidFill>
                  <a:schemeClr val="dk1"/>
                </a:solidFill>
                <a:latin typeface="Tahoma"/>
                <a:ea typeface="Tahoma"/>
                <a:cs typeface="Tahoma"/>
                <a:sym typeface="Tahoma"/>
              </a:rPr>
              <a:t>2.1 Stock</a:t>
            </a:r>
            <a:br>
              <a:rPr b="0" i="0" lang="en-US" sz="1600" u="none" cap="none" strike="noStrike">
                <a:solidFill>
                  <a:schemeClr val="dk1"/>
                </a:solidFill>
                <a:latin typeface="Tahoma"/>
                <a:ea typeface="Tahoma"/>
                <a:cs typeface="Tahoma"/>
                <a:sym typeface="Tahoma"/>
              </a:rPr>
            </a:br>
            <a:r>
              <a:rPr b="0" i="0" lang="en-US" sz="1600" u="none" cap="none" strike="noStrike">
                <a:solidFill>
                  <a:schemeClr val="dk1"/>
                </a:solidFill>
                <a:latin typeface="Tahoma"/>
                <a:ea typeface="Tahoma"/>
                <a:cs typeface="Tahoma"/>
                <a:sym typeface="Tahoma"/>
              </a:rPr>
              <a:t>Fraud</a:t>
            </a:r>
            <a:endParaRPr/>
          </a:p>
        </p:txBody>
      </p:sp>
      <p:sp>
        <p:nvSpPr>
          <p:cNvPr id="285" name="Google Shape;285;p10"/>
          <p:cNvSpPr/>
          <p:nvPr/>
        </p:nvSpPr>
        <p:spPr>
          <a:xfrm>
            <a:off x="5451475" y="5572125"/>
            <a:ext cx="1077912" cy="654050"/>
          </a:xfrm>
          <a:prstGeom prst="roundRect">
            <a:avLst>
              <a:gd fmla="val 16667" name="adj"/>
            </a:avLst>
          </a:prstGeom>
          <a:solidFill>
            <a:schemeClr val="accent1"/>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Tahoma"/>
              <a:buNone/>
            </a:pPr>
            <a:r>
              <a:rPr b="0" i="0" lang="en-US" sz="1600" u="none" cap="none" strike="noStrike">
                <a:solidFill>
                  <a:schemeClr val="dk1"/>
                </a:solidFill>
                <a:latin typeface="Tahoma"/>
                <a:ea typeface="Tahoma"/>
                <a:cs typeface="Tahoma"/>
                <a:sym typeface="Tahoma"/>
              </a:rPr>
              <a:t>2.2 Ponzi</a:t>
            </a:r>
            <a:br>
              <a:rPr b="0" i="0" lang="en-US" sz="1600" u="none" cap="none" strike="noStrike">
                <a:solidFill>
                  <a:schemeClr val="dk1"/>
                </a:solidFill>
                <a:latin typeface="Tahoma"/>
                <a:ea typeface="Tahoma"/>
                <a:cs typeface="Tahoma"/>
                <a:sym typeface="Tahoma"/>
              </a:rPr>
            </a:br>
            <a:r>
              <a:rPr b="0" i="0" lang="en-US" sz="1600" u="none" cap="none" strike="noStrike">
                <a:solidFill>
                  <a:schemeClr val="dk1"/>
                </a:solidFill>
                <a:latin typeface="Tahoma"/>
                <a:ea typeface="Tahoma"/>
                <a:cs typeface="Tahoma"/>
                <a:sym typeface="Tahoma"/>
              </a:rPr>
              <a:t>Scheme</a:t>
            </a:r>
            <a:endParaRPr/>
          </a:p>
        </p:txBody>
      </p:sp>
      <p:sp>
        <p:nvSpPr>
          <p:cNvPr id="286" name="Google Shape;286;p10"/>
          <p:cNvSpPr/>
          <p:nvPr/>
        </p:nvSpPr>
        <p:spPr>
          <a:xfrm>
            <a:off x="762000" y="5707062"/>
            <a:ext cx="1119187" cy="384175"/>
          </a:xfrm>
          <a:prstGeom prst="roundRect">
            <a:avLst>
              <a:gd fmla="val 16667" name="adj"/>
            </a:avLst>
          </a:prstGeom>
          <a:solidFill>
            <a:schemeClr val="accent1"/>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Tahoma"/>
              <a:buNone/>
            </a:pPr>
            <a:r>
              <a:rPr b="0" i="0" lang="en-US" sz="1600" u="none" cap="none" strike="noStrike">
                <a:solidFill>
                  <a:schemeClr val="dk1"/>
                </a:solidFill>
                <a:latin typeface="Tahoma"/>
                <a:ea typeface="Tahoma"/>
                <a:cs typeface="Tahoma"/>
                <a:sym typeface="Tahoma"/>
              </a:rPr>
              <a:t>1.1 Greed</a:t>
            </a:r>
            <a:endParaRPr/>
          </a:p>
        </p:txBody>
      </p:sp>
      <p:sp>
        <p:nvSpPr>
          <p:cNvPr id="287" name="Google Shape;287;p10"/>
          <p:cNvSpPr/>
          <p:nvPr/>
        </p:nvSpPr>
        <p:spPr>
          <a:xfrm>
            <a:off x="2266950" y="5707062"/>
            <a:ext cx="1184275" cy="384175"/>
          </a:xfrm>
          <a:prstGeom prst="roundRect">
            <a:avLst>
              <a:gd fmla="val 16667" name="adj"/>
            </a:avLst>
          </a:prstGeom>
          <a:solidFill>
            <a:schemeClr val="accent1"/>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Tahoma"/>
              <a:buNone/>
            </a:pPr>
            <a:r>
              <a:rPr b="0" i="0" lang="en-US" sz="1600" u="none" cap="none" strike="noStrike">
                <a:solidFill>
                  <a:schemeClr val="dk1"/>
                </a:solidFill>
                <a:latin typeface="Tahoma"/>
                <a:ea typeface="Tahoma"/>
                <a:cs typeface="Tahoma"/>
                <a:sym typeface="Tahoma"/>
              </a:rPr>
              <a:t>1.2 Avidity</a:t>
            </a:r>
            <a:endParaRPr/>
          </a:p>
        </p:txBody>
      </p:sp>
      <p:cxnSp>
        <p:nvCxnSpPr>
          <p:cNvPr id="288" name="Google Shape;288;p10"/>
          <p:cNvCxnSpPr/>
          <p:nvPr/>
        </p:nvCxnSpPr>
        <p:spPr>
          <a:xfrm flipH="1">
            <a:off x="2054225" y="4279900"/>
            <a:ext cx="2840037" cy="511175"/>
          </a:xfrm>
          <a:prstGeom prst="straightConnector1">
            <a:avLst/>
          </a:prstGeom>
          <a:noFill/>
          <a:ln cap="flat" cmpd="sng" w="19050">
            <a:solidFill>
              <a:schemeClr val="dk1"/>
            </a:solidFill>
            <a:prstDash val="solid"/>
            <a:miter lim="800000"/>
            <a:headEnd len="med" w="med" type="none"/>
            <a:tailEnd len="med" w="med" type="none"/>
          </a:ln>
        </p:spPr>
      </p:cxnSp>
      <p:cxnSp>
        <p:nvCxnSpPr>
          <p:cNvPr id="289" name="Google Shape;289;p10"/>
          <p:cNvCxnSpPr/>
          <p:nvPr/>
        </p:nvCxnSpPr>
        <p:spPr>
          <a:xfrm>
            <a:off x="4894262" y="4279900"/>
            <a:ext cx="1092200" cy="511175"/>
          </a:xfrm>
          <a:prstGeom prst="straightConnector1">
            <a:avLst/>
          </a:prstGeom>
          <a:noFill/>
          <a:ln cap="flat" cmpd="sng" w="19050">
            <a:solidFill>
              <a:schemeClr val="dk1"/>
            </a:solidFill>
            <a:prstDash val="solid"/>
            <a:miter lim="800000"/>
            <a:headEnd len="med" w="med" type="none"/>
            <a:tailEnd len="med" w="med" type="none"/>
          </a:ln>
        </p:spPr>
      </p:cxnSp>
      <p:cxnSp>
        <p:nvCxnSpPr>
          <p:cNvPr id="290" name="Google Shape;290;p10"/>
          <p:cNvCxnSpPr/>
          <p:nvPr/>
        </p:nvCxnSpPr>
        <p:spPr>
          <a:xfrm>
            <a:off x="4894262" y="4279900"/>
            <a:ext cx="3262312" cy="511175"/>
          </a:xfrm>
          <a:prstGeom prst="straightConnector1">
            <a:avLst/>
          </a:prstGeom>
          <a:noFill/>
          <a:ln cap="flat" cmpd="sng" w="19050">
            <a:solidFill>
              <a:schemeClr val="dk1"/>
            </a:solidFill>
            <a:prstDash val="solid"/>
            <a:miter lim="800000"/>
            <a:headEnd len="med" w="med" type="none"/>
            <a:tailEnd len="med" w="med" type="none"/>
          </a:ln>
        </p:spPr>
      </p:cxnSp>
      <p:cxnSp>
        <p:nvCxnSpPr>
          <p:cNvPr id="291" name="Google Shape;291;p10"/>
          <p:cNvCxnSpPr/>
          <p:nvPr/>
        </p:nvCxnSpPr>
        <p:spPr>
          <a:xfrm>
            <a:off x="5986462" y="5194300"/>
            <a:ext cx="4762" cy="368300"/>
          </a:xfrm>
          <a:prstGeom prst="straightConnector1">
            <a:avLst/>
          </a:prstGeom>
          <a:noFill/>
          <a:ln cap="flat" cmpd="sng" w="19050">
            <a:solidFill>
              <a:schemeClr val="dk1"/>
            </a:solidFill>
            <a:prstDash val="solid"/>
            <a:miter lim="800000"/>
            <a:headEnd len="med" w="med" type="none"/>
            <a:tailEnd len="med" w="med" type="none"/>
          </a:ln>
        </p:spPr>
      </p:cxnSp>
      <p:cxnSp>
        <p:nvCxnSpPr>
          <p:cNvPr id="292" name="Google Shape;292;p10"/>
          <p:cNvCxnSpPr/>
          <p:nvPr/>
        </p:nvCxnSpPr>
        <p:spPr>
          <a:xfrm flipH="1">
            <a:off x="4432300" y="5194300"/>
            <a:ext cx="1554162" cy="368300"/>
          </a:xfrm>
          <a:prstGeom prst="straightConnector1">
            <a:avLst/>
          </a:prstGeom>
          <a:noFill/>
          <a:ln cap="flat" cmpd="sng" w="19050">
            <a:solidFill>
              <a:schemeClr val="dk1"/>
            </a:solidFill>
            <a:prstDash val="solid"/>
            <a:miter lim="800000"/>
            <a:headEnd len="med" w="med" type="none"/>
            <a:tailEnd len="med" w="med" type="none"/>
          </a:ln>
        </p:spPr>
      </p:cxnSp>
      <p:cxnSp>
        <p:nvCxnSpPr>
          <p:cNvPr id="293" name="Google Shape;293;p10"/>
          <p:cNvCxnSpPr/>
          <p:nvPr/>
        </p:nvCxnSpPr>
        <p:spPr>
          <a:xfrm>
            <a:off x="2054225" y="5194300"/>
            <a:ext cx="804862" cy="503237"/>
          </a:xfrm>
          <a:prstGeom prst="straightConnector1">
            <a:avLst/>
          </a:prstGeom>
          <a:noFill/>
          <a:ln cap="flat" cmpd="sng" w="19050">
            <a:solidFill>
              <a:schemeClr val="dk1"/>
            </a:solidFill>
            <a:prstDash val="solid"/>
            <a:miter lim="800000"/>
            <a:headEnd len="med" w="med" type="none"/>
            <a:tailEnd len="med" w="med" type="none"/>
          </a:ln>
        </p:spPr>
      </p:cxnSp>
      <p:cxnSp>
        <p:nvCxnSpPr>
          <p:cNvPr id="294" name="Google Shape;294;p10"/>
          <p:cNvCxnSpPr/>
          <p:nvPr/>
        </p:nvCxnSpPr>
        <p:spPr>
          <a:xfrm flipH="1">
            <a:off x="1322387" y="5194300"/>
            <a:ext cx="731837" cy="503237"/>
          </a:xfrm>
          <a:prstGeom prst="straightConnector1">
            <a:avLst/>
          </a:prstGeom>
          <a:noFill/>
          <a:ln cap="flat" cmpd="sng" w="19050">
            <a:solidFill>
              <a:schemeClr val="dk1"/>
            </a:solidFill>
            <a:prstDash val="solid"/>
            <a:miter lim="800000"/>
            <a:headEnd len="med" w="med" type="none"/>
            <a:tailEnd len="med" w="med" type="none"/>
          </a:ln>
        </p:spPr>
      </p:cxnSp>
      <p:sp>
        <p:nvSpPr>
          <p:cNvPr id="295" name="Google Shape;295;p10"/>
          <p:cNvSpPr/>
          <p:nvPr/>
        </p:nvSpPr>
        <p:spPr>
          <a:xfrm>
            <a:off x="6838950" y="5570537"/>
            <a:ext cx="1044575" cy="654050"/>
          </a:xfrm>
          <a:prstGeom prst="roundRect">
            <a:avLst>
              <a:gd fmla="val 16667" name="adj"/>
            </a:avLst>
          </a:prstGeom>
          <a:solidFill>
            <a:schemeClr val="accent1"/>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Tahoma"/>
              <a:buNone/>
            </a:pPr>
            <a:r>
              <a:rPr b="0" i="0" lang="en-US" sz="1600" u="none" cap="none" strike="noStrike">
                <a:solidFill>
                  <a:schemeClr val="dk1"/>
                </a:solidFill>
                <a:latin typeface="Tahoma"/>
                <a:ea typeface="Tahoma"/>
                <a:cs typeface="Tahoma"/>
                <a:sym typeface="Tahoma"/>
              </a:rPr>
              <a:t>2.3 Bank</a:t>
            </a:r>
            <a:br>
              <a:rPr b="0" i="0" lang="en-US" sz="1600" u="none" cap="none" strike="noStrike">
                <a:solidFill>
                  <a:schemeClr val="dk1"/>
                </a:solidFill>
                <a:latin typeface="Tahoma"/>
                <a:ea typeface="Tahoma"/>
                <a:cs typeface="Tahoma"/>
                <a:sym typeface="Tahoma"/>
              </a:rPr>
            </a:br>
            <a:r>
              <a:rPr b="0" i="0" lang="en-US" sz="1600" u="none" cap="none" strike="noStrike">
                <a:solidFill>
                  <a:schemeClr val="dk1"/>
                </a:solidFill>
                <a:latin typeface="Tahoma"/>
                <a:ea typeface="Tahoma"/>
                <a:cs typeface="Tahoma"/>
                <a:sym typeface="Tahoma"/>
              </a:rPr>
              <a:t>Robbery</a:t>
            </a:r>
            <a:endParaRPr/>
          </a:p>
        </p:txBody>
      </p:sp>
      <p:cxnSp>
        <p:nvCxnSpPr>
          <p:cNvPr id="296" name="Google Shape;296;p10"/>
          <p:cNvCxnSpPr/>
          <p:nvPr/>
        </p:nvCxnSpPr>
        <p:spPr>
          <a:xfrm>
            <a:off x="5986462" y="5194300"/>
            <a:ext cx="1374775" cy="366712"/>
          </a:xfrm>
          <a:prstGeom prst="straightConnector1">
            <a:avLst/>
          </a:prstGeom>
          <a:noFill/>
          <a:ln cap="flat" cmpd="sng" w="19050">
            <a:solidFill>
              <a:schemeClr val="dk1"/>
            </a:solidFill>
            <a:prstDash val="solid"/>
            <a:miter lim="800000"/>
            <a:headEnd len="med" w="med" type="none"/>
            <a:tailEnd len="med" w="med" type="none"/>
          </a:ln>
        </p:spPr>
      </p:cxnSp>
      <p:sp>
        <p:nvSpPr>
          <p:cNvPr id="297" name="Google Shape;297;p10"/>
          <p:cNvSpPr txBox="1"/>
          <p:nvPr/>
        </p:nvSpPr>
        <p:spPr>
          <a:xfrm>
            <a:off x="3581400" y="3657600"/>
            <a:ext cx="322262"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2"/>
              </a:buClr>
              <a:buSzPts val="2000"/>
              <a:buFont typeface="Tahoma"/>
              <a:buNone/>
            </a:pPr>
            <a:r>
              <a:rPr b="0" i="0" lang="en-US" sz="2000" u="none" cap="none" strike="noStrike">
                <a:solidFill>
                  <a:schemeClr val="dk2"/>
                </a:solidFill>
                <a:latin typeface="Tahoma"/>
                <a:ea typeface="Tahoma"/>
                <a:cs typeface="Tahoma"/>
                <a:sym typeface="Tahoma"/>
              </a:rPr>
              <a:t>1</a:t>
            </a:r>
            <a:endParaRPr/>
          </a:p>
        </p:txBody>
      </p:sp>
      <p:sp>
        <p:nvSpPr>
          <p:cNvPr id="298" name="Google Shape;298;p10"/>
          <p:cNvSpPr txBox="1"/>
          <p:nvPr/>
        </p:nvSpPr>
        <p:spPr>
          <a:xfrm>
            <a:off x="1858962" y="4470400"/>
            <a:ext cx="322262"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2"/>
              </a:buClr>
              <a:buSzPts val="2000"/>
              <a:buFont typeface="Tahoma"/>
              <a:buNone/>
            </a:pPr>
            <a:r>
              <a:rPr b="0" i="0" lang="en-US" sz="2000" u="none" cap="none" strike="noStrike">
                <a:solidFill>
                  <a:schemeClr val="dk2"/>
                </a:solidFill>
                <a:latin typeface="Tahoma"/>
                <a:ea typeface="Tahoma"/>
                <a:cs typeface="Tahoma"/>
                <a:sym typeface="Tahoma"/>
              </a:rPr>
              <a:t>2</a:t>
            </a:r>
            <a:endParaRPr/>
          </a:p>
        </p:txBody>
      </p:sp>
      <p:sp>
        <p:nvSpPr>
          <p:cNvPr id="299" name="Google Shape;299;p10"/>
          <p:cNvSpPr txBox="1"/>
          <p:nvPr/>
        </p:nvSpPr>
        <p:spPr>
          <a:xfrm>
            <a:off x="1125537" y="5346700"/>
            <a:ext cx="322262"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2"/>
              </a:buClr>
              <a:buSzPts val="2000"/>
              <a:buFont typeface="Tahoma"/>
              <a:buNone/>
            </a:pPr>
            <a:r>
              <a:rPr b="0" i="0" lang="en-US" sz="2000" u="none" cap="none" strike="noStrike">
                <a:solidFill>
                  <a:schemeClr val="dk2"/>
                </a:solidFill>
                <a:latin typeface="Tahoma"/>
                <a:ea typeface="Tahoma"/>
                <a:cs typeface="Tahoma"/>
                <a:sym typeface="Tahoma"/>
              </a:rPr>
              <a:t>5</a:t>
            </a:r>
            <a:endParaRPr/>
          </a:p>
        </p:txBody>
      </p:sp>
      <p:sp>
        <p:nvSpPr>
          <p:cNvPr id="300" name="Google Shape;300;p10"/>
          <p:cNvSpPr txBox="1"/>
          <p:nvPr/>
        </p:nvSpPr>
        <p:spPr>
          <a:xfrm>
            <a:off x="5135562" y="4470400"/>
            <a:ext cx="322262"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2"/>
              </a:buClr>
              <a:buSzPts val="2000"/>
              <a:buFont typeface="Tahoma"/>
              <a:buNone/>
            </a:pPr>
            <a:r>
              <a:rPr b="0" i="0" lang="en-US" sz="2000" u="none" cap="none" strike="noStrike">
                <a:solidFill>
                  <a:schemeClr val="dk2"/>
                </a:solidFill>
                <a:latin typeface="Tahoma"/>
                <a:ea typeface="Tahoma"/>
                <a:cs typeface="Tahoma"/>
                <a:sym typeface="Tahoma"/>
              </a:rPr>
              <a:t>3</a:t>
            </a:r>
            <a:endParaRPr/>
          </a:p>
        </p:txBody>
      </p:sp>
      <p:sp>
        <p:nvSpPr>
          <p:cNvPr id="301" name="Google Shape;301;p10"/>
          <p:cNvSpPr txBox="1"/>
          <p:nvPr/>
        </p:nvSpPr>
        <p:spPr>
          <a:xfrm>
            <a:off x="2725737" y="5346700"/>
            <a:ext cx="322262"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2"/>
              </a:buClr>
              <a:buSzPts val="2000"/>
              <a:buFont typeface="Tahoma"/>
              <a:buNone/>
            </a:pPr>
            <a:r>
              <a:rPr b="0" i="0" lang="en-US" sz="2000" u="none" cap="none" strike="noStrike">
                <a:solidFill>
                  <a:schemeClr val="dk2"/>
                </a:solidFill>
                <a:latin typeface="Tahoma"/>
                <a:ea typeface="Tahoma"/>
                <a:cs typeface="Tahoma"/>
                <a:sym typeface="Tahoma"/>
              </a:rPr>
              <a:t>6</a:t>
            </a:r>
            <a:endParaRPr/>
          </a:p>
        </p:txBody>
      </p:sp>
      <p:sp>
        <p:nvSpPr>
          <p:cNvPr id="302" name="Google Shape;302;p10"/>
          <p:cNvSpPr txBox="1"/>
          <p:nvPr/>
        </p:nvSpPr>
        <p:spPr>
          <a:xfrm>
            <a:off x="4030662" y="5213350"/>
            <a:ext cx="322262"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2"/>
              </a:buClr>
              <a:buSzPts val="2000"/>
              <a:buFont typeface="Tahoma"/>
              <a:buNone/>
            </a:pPr>
            <a:r>
              <a:rPr b="0" i="0" lang="en-US" sz="2000" u="none" cap="none" strike="noStrike">
                <a:solidFill>
                  <a:schemeClr val="dk2"/>
                </a:solidFill>
                <a:latin typeface="Tahoma"/>
                <a:ea typeface="Tahoma"/>
                <a:cs typeface="Tahoma"/>
                <a:sym typeface="Tahoma"/>
              </a:rPr>
              <a:t>7</a:t>
            </a:r>
            <a:endParaRPr/>
          </a:p>
        </p:txBody>
      </p:sp>
      <p:sp>
        <p:nvSpPr>
          <p:cNvPr id="303" name="Google Shape;303;p10"/>
          <p:cNvSpPr txBox="1"/>
          <p:nvPr/>
        </p:nvSpPr>
        <p:spPr>
          <a:xfrm>
            <a:off x="5630862" y="5213350"/>
            <a:ext cx="322262"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2"/>
              </a:buClr>
              <a:buSzPts val="2000"/>
              <a:buFont typeface="Tahoma"/>
              <a:buNone/>
            </a:pPr>
            <a:r>
              <a:rPr b="0" i="0" lang="en-US" sz="2000" u="none" cap="none" strike="noStrike">
                <a:solidFill>
                  <a:schemeClr val="dk2"/>
                </a:solidFill>
                <a:latin typeface="Tahoma"/>
                <a:ea typeface="Tahoma"/>
                <a:cs typeface="Tahoma"/>
                <a:sym typeface="Tahoma"/>
              </a:rPr>
              <a:t>8</a:t>
            </a:r>
            <a:endParaRPr/>
          </a:p>
        </p:txBody>
      </p:sp>
      <p:sp>
        <p:nvSpPr>
          <p:cNvPr id="304" name="Google Shape;304;p10"/>
          <p:cNvSpPr txBox="1"/>
          <p:nvPr/>
        </p:nvSpPr>
        <p:spPr>
          <a:xfrm>
            <a:off x="7231062" y="5213350"/>
            <a:ext cx="322262"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2"/>
              </a:buClr>
              <a:buSzPts val="2000"/>
              <a:buFont typeface="Tahoma"/>
              <a:buNone/>
            </a:pPr>
            <a:r>
              <a:rPr b="0" i="0" lang="en-US" sz="2000" u="none" cap="none" strike="noStrike">
                <a:solidFill>
                  <a:schemeClr val="dk2"/>
                </a:solidFill>
                <a:latin typeface="Tahoma"/>
                <a:ea typeface="Tahoma"/>
                <a:cs typeface="Tahoma"/>
                <a:sym typeface="Tahoma"/>
              </a:rPr>
              <a:t>9</a:t>
            </a:r>
            <a:endParaRPr/>
          </a:p>
        </p:txBody>
      </p:sp>
      <p:sp>
        <p:nvSpPr>
          <p:cNvPr id="305" name="Google Shape;305;p10"/>
          <p:cNvSpPr txBox="1"/>
          <p:nvPr/>
        </p:nvSpPr>
        <p:spPr>
          <a:xfrm>
            <a:off x="8031162" y="4470400"/>
            <a:ext cx="322262"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2"/>
              </a:buClr>
              <a:buSzPts val="2000"/>
              <a:buFont typeface="Tahoma"/>
              <a:buNone/>
            </a:pPr>
            <a:r>
              <a:rPr b="0" i="0" lang="en-US" sz="2000" u="none" cap="none" strike="noStrike">
                <a:solidFill>
                  <a:schemeClr val="dk2"/>
                </a:solidFill>
                <a:latin typeface="Tahoma"/>
                <a:ea typeface="Tahoma"/>
                <a:cs typeface="Tahoma"/>
                <a:sym typeface="Tahoma"/>
              </a:rPr>
              <a:t>4</a:t>
            </a:r>
            <a:endParaRPr/>
          </a:p>
        </p:txBody>
      </p:sp>
      <p:sp>
        <p:nvSpPr>
          <p:cNvPr id="306" name="Google Shape;306;p10"/>
          <p:cNvSpPr txBox="1"/>
          <p:nvPr/>
        </p:nvSpPr>
        <p:spPr>
          <a:xfrm>
            <a:off x="4876800" y="1676400"/>
            <a:ext cx="4038600" cy="1809750"/>
          </a:xfrm>
          <a:prstGeom prst="rect">
            <a:avLst/>
          </a:prstGeom>
          <a:noFill/>
          <a:ln cap="flat" cmpd="sng" w="9525">
            <a:solidFill>
              <a:srgbClr val="0000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2200"/>
              <a:buFont typeface="Times New Roman"/>
              <a:buNone/>
            </a:pPr>
            <a:r>
              <a:rPr b="1" i="0" lang="en-US" sz="2200" u="none" cap="none" strike="noStrike">
                <a:solidFill>
                  <a:srgbClr val="000000"/>
                </a:solidFill>
                <a:latin typeface="Times New Roman"/>
                <a:ea typeface="Times New Roman"/>
                <a:cs typeface="Times New Roman"/>
                <a:sym typeface="Times New Roman"/>
              </a:rPr>
              <a:t>Algorithm</a:t>
            </a:r>
            <a:r>
              <a:rPr b="0" i="0" lang="en-US" sz="2200" u="none" cap="none" strike="noStrike">
                <a:solidFill>
                  <a:schemeClr val="dk1"/>
                </a:solidFill>
                <a:latin typeface="Times New Roman"/>
                <a:ea typeface="Times New Roman"/>
                <a:cs typeface="Times New Roman"/>
                <a:sym typeface="Times New Roman"/>
              </a:rPr>
              <a:t> </a:t>
            </a:r>
            <a:r>
              <a:rPr b="1" i="1" lang="en-US" sz="2200" u="none" cap="none" strike="noStrike">
                <a:solidFill>
                  <a:schemeClr val="dk2"/>
                </a:solidFill>
                <a:latin typeface="Times New Roman"/>
                <a:ea typeface="Times New Roman"/>
                <a:cs typeface="Times New Roman"/>
                <a:sym typeface="Times New Roman"/>
              </a:rPr>
              <a:t>breadthOrder</a:t>
            </a:r>
            <a:r>
              <a:rPr b="0" i="0" lang="en-US" sz="2200" u="none" cap="none" strike="noStrike">
                <a:solidFill>
                  <a:schemeClr val="dk2"/>
                </a:solidFill>
                <a:latin typeface="Times New Roman"/>
                <a:ea typeface="Times New Roman"/>
                <a:cs typeface="Times New Roman"/>
                <a:sym typeface="Times New Roman"/>
              </a:rPr>
              <a:t>(</a:t>
            </a:r>
            <a:r>
              <a:rPr b="1" i="1" lang="en-US" sz="2200" u="none" cap="none" strike="noStrike">
                <a:solidFill>
                  <a:schemeClr val="dk2"/>
                </a:solidFill>
                <a:latin typeface="Times New Roman"/>
                <a:ea typeface="Times New Roman"/>
                <a:cs typeface="Times New Roman"/>
                <a:sym typeface="Times New Roman"/>
              </a:rPr>
              <a:t>v</a:t>
            </a:r>
            <a:r>
              <a:rPr b="0" i="0" lang="en-US" sz="2200" u="none" cap="none" strike="noStrike">
                <a:solidFill>
                  <a:schemeClr val="dk2"/>
                </a:solidFill>
                <a:latin typeface="Times New Roman"/>
                <a:ea typeface="Times New Roman"/>
                <a:cs typeface="Times New Roman"/>
                <a:sym typeface="Times New Roman"/>
              </a:rPr>
              <a:t>)</a:t>
            </a:r>
            <a:endParaRPr b="0" i="0" sz="2200" u="none" cap="none" strike="noStrike">
              <a:solidFill>
                <a:schemeClr val="dk1"/>
              </a:solidFill>
              <a:latin typeface="Times New Roman"/>
              <a:ea typeface="Times New Roman"/>
              <a:cs typeface="Times New Roman"/>
              <a:sym typeface="Times New Roman"/>
            </a:endParaRPr>
          </a:p>
          <a:p>
            <a:pPr indent="0" lvl="1" marL="457200" marR="0" rtl="0" algn="l">
              <a:lnSpc>
                <a:spcPct val="90000"/>
              </a:lnSpc>
              <a:spcBef>
                <a:spcPts val="440"/>
              </a:spcBef>
              <a:spcAft>
                <a:spcPts val="0"/>
              </a:spcAft>
              <a:buClr>
                <a:schemeClr val="accent2"/>
              </a:buClr>
              <a:buSzPts val="2200"/>
              <a:buFont typeface="Times New Roman"/>
              <a:buNone/>
            </a:pPr>
            <a:r>
              <a:rPr b="1" i="1" lang="en-US" sz="2200" u="none" cap="none" strike="noStrike">
                <a:solidFill>
                  <a:schemeClr val="accent2"/>
                </a:solidFill>
                <a:latin typeface="Times New Roman"/>
                <a:ea typeface="Times New Roman"/>
                <a:cs typeface="Times New Roman"/>
                <a:sym typeface="Times New Roman"/>
              </a:rPr>
              <a:t>visit</a:t>
            </a:r>
            <a:r>
              <a:rPr b="0" i="0" lang="en-US" sz="2200" u="none" cap="none" strike="noStrike">
                <a:solidFill>
                  <a:schemeClr val="accent2"/>
                </a:solidFill>
                <a:latin typeface="Times New Roman"/>
                <a:ea typeface="Times New Roman"/>
                <a:cs typeface="Times New Roman"/>
                <a:sym typeface="Times New Roman"/>
              </a:rPr>
              <a:t>(</a:t>
            </a:r>
            <a:r>
              <a:rPr b="1" i="1" lang="en-US" sz="2200" u="none" cap="none" strike="noStrike">
                <a:solidFill>
                  <a:schemeClr val="accent2"/>
                </a:solidFill>
                <a:latin typeface="Times New Roman"/>
                <a:ea typeface="Times New Roman"/>
                <a:cs typeface="Times New Roman"/>
                <a:sym typeface="Times New Roman"/>
              </a:rPr>
              <a:t>v</a:t>
            </a:r>
            <a:r>
              <a:rPr b="0" i="0" lang="en-US" sz="2200" u="none" cap="none" strike="noStrike">
                <a:solidFill>
                  <a:schemeClr val="accent2"/>
                </a:solidFill>
                <a:latin typeface="Times New Roman"/>
                <a:ea typeface="Times New Roman"/>
                <a:cs typeface="Times New Roman"/>
                <a:sym typeface="Times New Roman"/>
              </a:rPr>
              <a:t>)</a:t>
            </a:r>
            <a:endParaRPr/>
          </a:p>
          <a:p>
            <a:pPr indent="0" lvl="1" marL="457200" marR="0" rtl="0" algn="l">
              <a:lnSpc>
                <a:spcPct val="90000"/>
              </a:lnSpc>
              <a:spcBef>
                <a:spcPts val="440"/>
              </a:spcBef>
              <a:spcAft>
                <a:spcPts val="0"/>
              </a:spcAft>
              <a:buClr>
                <a:schemeClr val="accent2"/>
              </a:buClr>
              <a:buSzPts val="2200"/>
              <a:buFont typeface="Times New Roman"/>
              <a:buNone/>
            </a:pPr>
            <a:r>
              <a:rPr b="0" i="0" lang="en-US" sz="2200" u="none" cap="none" strike="noStrike">
                <a:solidFill>
                  <a:schemeClr val="accent2"/>
                </a:solidFill>
                <a:latin typeface="Times New Roman"/>
                <a:ea typeface="Times New Roman"/>
                <a:cs typeface="Times New Roman"/>
                <a:sym typeface="Times New Roman"/>
              </a:rPr>
              <a:t>visit all childs v1,v2,.. of v</a:t>
            </a:r>
            <a:endParaRPr/>
          </a:p>
          <a:p>
            <a:pPr indent="0" lvl="1" marL="457200" marR="0" rtl="0" algn="l">
              <a:lnSpc>
                <a:spcPct val="90000"/>
              </a:lnSpc>
              <a:spcBef>
                <a:spcPts val="440"/>
              </a:spcBef>
              <a:spcAft>
                <a:spcPts val="0"/>
              </a:spcAft>
              <a:buClr>
                <a:schemeClr val="accent2"/>
              </a:buClr>
              <a:buSzPts val="2200"/>
              <a:buFont typeface="Arial"/>
              <a:buNone/>
            </a:pPr>
            <a:r>
              <a:rPr b="0" i="0" lang="en-US" sz="2200" u="none" cap="none" strike="noStrike">
                <a:solidFill>
                  <a:schemeClr val="accent2"/>
                </a:solidFill>
                <a:latin typeface="Arial"/>
                <a:ea typeface="Arial"/>
                <a:cs typeface="Arial"/>
                <a:sym typeface="Arial"/>
              </a:rPr>
              <a:t>visit all childs of v1, then all childs of v2,..</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10" name="Shape 310"/>
        <p:cNvGrpSpPr/>
        <p:nvPr/>
      </p:nvGrpSpPr>
      <p:grpSpPr>
        <a:xfrm>
          <a:off x="0" y="0"/>
          <a:ext cx="0" cy="0"/>
          <a:chOff x="0" y="0"/>
          <a:chExt cx="0" cy="0"/>
        </a:xfrm>
      </p:grpSpPr>
      <p:sp>
        <p:nvSpPr>
          <p:cNvPr id="311" name="Google Shape;311;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None/>
            </a:pPr>
            <a:fld id="{00000000-1234-1234-1234-123412341234}" type="slidenum">
              <a:rPr lang="en-US"/>
              <a:t>‹#›</a:t>
            </a:fld>
            <a:endParaRPr/>
          </a:p>
        </p:txBody>
      </p:sp>
      <p:sp>
        <p:nvSpPr>
          <p:cNvPr id="312" name="Google Shape;312;p11"/>
          <p:cNvSpPr txBox="1"/>
          <p:nvPr/>
        </p:nvSpPr>
        <p:spPr>
          <a:xfrm>
            <a:off x="2895600" y="6356350"/>
            <a:ext cx="3352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Data Structures and Algorithms in Java </a:t>
            </a:r>
            <a:endParaRPr/>
          </a:p>
        </p:txBody>
      </p:sp>
      <p:sp>
        <p:nvSpPr>
          <p:cNvPr id="313" name="Google Shape;313;p11"/>
          <p:cNvSpPr txBox="1"/>
          <p:nvPr>
            <p:ph idx="4294967295" type="body"/>
          </p:nvPr>
        </p:nvSpPr>
        <p:spPr>
          <a:xfrm>
            <a:off x="228600" y="1395412"/>
            <a:ext cx="8686800" cy="1736725"/>
          </a:xfrm>
          <a:prstGeom prst="rect">
            <a:avLst/>
          </a:prstGeom>
          <a:noFill/>
          <a:ln>
            <a:noFill/>
          </a:ln>
        </p:spPr>
        <p:txBody>
          <a:bodyPr anchorCtr="0" anchor="t" bIns="45700" lIns="91425" spcFirstLastPara="1" rIns="91425" wrap="square" tIns="45700">
            <a:spAutoFit/>
          </a:bodyPr>
          <a:lstStyle/>
          <a:p>
            <a:pPr indent="-319087" lvl="0" marL="319087" marR="0" rtl="0" algn="l">
              <a:lnSpc>
                <a:spcPct val="100000"/>
              </a:lnSpc>
              <a:spcBef>
                <a:spcPts val="0"/>
              </a:spcBef>
              <a:spcAft>
                <a:spcPts val="0"/>
              </a:spcAft>
              <a:buClr>
                <a:schemeClr val="dk1"/>
              </a:buClr>
              <a:buSzPts val="2700"/>
              <a:buFont typeface="Arial"/>
              <a:buChar char="•"/>
            </a:pPr>
            <a:r>
              <a:rPr b="0" i="0" lang="en-US" sz="2700" u="none" cap="none" strike="noStrike">
                <a:solidFill>
                  <a:schemeClr val="dk1"/>
                </a:solidFill>
                <a:latin typeface="Calibri"/>
                <a:ea typeface="Calibri"/>
                <a:cs typeface="Calibri"/>
                <a:sym typeface="Calibri"/>
              </a:rPr>
              <a:t>A </a:t>
            </a:r>
            <a:r>
              <a:rPr b="1" i="0" lang="en-US" sz="2700" u="none" cap="none" strike="noStrike">
                <a:solidFill>
                  <a:schemeClr val="dk1"/>
                </a:solidFill>
                <a:latin typeface="Calibri"/>
                <a:ea typeface="Calibri"/>
                <a:cs typeface="Calibri"/>
                <a:sym typeface="Calibri"/>
              </a:rPr>
              <a:t>binary tree</a:t>
            </a:r>
            <a:r>
              <a:rPr b="0" i="0" lang="en-US" sz="2700" u="none" cap="none" strike="noStrike">
                <a:solidFill>
                  <a:schemeClr val="dk1"/>
                </a:solidFill>
                <a:latin typeface="Calibri"/>
                <a:ea typeface="Calibri"/>
                <a:cs typeface="Calibri"/>
                <a:sym typeface="Calibri"/>
              </a:rPr>
              <a:t> is a tree in which each node has at most two children. (Thus an empty tree is an binary tree). Each child may be empty and designated as either a left child or a right child</a:t>
            </a:r>
            <a:r>
              <a:rPr b="1" i="0" lang="en-US" sz="2700" u="none" cap="none" strike="noStrike">
                <a:solidFill>
                  <a:schemeClr val="dk1"/>
                </a:solidFill>
                <a:latin typeface="Calibri"/>
                <a:ea typeface="Calibri"/>
                <a:cs typeface="Calibri"/>
                <a:sym typeface="Calibri"/>
              </a:rPr>
              <a:t>                   </a:t>
            </a:r>
            <a:endParaRPr/>
          </a:p>
        </p:txBody>
      </p:sp>
      <p:pic>
        <p:nvPicPr>
          <p:cNvPr id="314" name="Google Shape;314;p11"/>
          <p:cNvPicPr preferRelativeResize="0"/>
          <p:nvPr/>
        </p:nvPicPr>
        <p:blipFill rotWithShape="1">
          <a:blip r:embed="rId3">
            <a:alphaModFix/>
          </a:blip>
          <a:srcRect b="0" l="0" r="0" t="0"/>
          <a:stretch/>
        </p:blipFill>
        <p:spPr>
          <a:xfrm>
            <a:off x="838200" y="3221037"/>
            <a:ext cx="7359650" cy="2112962"/>
          </a:xfrm>
          <a:prstGeom prst="rect">
            <a:avLst/>
          </a:prstGeom>
          <a:noFill/>
          <a:ln>
            <a:noFill/>
          </a:ln>
        </p:spPr>
      </p:pic>
      <p:sp>
        <p:nvSpPr>
          <p:cNvPr id="315" name="Google Shape;315;p11"/>
          <p:cNvSpPr txBox="1"/>
          <p:nvPr/>
        </p:nvSpPr>
        <p:spPr>
          <a:xfrm>
            <a:off x="2209800" y="5448300"/>
            <a:ext cx="4724400"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Examples of binary trees</a:t>
            </a:r>
            <a:endParaRPr/>
          </a:p>
        </p:txBody>
      </p:sp>
      <p:sp>
        <p:nvSpPr>
          <p:cNvPr id="316" name="Google Shape;316;p11"/>
          <p:cNvSpPr txBox="1"/>
          <p:nvPr/>
        </p:nvSpPr>
        <p:spPr>
          <a:xfrm>
            <a:off x="914400" y="381000"/>
            <a:ext cx="7010400" cy="701675"/>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CC3300"/>
              </a:buClr>
              <a:buSzPts val="4000"/>
              <a:buFont typeface="Calibri"/>
              <a:buNone/>
            </a:pPr>
            <a:r>
              <a:rPr b="1" i="0" lang="en-US" sz="4000" u="none" cap="none" strike="noStrike">
                <a:solidFill>
                  <a:srgbClr val="CC3300"/>
                </a:solidFill>
                <a:latin typeface="Calibri"/>
                <a:ea typeface="Calibri"/>
                <a:cs typeface="Calibri"/>
                <a:sym typeface="Calibri"/>
              </a:rPr>
              <a:t>Binary Trees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21" name="Shape 321"/>
        <p:cNvGrpSpPr/>
        <p:nvPr/>
      </p:nvGrpSpPr>
      <p:grpSpPr>
        <a:xfrm>
          <a:off x="0" y="0"/>
          <a:ext cx="0" cy="0"/>
          <a:chOff x="0" y="0"/>
          <a:chExt cx="0" cy="0"/>
        </a:xfrm>
      </p:grpSpPr>
      <p:sp>
        <p:nvSpPr>
          <p:cNvPr id="322" name="Google Shape;322;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None/>
            </a:pPr>
            <a:fld id="{00000000-1234-1234-1234-123412341234}" type="slidenum">
              <a:rPr lang="en-US"/>
              <a:t>‹#›</a:t>
            </a:fld>
            <a:endParaRPr/>
          </a:p>
        </p:txBody>
      </p:sp>
      <p:sp>
        <p:nvSpPr>
          <p:cNvPr id="323" name="Google Shape;323;p12"/>
          <p:cNvSpPr txBox="1"/>
          <p:nvPr/>
        </p:nvSpPr>
        <p:spPr>
          <a:xfrm>
            <a:off x="2895600" y="6356350"/>
            <a:ext cx="3352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Data Structures and Algorithms in Java </a:t>
            </a:r>
            <a:endParaRPr/>
          </a:p>
        </p:txBody>
      </p:sp>
      <p:sp>
        <p:nvSpPr>
          <p:cNvPr id="324" name="Google Shape;324;p12"/>
          <p:cNvSpPr txBox="1"/>
          <p:nvPr>
            <p:ph idx="4294967295" type="body"/>
          </p:nvPr>
        </p:nvSpPr>
        <p:spPr>
          <a:xfrm>
            <a:off x="457200" y="1447800"/>
            <a:ext cx="8229600" cy="1625600"/>
          </a:xfrm>
          <a:prstGeom prst="rect">
            <a:avLst/>
          </a:prstGeom>
          <a:noFill/>
          <a:ln>
            <a:noFill/>
          </a:ln>
        </p:spPr>
        <p:txBody>
          <a:bodyPr anchorCtr="0" anchor="t" bIns="45700" lIns="91425" spcFirstLastPara="1" rIns="91425" wrap="square" tIns="45700">
            <a:spAutoFit/>
          </a:bodyPr>
          <a:lstStyle/>
          <a:p>
            <a:pPr indent="-319087" lvl="0" marL="319087"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In a </a:t>
            </a:r>
            <a:r>
              <a:rPr b="1" i="0" lang="en-US" sz="2400" u="none" cap="none" strike="noStrike">
                <a:solidFill>
                  <a:schemeClr val="dk1"/>
                </a:solidFill>
                <a:latin typeface="Calibri"/>
                <a:ea typeface="Calibri"/>
                <a:cs typeface="Calibri"/>
                <a:sym typeface="Calibri"/>
              </a:rPr>
              <a:t>proper binary tree </a:t>
            </a:r>
            <a:r>
              <a:rPr b="0" i="0" lang="en-US" sz="2400" u="none" cap="none" strike="noStrike">
                <a:solidFill>
                  <a:schemeClr val="dk1"/>
                </a:solidFill>
                <a:latin typeface="Calibri"/>
                <a:ea typeface="Calibri"/>
                <a:cs typeface="Calibri"/>
                <a:sym typeface="Calibri"/>
              </a:rPr>
              <a:t>(sometimes </a:t>
            </a:r>
            <a:r>
              <a:rPr b="1" i="0" lang="en-US" sz="2400" u="none" cap="none" strike="noStrike">
                <a:solidFill>
                  <a:schemeClr val="dk1"/>
                </a:solidFill>
                <a:latin typeface="Calibri"/>
                <a:ea typeface="Calibri"/>
                <a:cs typeface="Calibri"/>
                <a:sym typeface="Calibri"/>
              </a:rPr>
              <a:t>full binary tree </a:t>
            </a:r>
            <a:r>
              <a:rPr b="0" i="0" lang="en-US" sz="2400" u="none" cap="none" strike="noStrike">
                <a:solidFill>
                  <a:schemeClr val="dk1"/>
                </a:solidFill>
                <a:latin typeface="Calibri"/>
                <a:ea typeface="Calibri"/>
                <a:cs typeface="Calibri"/>
                <a:sym typeface="Calibri"/>
              </a:rPr>
              <a:t>or </a:t>
            </a:r>
            <a:r>
              <a:rPr b="1" i="0" lang="en-US" sz="2400" u="none" cap="none" strike="noStrike">
                <a:solidFill>
                  <a:schemeClr val="dk1"/>
                </a:solidFill>
                <a:latin typeface="Calibri"/>
                <a:ea typeface="Calibri"/>
                <a:cs typeface="Calibri"/>
                <a:sym typeface="Calibri"/>
              </a:rPr>
              <a:t>2-tree</a:t>
            </a:r>
            <a:r>
              <a:rPr b="0" i="0" lang="en-US" sz="2400" u="none" cap="none" strike="noStrike">
                <a:solidFill>
                  <a:schemeClr val="dk1"/>
                </a:solidFill>
                <a:latin typeface="Calibri"/>
                <a:ea typeface="Calibri"/>
                <a:cs typeface="Calibri"/>
                <a:sym typeface="Calibri"/>
              </a:rPr>
              <a:t>), every node other than the leaves has two children.</a:t>
            </a:r>
            <a:endParaRPr/>
          </a:p>
          <a:p>
            <a:pPr indent="-319087" lvl="0" marL="319087" marR="0" rtl="0" algn="l">
              <a:lnSpc>
                <a:spcPct val="100000"/>
              </a:lnSpc>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In a </a:t>
            </a:r>
            <a:r>
              <a:rPr b="1" i="0" lang="en-US" sz="2400" u="none" cap="none" strike="noStrike">
                <a:solidFill>
                  <a:schemeClr val="dk1"/>
                </a:solidFill>
                <a:latin typeface="Calibri"/>
                <a:ea typeface="Calibri"/>
                <a:cs typeface="Calibri"/>
                <a:sym typeface="Calibri"/>
              </a:rPr>
              <a:t>complete binary tree</a:t>
            </a:r>
            <a:r>
              <a:rPr b="0" i="0" lang="en-US" sz="2400" u="none" cap="none" strike="noStrike">
                <a:solidFill>
                  <a:schemeClr val="dk1"/>
                </a:solidFill>
                <a:latin typeface="Calibri"/>
                <a:ea typeface="Calibri"/>
                <a:cs typeface="Calibri"/>
                <a:sym typeface="Calibri"/>
              </a:rPr>
              <a:t>, all non-terminal nodes have both their children, and all leaves are at the same level.</a:t>
            </a:r>
            <a:endParaRPr/>
          </a:p>
        </p:txBody>
      </p:sp>
      <p:sp>
        <p:nvSpPr>
          <p:cNvPr id="325" name="Google Shape;325;p12"/>
          <p:cNvSpPr txBox="1"/>
          <p:nvPr/>
        </p:nvSpPr>
        <p:spPr>
          <a:xfrm>
            <a:off x="5410200" y="5740400"/>
            <a:ext cx="2195512"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Arial"/>
              <a:buNone/>
            </a:pPr>
            <a:r>
              <a:rPr b="1" i="1" lang="en-US" sz="1400" u="none" cap="none" strike="noStrike">
                <a:solidFill>
                  <a:schemeClr val="dk1"/>
                </a:solidFill>
                <a:latin typeface="Arial"/>
                <a:ea typeface="Arial"/>
                <a:cs typeface="Arial"/>
                <a:sym typeface="Arial"/>
              </a:rPr>
              <a:t>A Complete Binary Tree</a:t>
            </a:r>
            <a:endParaRPr/>
          </a:p>
        </p:txBody>
      </p:sp>
      <p:pic>
        <p:nvPicPr>
          <p:cNvPr id="326" name="Google Shape;326;p12"/>
          <p:cNvPicPr preferRelativeResize="0"/>
          <p:nvPr/>
        </p:nvPicPr>
        <p:blipFill rotWithShape="1">
          <a:blip r:embed="rId3">
            <a:alphaModFix/>
          </a:blip>
          <a:srcRect b="0" l="0" r="0" t="0"/>
          <a:stretch/>
        </p:blipFill>
        <p:spPr>
          <a:xfrm>
            <a:off x="3886200" y="3259137"/>
            <a:ext cx="4876800" cy="2341562"/>
          </a:xfrm>
          <a:prstGeom prst="rect">
            <a:avLst/>
          </a:prstGeom>
          <a:noFill/>
          <a:ln>
            <a:noFill/>
          </a:ln>
        </p:spPr>
      </p:pic>
      <p:pic>
        <p:nvPicPr>
          <p:cNvPr id="327" name="Google Shape;327;p12"/>
          <p:cNvPicPr preferRelativeResize="0"/>
          <p:nvPr/>
        </p:nvPicPr>
        <p:blipFill rotWithShape="1">
          <a:blip r:embed="rId4">
            <a:alphaModFix/>
          </a:blip>
          <a:srcRect b="23889" l="58332" r="18843" t="41311"/>
          <a:stretch/>
        </p:blipFill>
        <p:spPr>
          <a:xfrm>
            <a:off x="685800" y="3406775"/>
            <a:ext cx="2743200" cy="2603500"/>
          </a:xfrm>
          <a:prstGeom prst="rect">
            <a:avLst/>
          </a:prstGeom>
          <a:noFill/>
          <a:ln>
            <a:noFill/>
          </a:ln>
        </p:spPr>
      </p:pic>
      <p:sp>
        <p:nvSpPr>
          <p:cNvPr id="328" name="Google Shape;328;p12"/>
          <p:cNvSpPr txBox="1"/>
          <p:nvPr/>
        </p:nvSpPr>
        <p:spPr>
          <a:xfrm>
            <a:off x="2209800" y="5740400"/>
            <a:ext cx="1701800" cy="304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Arial"/>
              <a:buNone/>
            </a:pPr>
            <a:r>
              <a:rPr b="1" i="1" lang="en-US" sz="1400" u="none" cap="none" strike="noStrike">
                <a:solidFill>
                  <a:schemeClr val="dk1"/>
                </a:solidFill>
                <a:latin typeface="Arial"/>
                <a:ea typeface="Arial"/>
                <a:cs typeface="Arial"/>
                <a:sym typeface="Arial"/>
              </a:rPr>
              <a:t>A Full Binary Tree</a:t>
            </a:r>
            <a:endParaRPr/>
          </a:p>
        </p:txBody>
      </p:sp>
      <p:sp>
        <p:nvSpPr>
          <p:cNvPr id="329" name="Google Shape;329;p12"/>
          <p:cNvSpPr txBox="1"/>
          <p:nvPr/>
        </p:nvSpPr>
        <p:spPr>
          <a:xfrm>
            <a:off x="914400" y="457200"/>
            <a:ext cx="7010400" cy="701675"/>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CC3300"/>
              </a:buClr>
              <a:buSzPts val="4000"/>
              <a:buFont typeface="Calibri"/>
              <a:buNone/>
            </a:pPr>
            <a:r>
              <a:rPr b="1" i="0" lang="en-US" sz="4000" u="none" cap="none" strike="noStrike">
                <a:solidFill>
                  <a:srgbClr val="CC3300"/>
                </a:solidFill>
                <a:latin typeface="Calibri"/>
                <a:ea typeface="Calibri"/>
                <a:cs typeface="Calibri"/>
                <a:sym typeface="Calibri"/>
              </a:rPr>
              <a:t>Types of Binary Trees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34" name="Shape 334"/>
        <p:cNvGrpSpPr/>
        <p:nvPr/>
      </p:nvGrpSpPr>
      <p:grpSpPr>
        <a:xfrm>
          <a:off x="0" y="0"/>
          <a:ext cx="0" cy="0"/>
          <a:chOff x="0" y="0"/>
          <a:chExt cx="0" cy="0"/>
        </a:xfrm>
      </p:grpSpPr>
      <p:sp>
        <p:nvSpPr>
          <p:cNvPr id="335" name="Google Shape;335;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None/>
            </a:pPr>
            <a:fld id="{00000000-1234-1234-1234-123412341234}" type="slidenum">
              <a:rPr lang="en-US"/>
              <a:t>‹#›</a:t>
            </a:fld>
            <a:endParaRPr/>
          </a:p>
        </p:txBody>
      </p:sp>
      <p:sp>
        <p:nvSpPr>
          <p:cNvPr id="336" name="Google Shape;336;p13"/>
          <p:cNvSpPr txBox="1"/>
          <p:nvPr/>
        </p:nvSpPr>
        <p:spPr>
          <a:xfrm>
            <a:off x="2895600" y="6356350"/>
            <a:ext cx="3352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Data Structures and Algorithms in Java </a:t>
            </a:r>
            <a:endParaRPr/>
          </a:p>
        </p:txBody>
      </p:sp>
      <p:sp>
        <p:nvSpPr>
          <p:cNvPr id="337" name="Google Shape;337;p13"/>
          <p:cNvSpPr txBox="1"/>
          <p:nvPr/>
        </p:nvSpPr>
        <p:spPr>
          <a:xfrm>
            <a:off x="685800" y="407987"/>
            <a:ext cx="7696200" cy="64770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CC3300"/>
              </a:buClr>
              <a:buSzPts val="3600"/>
              <a:buFont typeface="Calibri"/>
              <a:buNone/>
            </a:pPr>
            <a:r>
              <a:rPr b="1" i="0" lang="en-US" sz="3600" u="none" cap="none" strike="noStrike">
                <a:solidFill>
                  <a:srgbClr val="CC3300"/>
                </a:solidFill>
                <a:latin typeface="Calibri"/>
                <a:ea typeface="Calibri"/>
                <a:cs typeface="Calibri"/>
                <a:sym typeface="Calibri"/>
              </a:rPr>
              <a:t>Binary Tree example – Expression Tree</a:t>
            </a:r>
            <a:endParaRPr/>
          </a:p>
        </p:txBody>
      </p:sp>
      <p:sp>
        <p:nvSpPr>
          <p:cNvPr id="338" name="Google Shape;338;p13"/>
          <p:cNvSpPr txBox="1"/>
          <p:nvPr/>
        </p:nvSpPr>
        <p:spPr>
          <a:xfrm>
            <a:off x="228600" y="1219200"/>
            <a:ext cx="8610600" cy="19383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Typical arithmetic expression tree is a proper binary tree, since each operator +,  −,  ∗, and / takes exactly two operands. Of course, if we were to allow unary operators, like negation (−), as in “−</a:t>
            </a:r>
            <a:r>
              <a:rPr b="0" i="1" lang="en-US" sz="2400" u="none" cap="none" strike="noStrike">
                <a:solidFill>
                  <a:schemeClr val="dk1"/>
                </a:solidFill>
                <a:latin typeface="Arial"/>
                <a:ea typeface="Arial"/>
                <a:cs typeface="Arial"/>
                <a:sym typeface="Arial"/>
              </a:rPr>
              <a:t>x,” then we could have an improper binary </a:t>
            </a:r>
            <a:r>
              <a:rPr b="0" i="0" lang="en-US" sz="2400" u="none" cap="none" strike="noStrike">
                <a:solidFill>
                  <a:schemeClr val="dk1"/>
                </a:solidFill>
                <a:latin typeface="Arial"/>
                <a:ea typeface="Arial"/>
                <a:cs typeface="Arial"/>
                <a:sym typeface="Arial"/>
              </a:rPr>
              <a:t>tree.</a:t>
            </a:r>
            <a:endParaRPr/>
          </a:p>
        </p:txBody>
      </p:sp>
      <p:pic>
        <p:nvPicPr>
          <p:cNvPr id="339" name="Google Shape;339;p13"/>
          <p:cNvPicPr preferRelativeResize="0"/>
          <p:nvPr/>
        </p:nvPicPr>
        <p:blipFill rotWithShape="1">
          <a:blip r:embed="rId3">
            <a:alphaModFix/>
          </a:blip>
          <a:srcRect b="38207" l="27082" r="22916" t="33332"/>
          <a:stretch/>
        </p:blipFill>
        <p:spPr>
          <a:xfrm>
            <a:off x="457200" y="3124200"/>
            <a:ext cx="7924800" cy="28194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43" name="Shape 343"/>
        <p:cNvGrpSpPr/>
        <p:nvPr/>
      </p:nvGrpSpPr>
      <p:grpSpPr>
        <a:xfrm>
          <a:off x="0" y="0"/>
          <a:ext cx="0" cy="0"/>
          <a:chOff x="0" y="0"/>
          <a:chExt cx="0" cy="0"/>
        </a:xfrm>
      </p:grpSpPr>
      <p:sp>
        <p:nvSpPr>
          <p:cNvPr id="344" name="Google Shape;344;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None/>
            </a:pPr>
            <a:fld id="{00000000-1234-1234-1234-123412341234}" type="slidenum">
              <a:rPr lang="en-US"/>
              <a:t>‹#›</a:t>
            </a:fld>
            <a:endParaRPr/>
          </a:p>
        </p:txBody>
      </p:sp>
      <p:sp>
        <p:nvSpPr>
          <p:cNvPr id="345" name="Google Shape;345;p14"/>
          <p:cNvSpPr txBox="1"/>
          <p:nvPr/>
        </p:nvSpPr>
        <p:spPr>
          <a:xfrm>
            <a:off x="2895600" y="6356350"/>
            <a:ext cx="3352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Data Structures and Algorithms in Java </a:t>
            </a:r>
            <a:endParaRPr/>
          </a:p>
        </p:txBody>
      </p:sp>
      <p:sp>
        <p:nvSpPr>
          <p:cNvPr id="346" name="Google Shape;346;p14"/>
          <p:cNvSpPr txBox="1"/>
          <p:nvPr>
            <p:ph idx="4294967295" type="title"/>
          </p:nvPr>
        </p:nvSpPr>
        <p:spPr>
          <a:xfrm>
            <a:off x="914400" y="495300"/>
            <a:ext cx="6781800" cy="701675"/>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CC3300"/>
              </a:buClr>
              <a:buSzPts val="4000"/>
              <a:buFont typeface="Calibri"/>
              <a:buNone/>
            </a:pPr>
            <a:r>
              <a:rPr b="1" i="0" lang="en-US" sz="4000" u="none" cap="none" strike="noStrike">
                <a:solidFill>
                  <a:srgbClr val="CC3300"/>
                </a:solidFill>
                <a:latin typeface="Calibri"/>
                <a:ea typeface="Calibri"/>
                <a:cs typeface="Calibri"/>
                <a:sym typeface="Calibri"/>
              </a:rPr>
              <a:t>Binary Tree Traversals</a:t>
            </a:r>
            <a:endParaRPr/>
          </a:p>
        </p:txBody>
      </p:sp>
      <p:sp>
        <p:nvSpPr>
          <p:cNvPr id="347" name="Google Shape;347;p14"/>
          <p:cNvSpPr txBox="1"/>
          <p:nvPr>
            <p:ph idx="4294967295" type="body"/>
          </p:nvPr>
        </p:nvSpPr>
        <p:spPr>
          <a:xfrm>
            <a:off x="381000" y="1435100"/>
            <a:ext cx="8153400" cy="1552575"/>
          </a:xfrm>
          <a:prstGeom prst="rect">
            <a:avLst/>
          </a:prstGeom>
          <a:noFill/>
          <a:ln>
            <a:noFill/>
          </a:ln>
        </p:spPr>
        <p:txBody>
          <a:bodyPr anchorCtr="0" anchor="t" bIns="45700" lIns="91425" spcFirstLastPara="1" rIns="91425" wrap="square" tIns="45700">
            <a:spAutoFit/>
          </a:bodyPr>
          <a:lstStyle/>
          <a:p>
            <a:pPr indent="-319087" lvl="0" marL="319087" marR="0" rtl="0" algn="l">
              <a:lnSpc>
                <a:spcPct val="100000"/>
              </a:lnSpc>
              <a:spcBef>
                <a:spcPts val="0"/>
              </a:spcBef>
              <a:spcAft>
                <a:spcPts val="0"/>
              </a:spcAft>
              <a:buClr>
                <a:schemeClr val="dk1"/>
              </a:buClr>
              <a:buSzPts val="2400"/>
              <a:buFont typeface="Arial"/>
              <a:buChar char="•"/>
            </a:pPr>
            <a:r>
              <a:rPr b="1" i="0" lang="en-US" sz="2400" u="none" cap="none" strike="noStrike">
                <a:solidFill>
                  <a:schemeClr val="dk1"/>
                </a:solidFill>
                <a:latin typeface="Calibri"/>
                <a:ea typeface="Calibri"/>
                <a:cs typeface="Calibri"/>
                <a:sym typeface="Calibri"/>
              </a:rPr>
              <a:t>Breadth-first traversal</a:t>
            </a:r>
            <a:r>
              <a:rPr b="0" i="1" lang="en-US" sz="2400" u="none" cap="none" strike="noStrike">
                <a:solidFill>
                  <a:schemeClr val="dk1"/>
                </a:solidFill>
                <a:latin typeface="Calibri"/>
                <a:ea typeface="Calibri"/>
                <a:cs typeface="Calibri"/>
                <a:sym typeface="Calibri"/>
              </a:rPr>
              <a:t> </a:t>
            </a:r>
            <a:r>
              <a:rPr b="0" i="0" lang="en-US" sz="2400" u="none" cap="none" strike="noStrike">
                <a:solidFill>
                  <a:schemeClr val="dk1"/>
                </a:solidFill>
                <a:latin typeface="Calibri"/>
                <a:ea typeface="Calibri"/>
                <a:cs typeface="Calibri"/>
                <a:sym typeface="Calibri"/>
              </a:rPr>
              <a:t>is visiting each node starting from the lowest (or highest) level and moving down (or up) level by level, visiting nodes on each level from left to right (or from right to left)</a:t>
            </a:r>
            <a:endParaRPr/>
          </a:p>
        </p:txBody>
      </p:sp>
      <p:pic>
        <p:nvPicPr>
          <p:cNvPr id="348" name="Google Shape;348;p14"/>
          <p:cNvPicPr preferRelativeResize="0"/>
          <p:nvPr/>
        </p:nvPicPr>
        <p:blipFill rotWithShape="1">
          <a:blip r:embed="rId3">
            <a:alphaModFix/>
          </a:blip>
          <a:srcRect b="23889" l="58332" r="18843" t="41311"/>
          <a:stretch/>
        </p:blipFill>
        <p:spPr>
          <a:xfrm>
            <a:off x="5029200" y="3492500"/>
            <a:ext cx="2743200" cy="2603500"/>
          </a:xfrm>
          <a:prstGeom prst="rect">
            <a:avLst/>
          </a:prstGeom>
          <a:noFill/>
          <a:ln>
            <a:noFill/>
          </a:ln>
        </p:spPr>
      </p:pic>
      <p:sp>
        <p:nvSpPr>
          <p:cNvPr id="349" name="Google Shape;349;p14"/>
          <p:cNvSpPr txBox="1"/>
          <p:nvPr/>
        </p:nvSpPr>
        <p:spPr>
          <a:xfrm>
            <a:off x="762000" y="4316412"/>
            <a:ext cx="3810000" cy="1004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Breadth-first traversal:</a:t>
            </a:r>
            <a:endParaRPr/>
          </a:p>
          <a:p>
            <a:pPr indent="0" lvl="0" marL="0" marR="0" rtl="0" algn="l">
              <a:lnSpc>
                <a:spcPct val="100000"/>
              </a:lnSpc>
              <a:spcBef>
                <a:spcPts val="120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A, B, C, D, E, F, G, H, I</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53" name="Shape 353"/>
        <p:cNvGrpSpPr/>
        <p:nvPr/>
      </p:nvGrpSpPr>
      <p:grpSpPr>
        <a:xfrm>
          <a:off x="0" y="0"/>
          <a:ext cx="0" cy="0"/>
          <a:chOff x="0" y="0"/>
          <a:chExt cx="0" cy="0"/>
        </a:xfrm>
      </p:grpSpPr>
      <p:sp>
        <p:nvSpPr>
          <p:cNvPr id="354" name="Google Shape;354;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None/>
            </a:pPr>
            <a:fld id="{00000000-1234-1234-1234-123412341234}" type="slidenum">
              <a:rPr lang="en-US"/>
              <a:t>‹#›</a:t>
            </a:fld>
            <a:endParaRPr/>
          </a:p>
        </p:txBody>
      </p:sp>
      <p:sp>
        <p:nvSpPr>
          <p:cNvPr id="355" name="Google Shape;355;p15"/>
          <p:cNvSpPr txBox="1"/>
          <p:nvPr/>
        </p:nvSpPr>
        <p:spPr>
          <a:xfrm>
            <a:off x="2895600" y="6356350"/>
            <a:ext cx="3352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Data Structures and Algorithms in Java </a:t>
            </a:r>
            <a:endParaRPr/>
          </a:p>
        </p:txBody>
      </p:sp>
      <p:sp>
        <p:nvSpPr>
          <p:cNvPr id="356" name="Google Shape;356;p15"/>
          <p:cNvSpPr txBox="1"/>
          <p:nvPr>
            <p:ph idx="4294967295" type="title"/>
          </p:nvPr>
        </p:nvSpPr>
        <p:spPr>
          <a:xfrm>
            <a:off x="457200" y="495300"/>
            <a:ext cx="8229600" cy="701675"/>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CC3300"/>
              </a:buClr>
              <a:buSzPts val="4000"/>
              <a:buFont typeface="Calibri"/>
              <a:buNone/>
            </a:pPr>
            <a:r>
              <a:rPr b="1" i="0" lang="en-US" sz="4000" u="none" cap="none" strike="noStrike">
                <a:solidFill>
                  <a:srgbClr val="CC3300"/>
                </a:solidFill>
                <a:latin typeface="Calibri"/>
                <a:ea typeface="Calibri"/>
                <a:cs typeface="Calibri"/>
                <a:sym typeface="Calibri"/>
              </a:rPr>
              <a:t>Depth-First Traversals</a:t>
            </a:r>
            <a:endParaRPr/>
          </a:p>
        </p:txBody>
      </p:sp>
      <p:sp>
        <p:nvSpPr>
          <p:cNvPr id="357" name="Google Shape;357;p15"/>
          <p:cNvSpPr txBox="1"/>
          <p:nvPr/>
        </p:nvSpPr>
        <p:spPr>
          <a:xfrm>
            <a:off x="0" y="1271587"/>
            <a:ext cx="533400" cy="244475"/>
          </a:xfrm>
          <a:prstGeom prst="rect">
            <a:avLst/>
          </a:prstGeom>
          <a:noFill/>
          <a:ln>
            <a:noFill/>
          </a:ln>
        </p:spPr>
        <p:txBody>
          <a:bodyPr anchorCtr="0" anchor="ctr" bIns="45700" lIns="91425" spcFirstLastPara="1" rIns="91425" wrap="square" tIns="45700">
            <a:normAutofit/>
          </a:bodyPr>
          <a:lstStyle/>
          <a:p>
            <a:pPr indent="0" lvl="0" marL="0" marR="0" rtl="0" algn="ctr">
              <a:lnSpc>
                <a:spcPct val="80000"/>
              </a:lnSpc>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 </a:t>
            </a:r>
            <a:fld id="{00000000-1234-1234-1234-123412341234}" type="slidenum">
              <a:rPr b="1" i="0" lang="en-US" sz="1200" u="none" cap="none" strike="noStrike">
                <a:solidFill>
                  <a:srgbClr val="FFFFFF"/>
                </a:solidFill>
                <a:latin typeface="Arial"/>
                <a:ea typeface="Arial"/>
                <a:cs typeface="Arial"/>
                <a:sym typeface="Arial"/>
              </a:rPr>
              <a:t>‹#›</a:t>
            </a:fld>
            <a:endParaRPr/>
          </a:p>
        </p:txBody>
      </p:sp>
      <p:sp>
        <p:nvSpPr>
          <p:cNvPr id="358" name="Google Shape;358;p15"/>
          <p:cNvSpPr txBox="1"/>
          <p:nvPr/>
        </p:nvSpPr>
        <p:spPr>
          <a:xfrm>
            <a:off x="228600" y="2133600"/>
            <a:ext cx="4038600" cy="1766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200"/>
              <a:buFont typeface="Arial"/>
              <a:buNone/>
            </a:pPr>
            <a:r>
              <a:rPr b="1" i="0" lang="en-US" sz="2200" u="none" cap="none" strike="noStrike">
                <a:solidFill>
                  <a:schemeClr val="dk1"/>
                </a:solidFill>
                <a:latin typeface="Arial"/>
                <a:ea typeface="Arial"/>
                <a:cs typeface="Arial"/>
                <a:sym typeface="Arial"/>
              </a:rPr>
              <a:t>Pre-order (NLR)</a:t>
            </a:r>
            <a:endParaRPr/>
          </a:p>
          <a:p>
            <a:pPr indent="0" lvl="0" marL="0" marR="0" rtl="0" algn="l">
              <a:lnSpc>
                <a:spcPct val="100000"/>
              </a:lnSpc>
              <a:spcBef>
                <a:spcPts val="0"/>
              </a:spcBef>
              <a:spcAft>
                <a:spcPts val="0"/>
              </a:spcAft>
              <a:buClr>
                <a:srgbClr val="000000"/>
              </a:buClr>
              <a:buSzPts val="2200"/>
              <a:buFont typeface="Arial"/>
              <a:buNone/>
            </a:pPr>
            <a:r>
              <a:rPr b="1" i="0" lang="en-US" sz="2200" u="none" cap="none" strike="noStrike">
                <a:solidFill>
                  <a:srgbClr val="000000"/>
                </a:solidFill>
                <a:latin typeface="Arial"/>
                <a:ea typeface="Arial"/>
                <a:cs typeface="Arial"/>
                <a:sym typeface="Arial"/>
              </a:rPr>
              <a:t>Algorithm</a:t>
            </a:r>
            <a:r>
              <a:rPr b="0" i="0" lang="en-US" sz="2200" u="none" cap="none" strike="noStrike">
                <a:solidFill>
                  <a:schemeClr val="dk1"/>
                </a:solidFill>
                <a:latin typeface="Arial"/>
                <a:ea typeface="Arial"/>
                <a:cs typeface="Arial"/>
                <a:sym typeface="Arial"/>
              </a:rPr>
              <a:t> </a:t>
            </a:r>
            <a:r>
              <a:rPr b="1" i="1" lang="en-US" sz="2200" u="none" cap="none" strike="noStrike">
                <a:solidFill>
                  <a:schemeClr val="dk2"/>
                </a:solidFill>
                <a:latin typeface="Arial"/>
                <a:ea typeface="Arial"/>
                <a:cs typeface="Arial"/>
                <a:sym typeface="Arial"/>
              </a:rPr>
              <a:t>preOrder</a:t>
            </a:r>
            <a:r>
              <a:rPr b="0" i="0" lang="en-US" sz="2200" u="none" cap="none" strike="noStrike">
                <a:solidFill>
                  <a:schemeClr val="dk2"/>
                </a:solidFill>
                <a:latin typeface="Arial"/>
                <a:ea typeface="Arial"/>
                <a:cs typeface="Arial"/>
                <a:sym typeface="Arial"/>
              </a:rPr>
              <a:t>(</a:t>
            </a:r>
            <a:r>
              <a:rPr b="1" i="1" lang="en-US" sz="2200" u="none" cap="none" strike="noStrike">
                <a:solidFill>
                  <a:schemeClr val="dk2"/>
                </a:solidFill>
                <a:latin typeface="Arial"/>
                <a:ea typeface="Arial"/>
                <a:cs typeface="Arial"/>
                <a:sym typeface="Arial"/>
              </a:rPr>
              <a:t>v</a:t>
            </a:r>
            <a:r>
              <a:rPr b="0" i="0" lang="en-US" sz="2200" u="none" cap="none" strike="noStrike">
                <a:solidFill>
                  <a:schemeClr val="dk2"/>
                </a:solidFill>
                <a:latin typeface="Arial"/>
                <a:ea typeface="Arial"/>
                <a:cs typeface="Arial"/>
                <a:sym typeface="Arial"/>
              </a:rPr>
              <a:t>)</a:t>
            </a:r>
            <a:endParaRPr b="0" i="0" sz="2200" u="none" cap="none" strike="noStrike">
              <a:solidFill>
                <a:schemeClr val="dk1"/>
              </a:solidFill>
              <a:latin typeface="Arial"/>
              <a:ea typeface="Arial"/>
              <a:cs typeface="Arial"/>
              <a:sym typeface="Arial"/>
            </a:endParaRPr>
          </a:p>
          <a:p>
            <a:pPr indent="0" lvl="1" marL="457200" marR="0" rtl="0" algn="l">
              <a:lnSpc>
                <a:spcPct val="100000"/>
              </a:lnSpc>
              <a:spcBef>
                <a:spcPts val="0"/>
              </a:spcBef>
              <a:spcAft>
                <a:spcPts val="0"/>
              </a:spcAft>
              <a:buClr>
                <a:schemeClr val="accent2"/>
              </a:buClr>
              <a:buSzPts val="2200"/>
              <a:buFont typeface="Arial"/>
              <a:buNone/>
            </a:pPr>
            <a:r>
              <a:rPr b="1" i="1" lang="en-US" sz="2200" u="none" cap="none" strike="noStrike">
                <a:solidFill>
                  <a:schemeClr val="accent2"/>
                </a:solidFill>
                <a:latin typeface="Arial"/>
                <a:ea typeface="Arial"/>
                <a:cs typeface="Arial"/>
                <a:sym typeface="Arial"/>
              </a:rPr>
              <a:t>visit</a:t>
            </a:r>
            <a:r>
              <a:rPr b="0" i="0" lang="en-US" sz="2200" u="none" cap="none" strike="noStrike">
                <a:solidFill>
                  <a:schemeClr val="accent2"/>
                </a:solidFill>
                <a:latin typeface="Arial"/>
                <a:ea typeface="Arial"/>
                <a:cs typeface="Arial"/>
                <a:sym typeface="Arial"/>
              </a:rPr>
              <a:t>(</a:t>
            </a:r>
            <a:r>
              <a:rPr b="1" i="1" lang="en-US" sz="2200" u="none" cap="none" strike="noStrike">
                <a:solidFill>
                  <a:schemeClr val="accent2"/>
                </a:solidFill>
                <a:latin typeface="Arial"/>
                <a:ea typeface="Arial"/>
                <a:cs typeface="Arial"/>
                <a:sym typeface="Arial"/>
              </a:rPr>
              <a:t>v</a:t>
            </a:r>
            <a:r>
              <a:rPr b="0" i="0" lang="en-US" sz="2200" u="none" cap="none" strike="noStrike">
                <a:solidFill>
                  <a:schemeClr val="accent2"/>
                </a:solidFill>
                <a:latin typeface="Arial"/>
                <a:ea typeface="Arial"/>
                <a:cs typeface="Arial"/>
                <a:sym typeface="Arial"/>
              </a:rPr>
              <a:t>)</a:t>
            </a:r>
            <a:endParaRPr/>
          </a:p>
          <a:p>
            <a:pPr indent="0" lvl="1" marL="457200" marR="0" rtl="0" algn="l">
              <a:lnSpc>
                <a:spcPct val="100000"/>
              </a:lnSpc>
              <a:spcBef>
                <a:spcPts val="0"/>
              </a:spcBef>
              <a:spcAft>
                <a:spcPts val="0"/>
              </a:spcAft>
              <a:buClr>
                <a:schemeClr val="accent2"/>
              </a:buClr>
              <a:buSzPts val="2200"/>
              <a:buFont typeface="Arial"/>
              <a:buNone/>
            </a:pPr>
            <a:r>
              <a:rPr b="1" i="1" lang="en-US" sz="2200" u="none" cap="none" strike="noStrike">
                <a:solidFill>
                  <a:schemeClr val="accent2"/>
                </a:solidFill>
                <a:latin typeface="Arial"/>
                <a:ea typeface="Arial"/>
                <a:cs typeface="Arial"/>
                <a:sym typeface="Arial"/>
              </a:rPr>
              <a:t>preOrder</a:t>
            </a:r>
            <a:r>
              <a:rPr b="0" i="0" lang="en-US" sz="2200" u="none" cap="none" strike="noStrike">
                <a:solidFill>
                  <a:schemeClr val="accent2"/>
                </a:solidFill>
                <a:latin typeface="Arial"/>
                <a:ea typeface="Arial"/>
                <a:cs typeface="Arial"/>
                <a:sym typeface="Arial"/>
              </a:rPr>
              <a:t> (left child of v)</a:t>
            </a:r>
            <a:endParaRPr/>
          </a:p>
          <a:p>
            <a:pPr indent="0" lvl="1" marL="457200" marR="0" rtl="0" algn="l">
              <a:lnSpc>
                <a:spcPct val="100000"/>
              </a:lnSpc>
              <a:spcBef>
                <a:spcPts val="0"/>
              </a:spcBef>
              <a:spcAft>
                <a:spcPts val="0"/>
              </a:spcAft>
              <a:buClr>
                <a:schemeClr val="accent2"/>
              </a:buClr>
              <a:buSzPts val="2200"/>
              <a:buFont typeface="Arial"/>
              <a:buNone/>
            </a:pPr>
            <a:r>
              <a:rPr b="1" i="1" lang="en-US" sz="2200" u="none" cap="none" strike="noStrike">
                <a:solidFill>
                  <a:schemeClr val="accent2"/>
                </a:solidFill>
                <a:latin typeface="Arial"/>
                <a:ea typeface="Arial"/>
                <a:cs typeface="Arial"/>
                <a:sym typeface="Arial"/>
              </a:rPr>
              <a:t>preOrder</a:t>
            </a:r>
            <a:r>
              <a:rPr b="0" i="0" lang="en-US" sz="2200" u="none" cap="none" strike="noStrike">
                <a:solidFill>
                  <a:schemeClr val="accent2"/>
                </a:solidFill>
                <a:latin typeface="Arial"/>
                <a:ea typeface="Arial"/>
                <a:cs typeface="Arial"/>
                <a:sym typeface="Arial"/>
              </a:rPr>
              <a:t> (right child of v)</a:t>
            </a:r>
            <a:r>
              <a:rPr b="0" i="0" lang="en-US" sz="2200" u="none" cap="none" strike="noStrike">
                <a:solidFill>
                  <a:schemeClr val="dk1"/>
                </a:solidFill>
                <a:latin typeface="Arial"/>
                <a:ea typeface="Arial"/>
                <a:cs typeface="Arial"/>
                <a:sym typeface="Arial"/>
              </a:rPr>
              <a:t> </a:t>
            </a:r>
            <a:endParaRPr/>
          </a:p>
        </p:txBody>
      </p:sp>
      <p:sp>
        <p:nvSpPr>
          <p:cNvPr id="359" name="Google Shape;359;p15"/>
          <p:cNvSpPr txBox="1"/>
          <p:nvPr/>
        </p:nvSpPr>
        <p:spPr>
          <a:xfrm>
            <a:off x="381000" y="1295400"/>
            <a:ext cx="7543800" cy="519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N = node, L = left, R = right </a:t>
            </a:r>
            <a:endParaRPr/>
          </a:p>
        </p:txBody>
      </p:sp>
      <p:sp>
        <p:nvSpPr>
          <p:cNvPr id="360" name="Google Shape;360;p15"/>
          <p:cNvSpPr txBox="1"/>
          <p:nvPr/>
        </p:nvSpPr>
        <p:spPr>
          <a:xfrm>
            <a:off x="4800600" y="2120900"/>
            <a:ext cx="3886200" cy="1766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200"/>
              <a:buFont typeface="Arial"/>
              <a:buNone/>
            </a:pPr>
            <a:r>
              <a:rPr b="1" i="0" lang="en-US" sz="2200" u="none" cap="none" strike="noStrike">
                <a:solidFill>
                  <a:schemeClr val="dk1"/>
                </a:solidFill>
                <a:latin typeface="Arial"/>
                <a:ea typeface="Arial"/>
                <a:cs typeface="Arial"/>
                <a:sym typeface="Arial"/>
              </a:rPr>
              <a:t>In-order (LNR)</a:t>
            </a:r>
            <a:endParaRPr/>
          </a:p>
          <a:p>
            <a:pPr indent="0" lvl="0" marL="0" marR="0" rtl="0" algn="l">
              <a:lnSpc>
                <a:spcPct val="100000"/>
              </a:lnSpc>
              <a:spcBef>
                <a:spcPts val="0"/>
              </a:spcBef>
              <a:spcAft>
                <a:spcPts val="0"/>
              </a:spcAft>
              <a:buClr>
                <a:srgbClr val="000000"/>
              </a:buClr>
              <a:buSzPts val="2200"/>
              <a:buFont typeface="Arial"/>
              <a:buNone/>
            </a:pPr>
            <a:r>
              <a:rPr b="1" i="0" lang="en-US" sz="2200" u="none" cap="none" strike="noStrike">
                <a:solidFill>
                  <a:srgbClr val="000000"/>
                </a:solidFill>
                <a:latin typeface="Arial"/>
                <a:ea typeface="Arial"/>
                <a:cs typeface="Arial"/>
                <a:sym typeface="Arial"/>
              </a:rPr>
              <a:t>Algorithm</a:t>
            </a:r>
            <a:r>
              <a:rPr b="0" i="0" lang="en-US" sz="2200" u="none" cap="none" strike="noStrike">
                <a:solidFill>
                  <a:schemeClr val="dk1"/>
                </a:solidFill>
                <a:latin typeface="Arial"/>
                <a:ea typeface="Arial"/>
                <a:cs typeface="Arial"/>
                <a:sym typeface="Arial"/>
              </a:rPr>
              <a:t> </a:t>
            </a:r>
            <a:r>
              <a:rPr b="1" i="1" lang="en-US" sz="2200" u="none" cap="none" strike="noStrike">
                <a:solidFill>
                  <a:schemeClr val="dk2"/>
                </a:solidFill>
                <a:latin typeface="Arial"/>
                <a:ea typeface="Arial"/>
                <a:cs typeface="Arial"/>
                <a:sym typeface="Arial"/>
              </a:rPr>
              <a:t>inOrder</a:t>
            </a:r>
            <a:r>
              <a:rPr b="0" i="0" lang="en-US" sz="2200" u="none" cap="none" strike="noStrike">
                <a:solidFill>
                  <a:schemeClr val="dk2"/>
                </a:solidFill>
                <a:latin typeface="Arial"/>
                <a:ea typeface="Arial"/>
                <a:cs typeface="Arial"/>
                <a:sym typeface="Arial"/>
              </a:rPr>
              <a:t>(</a:t>
            </a:r>
            <a:r>
              <a:rPr b="1" i="1" lang="en-US" sz="2200" u="none" cap="none" strike="noStrike">
                <a:solidFill>
                  <a:schemeClr val="dk2"/>
                </a:solidFill>
                <a:latin typeface="Arial"/>
                <a:ea typeface="Arial"/>
                <a:cs typeface="Arial"/>
                <a:sym typeface="Arial"/>
              </a:rPr>
              <a:t>v</a:t>
            </a:r>
            <a:r>
              <a:rPr b="0" i="0" lang="en-US" sz="2200" u="none" cap="none" strike="noStrike">
                <a:solidFill>
                  <a:schemeClr val="dk2"/>
                </a:solidFill>
                <a:latin typeface="Arial"/>
                <a:ea typeface="Arial"/>
                <a:cs typeface="Arial"/>
                <a:sym typeface="Arial"/>
              </a:rPr>
              <a:t>)</a:t>
            </a:r>
            <a:endParaRPr b="0" i="0" sz="2200" u="none" cap="none" strike="noStrike">
              <a:solidFill>
                <a:schemeClr val="dk1"/>
              </a:solidFill>
              <a:latin typeface="Arial"/>
              <a:ea typeface="Arial"/>
              <a:cs typeface="Arial"/>
              <a:sym typeface="Arial"/>
            </a:endParaRPr>
          </a:p>
          <a:p>
            <a:pPr indent="0" lvl="1" marL="457200" marR="0" rtl="0" algn="l">
              <a:lnSpc>
                <a:spcPct val="100000"/>
              </a:lnSpc>
              <a:spcBef>
                <a:spcPts val="0"/>
              </a:spcBef>
              <a:spcAft>
                <a:spcPts val="0"/>
              </a:spcAft>
              <a:buClr>
                <a:schemeClr val="accent2"/>
              </a:buClr>
              <a:buSzPts val="2200"/>
              <a:buFont typeface="Arial"/>
              <a:buNone/>
            </a:pPr>
            <a:r>
              <a:rPr b="1" i="1" lang="en-US" sz="2200" u="none" cap="none" strike="noStrike">
                <a:solidFill>
                  <a:schemeClr val="accent2"/>
                </a:solidFill>
                <a:latin typeface="Arial"/>
                <a:ea typeface="Arial"/>
                <a:cs typeface="Arial"/>
                <a:sym typeface="Arial"/>
              </a:rPr>
              <a:t>inOrder</a:t>
            </a:r>
            <a:r>
              <a:rPr b="0" i="0" lang="en-US" sz="2200" u="none" cap="none" strike="noStrike">
                <a:solidFill>
                  <a:schemeClr val="accent2"/>
                </a:solidFill>
                <a:latin typeface="Arial"/>
                <a:ea typeface="Arial"/>
                <a:cs typeface="Arial"/>
                <a:sym typeface="Arial"/>
              </a:rPr>
              <a:t> (left child of v)</a:t>
            </a:r>
            <a:endParaRPr/>
          </a:p>
          <a:p>
            <a:pPr indent="0" lvl="1" marL="457200" marR="0" rtl="0" algn="l">
              <a:lnSpc>
                <a:spcPct val="100000"/>
              </a:lnSpc>
              <a:spcBef>
                <a:spcPts val="0"/>
              </a:spcBef>
              <a:spcAft>
                <a:spcPts val="0"/>
              </a:spcAft>
              <a:buClr>
                <a:schemeClr val="accent2"/>
              </a:buClr>
              <a:buSzPts val="2200"/>
              <a:buFont typeface="Arial"/>
              <a:buNone/>
            </a:pPr>
            <a:r>
              <a:rPr b="1" i="1" lang="en-US" sz="2200" u="none" cap="none" strike="noStrike">
                <a:solidFill>
                  <a:schemeClr val="accent2"/>
                </a:solidFill>
                <a:latin typeface="Arial"/>
                <a:ea typeface="Arial"/>
                <a:cs typeface="Arial"/>
                <a:sym typeface="Arial"/>
              </a:rPr>
              <a:t>visit</a:t>
            </a:r>
            <a:r>
              <a:rPr b="0" i="0" lang="en-US" sz="2200" u="none" cap="none" strike="noStrike">
                <a:solidFill>
                  <a:schemeClr val="accent2"/>
                </a:solidFill>
                <a:latin typeface="Arial"/>
                <a:ea typeface="Arial"/>
                <a:cs typeface="Arial"/>
                <a:sym typeface="Arial"/>
              </a:rPr>
              <a:t>(</a:t>
            </a:r>
            <a:r>
              <a:rPr b="1" i="1" lang="en-US" sz="2200" u="none" cap="none" strike="noStrike">
                <a:solidFill>
                  <a:schemeClr val="accent2"/>
                </a:solidFill>
                <a:latin typeface="Arial"/>
                <a:ea typeface="Arial"/>
                <a:cs typeface="Arial"/>
                <a:sym typeface="Arial"/>
              </a:rPr>
              <a:t>v</a:t>
            </a:r>
            <a:r>
              <a:rPr b="0" i="0" lang="en-US" sz="2200" u="none" cap="none" strike="noStrike">
                <a:solidFill>
                  <a:schemeClr val="accent2"/>
                </a:solidFill>
                <a:latin typeface="Arial"/>
                <a:ea typeface="Arial"/>
                <a:cs typeface="Arial"/>
                <a:sym typeface="Arial"/>
              </a:rPr>
              <a:t>)</a:t>
            </a:r>
            <a:endParaRPr/>
          </a:p>
          <a:p>
            <a:pPr indent="0" lvl="1" marL="457200" marR="0" rtl="0" algn="l">
              <a:lnSpc>
                <a:spcPct val="100000"/>
              </a:lnSpc>
              <a:spcBef>
                <a:spcPts val="0"/>
              </a:spcBef>
              <a:spcAft>
                <a:spcPts val="0"/>
              </a:spcAft>
              <a:buClr>
                <a:schemeClr val="accent2"/>
              </a:buClr>
              <a:buSzPts val="2200"/>
              <a:buFont typeface="Arial"/>
              <a:buNone/>
            </a:pPr>
            <a:r>
              <a:rPr b="1" i="1" lang="en-US" sz="2200" u="none" cap="none" strike="noStrike">
                <a:solidFill>
                  <a:schemeClr val="accent2"/>
                </a:solidFill>
                <a:latin typeface="Arial"/>
                <a:ea typeface="Arial"/>
                <a:cs typeface="Arial"/>
                <a:sym typeface="Arial"/>
              </a:rPr>
              <a:t>inOrder</a:t>
            </a:r>
            <a:r>
              <a:rPr b="0" i="0" lang="en-US" sz="2200" u="none" cap="none" strike="noStrike">
                <a:solidFill>
                  <a:schemeClr val="accent2"/>
                </a:solidFill>
                <a:latin typeface="Arial"/>
                <a:ea typeface="Arial"/>
                <a:cs typeface="Arial"/>
                <a:sym typeface="Arial"/>
              </a:rPr>
              <a:t> (right child of v)</a:t>
            </a:r>
            <a:r>
              <a:rPr b="0" i="0" lang="en-US" sz="2200" u="none" cap="none" strike="noStrike">
                <a:solidFill>
                  <a:schemeClr val="dk1"/>
                </a:solidFill>
                <a:latin typeface="Arial"/>
                <a:ea typeface="Arial"/>
                <a:cs typeface="Arial"/>
                <a:sym typeface="Arial"/>
              </a:rPr>
              <a:t> </a:t>
            </a:r>
            <a:endParaRPr/>
          </a:p>
        </p:txBody>
      </p:sp>
      <p:sp>
        <p:nvSpPr>
          <p:cNvPr id="361" name="Google Shape;361;p15"/>
          <p:cNvSpPr txBox="1"/>
          <p:nvPr/>
        </p:nvSpPr>
        <p:spPr>
          <a:xfrm>
            <a:off x="2819400" y="4254500"/>
            <a:ext cx="4267200" cy="1766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200"/>
              <a:buFont typeface="Arial"/>
              <a:buNone/>
            </a:pPr>
            <a:r>
              <a:rPr b="1" i="0" lang="en-US" sz="2200" u="none" cap="none" strike="noStrike">
                <a:solidFill>
                  <a:schemeClr val="dk1"/>
                </a:solidFill>
                <a:latin typeface="Arial"/>
                <a:ea typeface="Arial"/>
                <a:cs typeface="Arial"/>
                <a:sym typeface="Arial"/>
              </a:rPr>
              <a:t>Post-order (LRN)</a:t>
            </a:r>
            <a:endParaRPr/>
          </a:p>
          <a:p>
            <a:pPr indent="0" lvl="0" marL="0" marR="0" rtl="0" algn="l">
              <a:lnSpc>
                <a:spcPct val="100000"/>
              </a:lnSpc>
              <a:spcBef>
                <a:spcPts val="0"/>
              </a:spcBef>
              <a:spcAft>
                <a:spcPts val="0"/>
              </a:spcAft>
              <a:buClr>
                <a:srgbClr val="000000"/>
              </a:buClr>
              <a:buSzPts val="2200"/>
              <a:buFont typeface="Arial"/>
              <a:buNone/>
            </a:pPr>
            <a:r>
              <a:rPr b="1" i="0" lang="en-US" sz="2200" u="none" cap="none" strike="noStrike">
                <a:solidFill>
                  <a:srgbClr val="000000"/>
                </a:solidFill>
                <a:latin typeface="Arial"/>
                <a:ea typeface="Arial"/>
                <a:cs typeface="Arial"/>
                <a:sym typeface="Arial"/>
              </a:rPr>
              <a:t>Algorithm</a:t>
            </a:r>
            <a:r>
              <a:rPr b="0" i="0" lang="en-US" sz="2200" u="none" cap="none" strike="noStrike">
                <a:solidFill>
                  <a:schemeClr val="dk1"/>
                </a:solidFill>
                <a:latin typeface="Arial"/>
                <a:ea typeface="Arial"/>
                <a:cs typeface="Arial"/>
                <a:sym typeface="Arial"/>
              </a:rPr>
              <a:t> </a:t>
            </a:r>
            <a:r>
              <a:rPr b="1" i="1" lang="en-US" sz="2200" u="none" cap="none" strike="noStrike">
                <a:solidFill>
                  <a:schemeClr val="dk2"/>
                </a:solidFill>
                <a:latin typeface="Arial"/>
                <a:ea typeface="Arial"/>
                <a:cs typeface="Arial"/>
                <a:sym typeface="Arial"/>
              </a:rPr>
              <a:t>postOrder</a:t>
            </a:r>
            <a:r>
              <a:rPr b="0" i="0" lang="en-US" sz="2200" u="none" cap="none" strike="noStrike">
                <a:solidFill>
                  <a:schemeClr val="dk2"/>
                </a:solidFill>
                <a:latin typeface="Arial"/>
                <a:ea typeface="Arial"/>
                <a:cs typeface="Arial"/>
                <a:sym typeface="Arial"/>
              </a:rPr>
              <a:t>(</a:t>
            </a:r>
            <a:r>
              <a:rPr b="1" i="1" lang="en-US" sz="2200" u="none" cap="none" strike="noStrike">
                <a:solidFill>
                  <a:schemeClr val="dk2"/>
                </a:solidFill>
                <a:latin typeface="Arial"/>
                <a:ea typeface="Arial"/>
                <a:cs typeface="Arial"/>
                <a:sym typeface="Arial"/>
              </a:rPr>
              <a:t>v</a:t>
            </a:r>
            <a:r>
              <a:rPr b="0" i="0" lang="en-US" sz="2200" u="none" cap="none" strike="noStrike">
                <a:solidFill>
                  <a:schemeClr val="dk2"/>
                </a:solidFill>
                <a:latin typeface="Arial"/>
                <a:ea typeface="Arial"/>
                <a:cs typeface="Arial"/>
                <a:sym typeface="Arial"/>
              </a:rPr>
              <a:t>)</a:t>
            </a:r>
            <a:endParaRPr b="0" i="0" sz="2200" u="none" cap="none" strike="noStrike">
              <a:solidFill>
                <a:schemeClr val="dk1"/>
              </a:solidFill>
              <a:latin typeface="Arial"/>
              <a:ea typeface="Arial"/>
              <a:cs typeface="Arial"/>
              <a:sym typeface="Arial"/>
            </a:endParaRPr>
          </a:p>
          <a:p>
            <a:pPr indent="0" lvl="1" marL="457200" marR="0" rtl="0" algn="l">
              <a:lnSpc>
                <a:spcPct val="100000"/>
              </a:lnSpc>
              <a:spcBef>
                <a:spcPts val="0"/>
              </a:spcBef>
              <a:spcAft>
                <a:spcPts val="0"/>
              </a:spcAft>
              <a:buClr>
                <a:schemeClr val="accent2"/>
              </a:buClr>
              <a:buSzPts val="2200"/>
              <a:buFont typeface="Arial"/>
              <a:buNone/>
            </a:pPr>
            <a:r>
              <a:rPr b="1" i="1" lang="en-US" sz="2200" u="none" cap="none" strike="noStrike">
                <a:solidFill>
                  <a:schemeClr val="accent2"/>
                </a:solidFill>
                <a:latin typeface="Arial"/>
                <a:ea typeface="Arial"/>
                <a:cs typeface="Arial"/>
                <a:sym typeface="Arial"/>
              </a:rPr>
              <a:t>postOrder</a:t>
            </a:r>
            <a:r>
              <a:rPr b="0" i="0" lang="en-US" sz="2200" u="none" cap="none" strike="noStrike">
                <a:solidFill>
                  <a:schemeClr val="accent2"/>
                </a:solidFill>
                <a:latin typeface="Arial"/>
                <a:ea typeface="Arial"/>
                <a:cs typeface="Arial"/>
                <a:sym typeface="Arial"/>
              </a:rPr>
              <a:t> (left child of v)</a:t>
            </a:r>
            <a:endParaRPr/>
          </a:p>
          <a:p>
            <a:pPr indent="0" lvl="1" marL="457200" marR="0" rtl="0" algn="l">
              <a:lnSpc>
                <a:spcPct val="100000"/>
              </a:lnSpc>
              <a:spcBef>
                <a:spcPts val="0"/>
              </a:spcBef>
              <a:spcAft>
                <a:spcPts val="0"/>
              </a:spcAft>
              <a:buClr>
                <a:schemeClr val="accent2"/>
              </a:buClr>
              <a:buSzPts val="2200"/>
              <a:buFont typeface="Arial"/>
              <a:buNone/>
            </a:pPr>
            <a:r>
              <a:rPr b="1" i="1" lang="en-US" sz="2200" u="none" cap="none" strike="noStrike">
                <a:solidFill>
                  <a:schemeClr val="accent2"/>
                </a:solidFill>
                <a:latin typeface="Arial"/>
                <a:ea typeface="Arial"/>
                <a:cs typeface="Arial"/>
                <a:sym typeface="Arial"/>
              </a:rPr>
              <a:t>postOrder</a:t>
            </a:r>
            <a:r>
              <a:rPr b="0" i="0" lang="en-US" sz="2200" u="none" cap="none" strike="noStrike">
                <a:solidFill>
                  <a:schemeClr val="accent2"/>
                </a:solidFill>
                <a:latin typeface="Arial"/>
                <a:ea typeface="Arial"/>
                <a:cs typeface="Arial"/>
                <a:sym typeface="Arial"/>
              </a:rPr>
              <a:t> (right child of v)</a:t>
            </a:r>
            <a:r>
              <a:rPr b="0" i="0" lang="en-US" sz="2200" u="none" cap="none" strike="noStrike">
                <a:solidFill>
                  <a:schemeClr val="dk1"/>
                </a:solidFill>
                <a:latin typeface="Arial"/>
                <a:ea typeface="Arial"/>
                <a:cs typeface="Arial"/>
                <a:sym typeface="Arial"/>
              </a:rPr>
              <a:t> </a:t>
            </a:r>
            <a:endParaRPr/>
          </a:p>
          <a:p>
            <a:pPr indent="0" lvl="1" marL="457200" marR="0" rtl="0" algn="l">
              <a:lnSpc>
                <a:spcPct val="100000"/>
              </a:lnSpc>
              <a:spcBef>
                <a:spcPts val="0"/>
              </a:spcBef>
              <a:spcAft>
                <a:spcPts val="0"/>
              </a:spcAft>
              <a:buClr>
                <a:schemeClr val="accent2"/>
              </a:buClr>
              <a:buSzPts val="2200"/>
              <a:buFont typeface="Arial"/>
              <a:buNone/>
            </a:pPr>
            <a:r>
              <a:rPr b="1" i="1" lang="en-US" sz="2200" u="none" cap="none" strike="noStrike">
                <a:solidFill>
                  <a:schemeClr val="accent2"/>
                </a:solidFill>
                <a:latin typeface="Arial"/>
                <a:ea typeface="Arial"/>
                <a:cs typeface="Arial"/>
                <a:sym typeface="Arial"/>
              </a:rPr>
              <a:t>visit</a:t>
            </a:r>
            <a:r>
              <a:rPr b="0" i="0" lang="en-US" sz="2200" u="none" cap="none" strike="noStrike">
                <a:solidFill>
                  <a:schemeClr val="accent2"/>
                </a:solidFill>
                <a:latin typeface="Arial"/>
                <a:ea typeface="Arial"/>
                <a:cs typeface="Arial"/>
                <a:sym typeface="Arial"/>
              </a:rPr>
              <a:t>(</a:t>
            </a:r>
            <a:r>
              <a:rPr b="1" i="1" lang="en-US" sz="2200" u="none" cap="none" strike="noStrike">
                <a:solidFill>
                  <a:schemeClr val="accent2"/>
                </a:solidFill>
                <a:latin typeface="Arial"/>
                <a:ea typeface="Arial"/>
                <a:cs typeface="Arial"/>
                <a:sym typeface="Arial"/>
              </a:rPr>
              <a:t>v</a:t>
            </a:r>
            <a:r>
              <a:rPr b="0" i="0" lang="en-US" sz="2200" u="none" cap="none" strike="noStrike">
                <a:solidFill>
                  <a:schemeClr val="accent2"/>
                </a:solidFill>
                <a:latin typeface="Arial"/>
                <a:ea typeface="Arial"/>
                <a:cs typeface="Arial"/>
                <a:sym typeface="Arial"/>
              </a:rPr>
              <a: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65" name="Shape 365"/>
        <p:cNvGrpSpPr/>
        <p:nvPr/>
      </p:nvGrpSpPr>
      <p:grpSpPr>
        <a:xfrm>
          <a:off x="0" y="0"/>
          <a:ext cx="0" cy="0"/>
          <a:chOff x="0" y="0"/>
          <a:chExt cx="0" cy="0"/>
        </a:xfrm>
      </p:grpSpPr>
      <p:sp>
        <p:nvSpPr>
          <p:cNvPr id="366" name="Google Shape;366;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None/>
            </a:pPr>
            <a:fld id="{00000000-1234-1234-1234-123412341234}" type="slidenum">
              <a:rPr lang="en-US"/>
              <a:t>‹#›</a:t>
            </a:fld>
            <a:endParaRPr/>
          </a:p>
        </p:txBody>
      </p:sp>
      <p:sp>
        <p:nvSpPr>
          <p:cNvPr id="367" name="Google Shape;367;p16"/>
          <p:cNvSpPr txBox="1"/>
          <p:nvPr/>
        </p:nvSpPr>
        <p:spPr>
          <a:xfrm>
            <a:off x="2895600" y="6356350"/>
            <a:ext cx="3352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Data Structures and Algorithms in Java </a:t>
            </a:r>
            <a:endParaRPr/>
          </a:p>
        </p:txBody>
      </p:sp>
      <p:sp>
        <p:nvSpPr>
          <p:cNvPr id="368" name="Google Shape;368;p16"/>
          <p:cNvSpPr txBox="1"/>
          <p:nvPr/>
        </p:nvSpPr>
        <p:spPr>
          <a:xfrm>
            <a:off x="0" y="1271587"/>
            <a:ext cx="533400" cy="244475"/>
          </a:xfrm>
          <a:prstGeom prst="rect">
            <a:avLst/>
          </a:prstGeom>
          <a:noFill/>
          <a:ln>
            <a:noFill/>
          </a:ln>
        </p:spPr>
        <p:txBody>
          <a:bodyPr anchorCtr="0" anchor="ctr" bIns="45700" lIns="91425" spcFirstLastPara="1" rIns="91425" wrap="square" tIns="45700">
            <a:normAutofit/>
          </a:bodyPr>
          <a:lstStyle/>
          <a:p>
            <a:pPr indent="0" lvl="0" marL="0" marR="0" rtl="0" algn="ctr">
              <a:lnSpc>
                <a:spcPct val="80000"/>
              </a:lnSpc>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 </a:t>
            </a:r>
            <a:fld id="{00000000-1234-1234-1234-123412341234}" type="slidenum">
              <a:rPr b="1" i="0" lang="en-US" sz="1200" u="none" cap="none" strike="noStrike">
                <a:solidFill>
                  <a:srgbClr val="FFFFFF"/>
                </a:solidFill>
                <a:latin typeface="Arial"/>
                <a:ea typeface="Arial"/>
                <a:cs typeface="Arial"/>
                <a:sym typeface="Arial"/>
              </a:rPr>
              <a:t>‹#›</a:t>
            </a:fld>
            <a:endParaRPr/>
          </a:p>
        </p:txBody>
      </p:sp>
      <p:sp>
        <p:nvSpPr>
          <p:cNvPr id="369" name="Google Shape;369;p16"/>
          <p:cNvSpPr txBox="1"/>
          <p:nvPr/>
        </p:nvSpPr>
        <p:spPr>
          <a:xfrm>
            <a:off x="457200" y="495300"/>
            <a:ext cx="8229600" cy="701675"/>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CC3300"/>
              </a:buClr>
              <a:buSzPts val="4000"/>
              <a:buFont typeface="Calibri"/>
              <a:buNone/>
            </a:pPr>
            <a:r>
              <a:rPr b="1" i="0" lang="en-US" sz="4000" u="none" cap="none" strike="noStrike">
                <a:solidFill>
                  <a:srgbClr val="CC3300"/>
                </a:solidFill>
                <a:latin typeface="Calibri"/>
                <a:ea typeface="Calibri"/>
                <a:cs typeface="Calibri"/>
                <a:sym typeface="Calibri"/>
              </a:rPr>
              <a:t>Binary Tree Traversal example</a:t>
            </a:r>
            <a:endParaRPr/>
          </a:p>
        </p:txBody>
      </p:sp>
      <p:pic>
        <p:nvPicPr>
          <p:cNvPr id="370" name="Google Shape;370;p16"/>
          <p:cNvPicPr preferRelativeResize="0"/>
          <p:nvPr/>
        </p:nvPicPr>
        <p:blipFill rotWithShape="1">
          <a:blip r:embed="rId3">
            <a:alphaModFix/>
          </a:blip>
          <a:srcRect b="39288" l="848" r="78781" t="34701"/>
          <a:stretch/>
        </p:blipFill>
        <p:spPr>
          <a:xfrm>
            <a:off x="2971800" y="1371600"/>
            <a:ext cx="2743200" cy="2171700"/>
          </a:xfrm>
          <a:prstGeom prst="rect">
            <a:avLst/>
          </a:prstGeom>
          <a:noFill/>
          <a:ln>
            <a:noFill/>
          </a:ln>
        </p:spPr>
      </p:pic>
      <p:sp>
        <p:nvSpPr>
          <p:cNvPr id="371" name="Google Shape;371;p16"/>
          <p:cNvSpPr txBox="1"/>
          <p:nvPr/>
        </p:nvSpPr>
        <p:spPr>
          <a:xfrm>
            <a:off x="381000" y="3810000"/>
            <a:ext cx="8534400" cy="1771650"/>
          </a:xfrm>
          <a:prstGeom prst="rect">
            <a:avLst/>
          </a:prstGeom>
          <a:noFill/>
          <a:ln>
            <a:noFill/>
          </a:ln>
        </p:spPr>
        <p:txBody>
          <a:bodyPr anchorCtr="0" anchor="t" bIns="45700" lIns="91425" spcFirstLastPara="1" rIns="91425" wrap="square" tIns="45700">
            <a:spAutoFit/>
          </a:bodyPr>
          <a:lstStyle/>
          <a:p>
            <a:pPr indent="-319087" lvl="0" marL="319087"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Preorder traversal: F, B, A, D, C, E, G, I, H (root, left, right) </a:t>
            </a:r>
            <a:endParaRPr/>
          </a:p>
          <a:p>
            <a:pPr indent="-319087" lvl="0" marL="319087" marR="0" rtl="0" algn="l">
              <a:lnSpc>
                <a:spcPct val="100000"/>
              </a:lnSpc>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Inorder traversal: A, B, C, D, E, F, G, H, I (left, root, right) </a:t>
            </a:r>
            <a:endParaRPr/>
          </a:p>
          <a:p>
            <a:pPr indent="-319087" lvl="0" marL="319087" marR="0" rtl="0" algn="l">
              <a:lnSpc>
                <a:spcPct val="100000"/>
              </a:lnSpc>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Postorder traversal: A, C, E, D, B, H, I, G, F (left, right, root) </a:t>
            </a:r>
            <a:endParaRPr/>
          </a:p>
          <a:p>
            <a:pPr indent="-319087" lvl="0" marL="319087" marR="0" rtl="0" algn="l">
              <a:lnSpc>
                <a:spcPct val="100000"/>
              </a:lnSpc>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Level-order traversal (breadth first): F, B, G, A, D, I, C, E, H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75" name="Shape 375"/>
        <p:cNvGrpSpPr/>
        <p:nvPr/>
      </p:nvGrpSpPr>
      <p:grpSpPr>
        <a:xfrm>
          <a:off x="0" y="0"/>
          <a:ext cx="0" cy="0"/>
          <a:chOff x="0" y="0"/>
          <a:chExt cx="0" cy="0"/>
        </a:xfrm>
      </p:grpSpPr>
      <p:sp>
        <p:nvSpPr>
          <p:cNvPr id="376" name="Google Shape;376;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None/>
            </a:pPr>
            <a:fld id="{00000000-1234-1234-1234-123412341234}" type="slidenum">
              <a:rPr lang="en-US"/>
              <a:t>‹#›</a:t>
            </a:fld>
            <a:endParaRPr/>
          </a:p>
        </p:txBody>
      </p:sp>
      <p:sp>
        <p:nvSpPr>
          <p:cNvPr id="377" name="Google Shape;377;p17"/>
          <p:cNvSpPr txBox="1"/>
          <p:nvPr/>
        </p:nvSpPr>
        <p:spPr>
          <a:xfrm>
            <a:off x="2895600" y="6356350"/>
            <a:ext cx="3352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cap="none" strike="noStrike">
                <a:solidFill>
                  <a:srgbClr val="898989"/>
                </a:solidFill>
                <a:latin typeface="Arial"/>
                <a:ea typeface="Arial"/>
                <a:cs typeface="Arial"/>
                <a:sym typeface="Arial"/>
              </a:rPr>
              <a:t>Data Structures and Algorithms in Java </a:t>
            </a:r>
            <a:endParaRPr/>
          </a:p>
        </p:txBody>
      </p:sp>
      <p:sp>
        <p:nvSpPr>
          <p:cNvPr id="378" name="Google Shape;378;p17"/>
          <p:cNvSpPr txBox="1"/>
          <p:nvPr/>
        </p:nvSpPr>
        <p:spPr>
          <a:xfrm>
            <a:off x="0" y="1271587"/>
            <a:ext cx="533400" cy="244475"/>
          </a:xfrm>
          <a:prstGeom prst="rect">
            <a:avLst/>
          </a:prstGeom>
          <a:noFill/>
          <a:ln>
            <a:noFill/>
          </a:ln>
        </p:spPr>
        <p:txBody>
          <a:bodyPr anchorCtr="0" anchor="ctr" bIns="45700" lIns="91425" spcFirstLastPara="1" rIns="91425" wrap="square" tIns="45700">
            <a:normAutofit/>
          </a:bodyPr>
          <a:lstStyle/>
          <a:p>
            <a:pPr indent="0" lvl="0" marL="0" marR="0" rtl="0" algn="ctr">
              <a:lnSpc>
                <a:spcPct val="80000"/>
              </a:lnSpc>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 </a:t>
            </a:r>
            <a:fld id="{00000000-1234-1234-1234-123412341234}" type="slidenum">
              <a:rPr b="1" i="0" lang="en-US" sz="1200" u="none" cap="none" strike="noStrike">
                <a:solidFill>
                  <a:srgbClr val="FFFFFF"/>
                </a:solidFill>
                <a:latin typeface="Arial"/>
                <a:ea typeface="Arial"/>
                <a:cs typeface="Arial"/>
                <a:sym typeface="Arial"/>
              </a:rPr>
              <a:t>‹#›</a:t>
            </a:fld>
            <a:endParaRPr/>
          </a:p>
        </p:txBody>
      </p:sp>
      <p:sp>
        <p:nvSpPr>
          <p:cNvPr id="379" name="Google Shape;379;p17"/>
          <p:cNvSpPr txBox="1"/>
          <p:nvPr/>
        </p:nvSpPr>
        <p:spPr>
          <a:xfrm>
            <a:off x="457200" y="555625"/>
            <a:ext cx="8229600" cy="579437"/>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chemeClr val="hlink"/>
              </a:buClr>
              <a:buSzPts val="3200"/>
              <a:buFont typeface="Calibri"/>
              <a:buNone/>
            </a:pPr>
            <a:r>
              <a:rPr b="1" i="0" lang="en-US" sz="3200" u="none" cap="none" strike="noStrike">
                <a:solidFill>
                  <a:schemeClr val="hlink"/>
                </a:solidFill>
                <a:latin typeface="Calibri"/>
                <a:ea typeface="Calibri"/>
                <a:cs typeface="Calibri"/>
                <a:sym typeface="Calibri"/>
              </a:rPr>
              <a:t>Construct Binary Tree from given traversals</a:t>
            </a:r>
            <a:endParaRPr/>
          </a:p>
        </p:txBody>
      </p:sp>
      <p:sp>
        <p:nvSpPr>
          <p:cNvPr id="380" name="Google Shape;380;p17"/>
          <p:cNvSpPr txBox="1"/>
          <p:nvPr/>
        </p:nvSpPr>
        <p:spPr>
          <a:xfrm>
            <a:off x="381000" y="1447800"/>
            <a:ext cx="80010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1" i="0" sz="4400" u="none">
              <a:solidFill>
                <a:schemeClr val="dk1"/>
              </a:solidFill>
              <a:latin typeface="Arial"/>
              <a:ea typeface="Arial"/>
              <a:cs typeface="Arial"/>
              <a:sym typeface="Arial"/>
            </a:endParaRPr>
          </a:p>
        </p:txBody>
      </p:sp>
      <p:sp>
        <p:nvSpPr>
          <p:cNvPr id="381" name="Google Shape;381;p17"/>
          <p:cNvSpPr txBox="1"/>
          <p:nvPr/>
        </p:nvSpPr>
        <p:spPr>
          <a:xfrm>
            <a:off x="533400" y="1371600"/>
            <a:ext cx="8001000" cy="25638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From given traversals we can construct the tree. More exactly speaking, we can construct a tree from inorder&amp;preorder or inorder&amp;postorder traversals.  </a:t>
            </a:r>
            <a:endParaRPr/>
          </a:p>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Let us consider the below traversals:</a:t>
            </a:r>
            <a:endParaRPr/>
          </a:p>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Inorder sequence: D B E A F C</a:t>
            </a:r>
            <a:br>
              <a:rPr b="0" i="0" lang="en-US" sz="1800" u="none">
                <a:solidFill>
                  <a:schemeClr val="dk1"/>
                </a:solidFill>
                <a:latin typeface="Arial"/>
                <a:ea typeface="Arial"/>
                <a:cs typeface="Arial"/>
                <a:sym typeface="Arial"/>
              </a:rPr>
            </a:br>
            <a:r>
              <a:rPr b="0" i="0" lang="en-US" sz="1800" u="none">
                <a:solidFill>
                  <a:schemeClr val="dk1"/>
                </a:solidFill>
                <a:latin typeface="Arial"/>
                <a:ea typeface="Arial"/>
                <a:cs typeface="Arial"/>
                <a:sym typeface="Arial"/>
              </a:rPr>
              <a:t>Preorder sequence: A B D E C F</a:t>
            </a:r>
            <a:endParaRPr/>
          </a:p>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In a Preorder sequence, leftmost element is the root of the tree. So we know ‘A’ is root for given sequences. By searching ‘A’ in Inorder sequence, we can find out all elements on left side of ‘A’ are in left subtree and elements on right are in right subtree. So we know below structure now:</a:t>
            </a:r>
            <a:endParaRPr/>
          </a:p>
        </p:txBody>
      </p:sp>
      <p:pic>
        <p:nvPicPr>
          <p:cNvPr id="382" name="Google Shape;382;p17"/>
          <p:cNvPicPr preferRelativeResize="0"/>
          <p:nvPr/>
        </p:nvPicPr>
        <p:blipFill rotWithShape="1">
          <a:blip r:embed="rId3">
            <a:alphaModFix/>
          </a:blip>
          <a:srcRect b="62998" l="16874" r="75000" t="27000"/>
          <a:stretch/>
        </p:blipFill>
        <p:spPr>
          <a:xfrm>
            <a:off x="4495800" y="3962400"/>
            <a:ext cx="990600" cy="762000"/>
          </a:xfrm>
          <a:prstGeom prst="rect">
            <a:avLst/>
          </a:prstGeom>
          <a:noFill/>
          <a:ln>
            <a:noFill/>
          </a:ln>
        </p:spPr>
      </p:pic>
      <p:sp>
        <p:nvSpPr>
          <p:cNvPr id="383" name="Google Shape;383;p17"/>
          <p:cNvSpPr txBox="1"/>
          <p:nvPr/>
        </p:nvSpPr>
        <p:spPr>
          <a:xfrm>
            <a:off x="609600" y="4724400"/>
            <a:ext cx="63246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We recursively follow above steps and get the following tree:</a:t>
            </a:r>
            <a:endParaRPr/>
          </a:p>
        </p:txBody>
      </p:sp>
      <p:pic>
        <p:nvPicPr>
          <p:cNvPr id="384" name="Google Shape;384;p17"/>
          <p:cNvPicPr preferRelativeResize="0"/>
          <p:nvPr/>
        </p:nvPicPr>
        <p:blipFill rotWithShape="1">
          <a:blip r:embed="rId3">
            <a:alphaModFix/>
          </a:blip>
          <a:srcRect b="38998" l="10625" r="79374" t="42999"/>
          <a:stretch/>
        </p:blipFill>
        <p:spPr>
          <a:xfrm>
            <a:off x="7010400" y="4343400"/>
            <a:ext cx="1219200" cy="13716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88" name="Shape 388"/>
        <p:cNvGrpSpPr/>
        <p:nvPr/>
      </p:nvGrpSpPr>
      <p:grpSpPr>
        <a:xfrm>
          <a:off x="0" y="0"/>
          <a:ext cx="0" cy="0"/>
          <a:chOff x="0" y="0"/>
          <a:chExt cx="0" cy="0"/>
        </a:xfrm>
      </p:grpSpPr>
      <p:sp>
        <p:nvSpPr>
          <p:cNvPr id="389" name="Google Shape;389;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None/>
            </a:pPr>
            <a:fld id="{00000000-1234-1234-1234-123412341234}" type="slidenum">
              <a:rPr lang="en-US"/>
              <a:t>‹#›</a:t>
            </a:fld>
            <a:endParaRPr/>
          </a:p>
        </p:txBody>
      </p:sp>
      <p:sp>
        <p:nvSpPr>
          <p:cNvPr id="390" name="Google Shape;390;p18"/>
          <p:cNvSpPr txBox="1"/>
          <p:nvPr/>
        </p:nvSpPr>
        <p:spPr>
          <a:xfrm>
            <a:off x="2895600" y="6356350"/>
            <a:ext cx="3352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a:solidFill>
                  <a:srgbClr val="898989"/>
                </a:solidFill>
                <a:latin typeface="Arial"/>
                <a:ea typeface="Arial"/>
                <a:cs typeface="Arial"/>
                <a:sym typeface="Arial"/>
              </a:rPr>
              <a:t>Data Structures and Algorithms in Java </a:t>
            </a:r>
            <a:endParaRPr/>
          </a:p>
        </p:txBody>
      </p:sp>
      <p:sp>
        <p:nvSpPr>
          <p:cNvPr id="391" name="Google Shape;391;p18"/>
          <p:cNvSpPr txBox="1"/>
          <p:nvPr>
            <p:ph idx="4294967295" type="title"/>
          </p:nvPr>
        </p:nvSpPr>
        <p:spPr>
          <a:xfrm>
            <a:off x="457200" y="381000"/>
            <a:ext cx="8229600" cy="701675"/>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CC3300"/>
              </a:buClr>
              <a:buSzPts val="4000"/>
              <a:buFont typeface="Calibri"/>
              <a:buNone/>
            </a:pPr>
            <a:r>
              <a:rPr b="1" i="0" lang="en-US" sz="4000" u="none" cap="none" strike="noStrike">
                <a:solidFill>
                  <a:srgbClr val="CC3300"/>
                </a:solidFill>
                <a:latin typeface="Calibri"/>
                <a:ea typeface="Calibri"/>
                <a:cs typeface="Calibri"/>
                <a:sym typeface="Calibri"/>
              </a:rPr>
              <a:t>Implementing Binary Trees - 1</a:t>
            </a:r>
            <a:endParaRPr/>
          </a:p>
        </p:txBody>
      </p:sp>
      <p:sp>
        <p:nvSpPr>
          <p:cNvPr id="392" name="Google Shape;392;p18"/>
          <p:cNvSpPr txBox="1"/>
          <p:nvPr/>
        </p:nvSpPr>
        <p:spPr>
          <a:xfrm>
            <a:off x="457200" y="1387475"/>
            <a:ext cx="8229600" cy="4327525"/>
          </a:xfrm>
          <a:prstGeom prst="rect">
            <a:avLst/>
          </a:prstGeom>
          <a:noFill/>
          <a:ln>
            <a:noFill/>
          </a:ln>
        </p:spPr>
        <p:txBody>
          <a:bodyPr anchorCtr="0" anchor="t" bIns="45700" lIns="91425" spcFirstLastPara="1" rIns="91425" wrap="square" tIns="45700">
            <a:spAutoFit/>
          </a:bodyPr>
          <a:lstStyle/>
          <a:p>
            <a:pPr indent="-342900" lvl="0" marL="342900" marR="0" rtl="0" algn="l">
              <a:lnSpc>
                <a:spcPct val="110000"/>
              </a:lnSpc>
              <a:spcBef>
                <a:spcPts val="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Binary trees can be implemented in at least two ways: </a:t>
            </a:r>
            <a:endParaRPr/>
          </a:p>
          <a:p>
            <a:pPr indent="-285750" lvl="1" marL="742950" marR="0" rtl="0" algn="l">
              <a:lnSpc>
                <a:spcPct val="110000"/>
              </a:lnSpc>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As arrays </a:t>
            </a:r>
            <a:endParaRPr/>
          </a:p>
          <a:p>
            <a:pPr indent="-285750" lvl="1" marL="742950" marR="0" rtl="0" algn="l">
              <a:lnSpc>
                <a:spcPct val="110000"/>
              </a:lnSpc>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As linked structures</a:t>
            </a:r>
            <a:endParaRPr/>
          </a:p>
          <a:p>
            <a:pPr indent="-342900" lvl="0" marL="342900" marR="0" rtl="0" algn="l">
              <a:lnSpc>
                <a:spcPct val="110000"/>
              </a:lnSpc>
              <a:spcBef>
                <a:spcPts val="48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To implement a tree as an array, a node is declared as an object with an information field and two </a:t>
            </a:r>
            <a:r>
              <a:rPr b="1" i="0" lang="en-US" sz="2400" u="none">
                <a:solidFill>
                  <a:schemeClr val="dk1"/>
                </a:solidFill>
                <a:latin typeface="Calibri"/>
                <a:ea typeface="Calibri"/>
                <a:cs typeface="Calibri"/>
                <a:sym typeface="Calibri"/>
              </a:rPr>
              <a:t>“reference”</a:t>
            </a:r>
            <a:r>
              <a:rPr b="0" i="0" lang="en-US" sz="2400" u="none">
                <a:solidFill>
                  <a:schemeClr val="dk1"/>
                </a:solidFill>
                <a:latin typeface="Calibri"/>
                <a:ea typeface="Calibri"/>
                <a:cs typeface="Calibri"/>
                <a:sym typeface="Calibri"/>
              </a:rPr>
              <a:t> fields. These reference fields contain the indexes of the array cells in which the left and right children are stored, if there are any.</a:t>
            </a:r>
            <a:endParaRPr/>
          </a:p>
          <a:p>
            <a:pPr indent="-342900" lvl="0" marL="342900" marR="0" rtl="0" algn="l">
              <a:lnSpc>
                <a:spcPct val="110000"/>
              </a:lnSpc>
              <a:spcBef>
                <a:spcPts val="0"/>
              </a:spcBef>
              <a:spcAft>
                <a:spcPts val="0"/>
              </a:spcAft>
              <a:buClr>
                <a:schemeClr val="dk1"/>
              </a:buClr>
              <a:buSzPts val="2400"/>
              <a:buFont typeface="Calibri"/>
              <a:buChar char="•"/>
            </a:pPr>
            <a:r>
              <a:rPr b="0" i="0" lang="en-US" sz="2400" u="none">
                <a:solidFill>
                  <a:schemeClr val="dk1"/>
                </a:solidFill>
                <a:latin typeface="Calibri"/>
                <a:ea typeface="Calibri"/>
                <a:cs typeface="Calibri"/>
                <a:sym typeface="Calibri"/>
              </a:rPr>
              <a:t>However, it is hard to predict </a:t>
            </a:r>
            <a:r>
              <a:rPr b="1" i="0" lang="en-US" sz="2400" u="none">
                <a:solidFill>
                  <a:schemeClr val="dk1"/>
                </a:solidFill>
                <a:latin typeface="Calibri"/>
                <a:ea typeface="Calibri"/>
                <a:cs typeface="Calibri"/>
                <a:sym typeface="Calibri"/>
              </a:rPr>
              <a:t>how many nodes will be created</a:t>
            </a:r>
            <a:r>
              <a:rPr b="0" i="0" lang="en-US" sz="2400" u="none">
                <a:solidFill>
                  <a:schemeClr val="dk1"/>
                </a:solidFill>
                <a:latin typeface="Calibri"/>
                <a:ea typeface="Calibri"/>
                <a:cs typeface="Calibri"/>
                <a:sym typeface="Calibri"/>
              </a:rPr>
              <a:t> during a program execution. (Therefore, how many spaces should be reserved for the array?)</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96" name="Shape 396"/>
        <p:cNvGrpSpPr/>
        <p:nvPr/>
      </p:nvGrpSpPr>
      <p:grpSpPr>
        <a:xfrm>
          <a:off x="0" y="0"/>
          <a:ext cx="0" cy="0"/>
          <a:chOff x="0" y="0"/>
          <a:chExt cx="0" cy="0"/>
        </a:xfrm>
      </p:grpSpPr>
      <p:sp>
        <p:nvSpPr>
          <p:cNvPr id="397" name="Google Shape;397;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None/>
            </a:pPr>
            <a:fld id="{00000000-1234-1234-1234-123412341234}" type="slidenum">
              <a:rPr lang="en-US"/>
              <a:t>‹#›</a:t>
            </a:fld>
            <a:endParaRPr/>
          </a:p>
        </p:txBody>
      </p:sp>
      <p:sp>
        <p:nvSpPr>
          <p:cNvPr id="398" name="Google Shape;398;p19"/>
          <p:cNvSpPr txBox="1"/>
          <p:nvPr/>
        </p:nvSpPr>
        <p:spPr>
          <a:xfrm>
            <a:off x="2895600" y="6356350"/>
            <a:ext cx="3352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a:solidFill>
                  <a:srgbClr val="898989"/>
                </a:solidFill>
                <a:latin typeface="Arial"/>
                <a:ea typeface="Arial"/>
                <a:cs typeface="Arial"/>
                <a:sym typeface="Arial"/>
              </a:rPr>
              <a:t>Data Structures and Algorithms in Java </a:t>
            </a:r>
            <a:endParaRPr/>
          </a:p>
        </p:txBody>
      </p:sp>
      <p:sp>
        <p:nvSpPr>
          <p:cNvPr id="399" name="Google Shape;399;p19"/>
          <p:cNvSpPr txBox="1"/>
          <p:nvPr>
            <p:ph idx="4294967295" type="title"/>
          </p:nvPr>
        </p:nvSpPr>
        <p:spPr>
          <a:xfrm>
            <a:off x="457200" y="381000"/>
            <a:ext cx="8229600" cy="701675"/>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CC3300"/>
              </a:buClr>
              <a:buSzPts val="4000"/>
              <a:buFont typeface="Calibri"/>
              <a:buNone/>
            </a:pPr>
            <a:r>
              <a:rPr b="1" i="0" lang="en-US" sz="4000" u="none" cap="none" strike="noStrike">
                <a:solidFill>
                  <a:srgbClr val="CC3300"/>
                </a:solidFill>
                <a:latin typeface="Calibri"/>
                <a:ea typeface="Calibri"/>
                <a:cs typeface="Calibri"/>
                <a:sym typeface="Calibri"/>
              </a:rPr>
              <a:t>Implementing Binary Trees - 2</a:t>
            </a:r>
            <a:endParaRPr/>
          </a:p>
        </p:txBody>
      </p:sp>
      <p:sp>
        <p:nvSpPr>
          <p:cNvPr id="400" name="Google Shape;400;p19"/>
          <p:cNvSpPr txBox="1"/>
          <p:nvPr/>
        </p:nvSpPr>
        <p:spPr>
          <a:xfrm>
            <a:off x="0" y="1119187"/>
            <a:ext cx="533400" cy="244475"/>
          </a:xfrm>
          <a:prstGeom prst="rect">
            <a:avLst/>
          </a:prstGeom>
          <a:noFill/>
          <a:ln>
            <a:noFill/>
          </a:ln>
        </p:spPr>
        <p:txBody>
          <a:bodyPr anchorCtr="0" anchor="ctr" bIns="45700" lIns="91425" spcFirstLastPara="1" rIns="91425" wrap="square" tIns="45700">
            <a:normAutofit/>
          </a:bodyPr>
          <a:lstStyle/>
          <a:p>
            <a:pPr indent="0" lvl="0" marL="0" marR="0" rtl="0" algn="ctr">
              <a:lnSpc>
                <a:spcPct val="80000"/>
              </a:lnSpc>
              <a:spcBef>
                <a:spcPts val="0"/>
              </a:spcBef>
              <a:spcAft>
                <a:spcPts val="0"/>
              </a:spcAft>
              <a:buClr>
                <a:srgbClr val="FFFFFF"/>
              </a:buClr>
              <a:buSzPts val="1200"/>
              <a:buFont typeface="Arial"/>
              <a:buNone/>
            </a:pPr>
            <a:r>
              <a:rPr b="1" i="0" lang="en-US" sz="1200" u="none">
                <a:solidFill>
                  <a:srgbClr val="FFFFFF"/>
                </a:solidFill>
                <a:latin typeface="Arial"/>
                <a:ea typeface="Arial"/>
                <a:cs typeface="Arial"/>
                <a:sym typeface="Arial"/>
              </a:rPr>
              <a:t> </a:t>
            </a:r>
            <a:fld id="{00000000-1234-1234-1234-123412341234}" type="slidenum">
              <a:rPr b="1" i="0" lang="en-US" sz="1200" u="none">
                <a:solidFill>
                  <a:srgbClr val="FFFFFF"/>
                </a:solidFill>
                <a:latin typeface="Arial"/>
                <a:ea typeface="Arial"/>
                <a:cs typeface="Arial"/>
                <a:sym typeface="Arial"/>
              </a:rPr>
              <a:t>‹#›</a:t>
            </a:fld>
            <a:endParaRPr/>
          </a:p>
        </p:txBody>
      </p:sp>
      <p:sp>
        <p:nvSpPr>
          <p:cNvPr id="401" name="Google Shape;401;p19"/>
          <p:cNvSpPr txBox="1"/>
          <p:nvPr>
            <p:ph idx="4294967295" type="body"/>
          </p:nvPr>
        </p:nvSpPr>
        <p:spPr>
          <a:xfrm>
            <a:off x="381000" y="1158875"/>
            <a:ext cx="4267200" cy="1431925"/>
          </a:xfrm>
          <a:prstGeom prst="rect">
            <a:avLst/>
          </a:prstGeom>
          <a:noFill/>
          <a:ln>
            <a:noFill/>
          </a:ln>
        </p:spPr>
        <p:txBody>
          <a:bodyPr anchorCtr="0" anchor="t" bIns="45700" lIns="91425" spcFirstLastPara="1" rIns="91425" wrap="square" tIns="45700">
            <a:spAutoFit/>
          </a:bodyPr>
          <a:lstStyle/>
          <a:p>
            <a:pPr indent="-319087" lvl="0" marL="319087" marR="0" rtl="0" algn="l">
              <a:lnSpc>
                <a:spcPct val="100000"/>
              </a:lnSpc>
              <a:spcBef>
                <a:spcPts val="0"/>
              </a:spcBef>
              <a:spcAft>
                <a:spcPts val="0"/>
              </a:spcAft>
              <a:buClr>
                <a:schemeClr val="dk1"/>
              </a:buClr>
              <a:buSzPts val="2200"/>
              <a:buFont typeface="Arial"/>
              <a:buChar char="•"/>
            </a:pPr>
            <a:r>
              <a:rPr b="0" i="0" lang="en-US" sz="2200" u="none" cap="none" strike="noStrike">
                <a:solidFill>
                  <a:schemeClr val="dk1"/>
                </a:solidFill>
                <a:latin typeface="Calibri"/>
                <a:ea typeface="Calibri"/>
                <a:cs typeface="Calibri"/>
                <a:sym typeface="Calibri"/>
              </a:rPr>
              <a:t>To implement a tree as a linked structure, a node is declared as an object with an information field and two “reference” fields.</a:t>
            </a:r>
            <a:endParaRPr/>
          </a:p>
        </p:txBody>
      </p:sp>
      <p:sp>
        <p:nvSpPr>
          <p:cNvPr id="402" name="Google Shape;402;p19"/>
          <p:cNvSpPr txBox="1"/>
          <p:nvPr/>
        </p:nvSpPr>
        <p:spPr>
          <a:xfrm>
            <a:off x="762000" y="3200400"/>
            <a:ext cx="3276600" cy="2235200"/>
          </a:xfrm>
          <a:prstGeom prst="rect">
            <a:avLst/>
          </a:prstGeom>
          <a:solidFill>
            <a:srgbClr val="CCECFF"/>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class Node</a:t>
            </a:r>
            <a:endParaRPr/>
          </a:p>
          <a:p>
            <a:pPr indent="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 {int info;</a:t>
            </a:r>
            <a:endParaRPr/>
          </a:p>
          <a:p>
            <a:pPr indent="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  Node left,right;</a:t>
            </a:r>
            <a:endParaRPr/>
          </a:p>
          <a:p>
            <a:pPr indent="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  Node(int x)</a:t>
            </a:r>
            <a:endParaRPr/>
          </a:p>
          <a:p>
            <a:pPr indent="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     {info=x;left=right=null;</a:t>
            </a:r>
            <a:endParaRPr/>
          </a:p>
          <a:p>
            <a:pPr indent="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     }  </a:t>
            </a:r>
            <a:endParaRPr/>
          </a:p>
          <a:p>
            <a:pPr indent="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 }</a:t>
            </a:r>
            <a:endParaRPr/>
          </a:p>
        </p:txBody>
      </p:sp>
      <p:sp>
        <p:nvSpPr>
          <p:cNvPr id="403" name="Google Shape;403;p19"/>
          <p:cNvSpPr txBox="1"/>
          <p:nvPr/>
        </p:nvSpPr>
        <p:spPr>
          <a:xfrm>
            <a:off x="5257800" y="3152775"/>
            <a:ext cx="2959100" cy="2790825"/>
          </a:xfrm>
          <a:prstGeom prst="rect">
            <a:avLst/>
          </a:prstGeom>
          <a:solidFill>
            <a:srgbClr val="CCECFF"/>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class Node</a:t>
            </a:r>
            <a:endParaRPr/>
          </a:p>
          <a:p>
            <a:pPr indent="0" lvl="0" marL="0" marR="0" rtl="0" algn="l">
              <a:lnSpc>
                <a:spcPct val="10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 {int info;</a:t>
            </a:r>
            <a:endParaRPr/>
          </a:p>
          <a:p>
            <a:pPr indent="0" lvl="0" marL="0" marR="0" rtl="0" algn="l">
              <a:lnSpc>
                <a:spcPct val="10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  Node left,right;</a:t>
            </a:r>
            <a:endParaRPr/>
          </a:p>
          <a:p>
            <a:pPr indent="0" lvl="0" marL="0" marR="0" rtl="0" algn="l">
              <a:lnSpc>
                <a:spcPct val="10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  Node(int x) { }</a:t>
            </a:r>
            <a:endParaRPr/>
          </a:p>
          <a:p>
            <a:pPr indent="0" lvl="0" marL="0" marR="0" rtl="0" algn="l">
              <a:lnSpc>
                <a:spcPct val="100000"/>
              </a:lnSpc>
              <a:spcBef>
                <a:spcPts val="0"/>
              </a:spcBef>
              <a:spcAft>
                <a:spcPts val="0"/>
              </a:spcAft>
              <a:buClr>
                <a:schemeClr val="dk1"/>
              </a:buClr>
              <a:buSzPts val="1600"/>
              <a:buFont typeface="Arial"/>
              <a:buNone/>
            </a:pPr>
            <a:r>
              <a:rPr b="1" i="0" lang="en-US" sz="1600" u="none">
                <a:solidFill>
                  <a:schemeClr val="dk1"/>
                </a:solidFill>
                <a:latin typeface="Arial"/>
                <a:ea typeface="Arial"/>
                <a:cs typeface="Arial"/>
                <a:sym typeface="Arial"/>
              </a:rPr>
              <a:t>  </a:t>
            </a:r>
            <a:r>
              <a:rPr b="0" i="0" lang="en-US" sz="1600" u="none">
                <a:solidFill>
                  <a:schemeClr val="dk1"/>
                </a:solidFill>
                <a:latin typeface="Arial"/>
                <a:ea typeface="Arial"/>
                <a:cs typeface="Arial"/>
                <a:sym typeface="Arial"/>
              </a:rPr>
              <a:t>Node(int x, Node p, Node q)</a:t>
            </a:r>
            <a:endParaRPr/>
          </a:p>
          <a:p>
            <a:pPr indent="0" lvl="0" marL="0" marR="0" rtl="0" algn="l">
              <a:lnSpc>
                <a:spcPct val="10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    {info=x;left=p; right=q;</a:t>
            </a:r>
            <a:endParaRPr/>
          </a:p>
          <a:p>
            <a:pPr indent="0" lvl="0" marL="0" marR="0" rtl="0" algn="l">
              <a:lnSpc>
                <a:spcPct val="10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    }  </a:t>
            </a:r>
            <a:endParaRPr/>
          </a:p>
          <a:p>
            <a:pPr indent="0" lvl="0" marL="0" marR="0" rtl="0" algn="l">
              <a:lnSpc>
                <a:spcPct val="10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  Node(int x)</a:t>
            </a:r>
            <a:endParaRPr/>
          </a:p>
          <a:p>
            <a:pPr indent="0" lvl="0" marL="0" marR="0" rtl="0" algn="l">
              <a:lnSpc>
                <a:spcPct val="10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   {this(x,null,null);</a:t>
            </a:r>
            <a:endParaRPr/>
          </a:p>
          <a:p>
            <a:pPr indent="0" lvl="0" marL="0" marR="0" rtl="0" algn="l">
              <a:lnSpc>
                <a:spcPct val="10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   }  </a:t>
            </a:r>
            <a:endParaRPr/>
          </a:p>
          <a:p>
            <a:pPr indent="0" lvl="0" marL="0" marR="0" rtl="0" algn="l">
              <a:lnSpc>
                <a:spcPct val="10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 }</a:t>
            </a:r>
            <a:endParaRPr/>
          </a:p>
        </p:txBody>
      </p:sp>
      <p:grpSp>
        <p:nvGrpSpPr>
          <p:cNvPr id="404" name="Google Shape;404;p19"/>
          <p:cNvGrpSpPr/>
          <p:nvPr/>
        </p:nvGrpSpPr>
        <p:grpSpPr>
          <a:xfrm>
            <a:off x="6018212" y="1219200"/>
            <a:ext cx="1905000" cy="1371600"/>
            <a:chOff x="1872" y="2832"/>
            <a:chExt cx="1200" cy="864"/>
          </a:xfrm>
        </p:grpSpPr>
        <p:sp>
          <p:nvSpPr>
            <p:cNvPr id="405" name="Google Shape;405;p19"/>
            <p:cNvSpPr txBox="1"/>
            <p:nvPr/>
          </p:nvSpPr>
          <p:spPr>
            <a:xfrm>
              <a:off x="1872" y="2832"/>
              <a:ext cx="1200" cy="672"/>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4400" u="none">
                <a:solidFill>
                  <a:schemeClr val="dk1"/>
                </a:solidFill>
                <a:latin typeface="Arial"/>
                <a:ea typeface="Arial"/>
                <a:cs typeface="Arial"/>
                <a:sym typeface="Arial"/>
              </a:endParaRPr>
            </a:p>
          </p:txBody>
        </p:sp>
        <p:cxnSp>
          <p:nvCxnSpPr>
            <p:cNvPr id="406" name="Google Shape;406;p19"/>
            <p:cNvCxnSpPr/>
            <p:nvPr/>
          </p:nvCxnSpPr>
          <p:spPr>
            <a:xfrm>
              <a:off x="1872" y="3168"/>
              <a:ext cx="1200" cy="0"/>
            </a:xfrm>
            <a:prstGeom prst="straightConnector1">
              <a:avLst/>
            </a:prstGeom>
            <a:noFill/>
            <a:ln cap="flat" cmpd="sng" w="9525">
              <a:solidFill>
                <a:schemeClr val="dk1"/>
              </a:solidFill>
              <a:prstDash val="solid"/>
              <a:miter lim="800000"/>
              <a:headEnd len="med" w="med" type="none"/>
              <a:tailEnd len="med" w="med" type="none"/>
            </a:ln>
          </p:spPr>
        </p:cxnSp>
        <p:cxnSp>
          <p:nvCxnSpPr>
            <p:cNvPr id="407" name="Google Shape;407;p19"/>
            <p:cNvCxnSpPr/>
            <p:nvPr/>
          </p:nvCxnSpPr>
          <p:spPr>
            <a:xfrm>
              <a:off x="2448" y="3168"/>
              <a:ext cx="0" cy="336"/>
            </a:xfrm>
            <a:prstGeom prst="straightConnector1">
              <a:avLst/>
            </a:prstGeom>
            <a:noFill/>
            <a:ln cap="flat" cmpd="sng" w="9525">
              <a:solidFill>
                <a:schemeClr val="dk1"/>
              </a:solidFill>
              <a:prstDash val="solid"/>
              <a:miter lim="800000"/>
              <a:headEnd len="med" w="med" type="none"/>
              <a:tailEnd len="med" w="med" type="none"/>
            </a:ln>
          </p:spPr>
        </p:cxnSp>
        <p:sp>
          <p:nvSpPr>
            <p:cNvPr id="408" name="Google Shape;408;p19"/>
            <p:cNvSpPr txBox="1"/>
            <p:nvPr/>
          </p:nvSpPr>
          <p:spPr>
            <a:xfrm>
              <a:off x="2016" y="2832"/>
              <a:ext cx="931" cy="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Key (data)</a:t>
              </a:r>
              <a:endParaRPr/>
            </a:p>
          </p:txBody>
        </p:sp>
        <p:cxnSp>
          <p:nvCxnSpPr>
            <p:cNvPr id="409" name="Google Shape;409;p19"/>
            <p:cNvCxnSpPr/>
            <p:nvPr/>
          </p:nvCxnSpPr>
          <p:spPr>
            <a:xfrm flipH="1">
              <a:off x="1872" y="3312"/>
              <a:ext cx="288" cy="384"/>
            </a:xfrm>
            <a:prstGeom prst="straightConnector1">
              <a:avLst/>
            </a:prstGeom>
            <a:noFill/>
            <a:ln cap="flat" cmpd="sng" w="38100">
              <a:solidFill>
                <a:schemeClr val="hlink"/>
              </a:solidFill>
              <a:prstDash val="solid"/>
              <a:miter lim="800000"/>
              <a:headEnd len="med" w="med" type="none"/>
              <a:tailEnd len="med" w="med" type="triangle"/>
            </a:ln>
          </p:spPr>
        </p:cxnSp>
        <p:cxnSp>
          <p:nvCxnSpPr>
            <p:cNvPr id="410" name="Google Shape;410;p19"/>
            <p:cNvCxnSpPr/>
            <p:nvPr/>
          </p:nvCxnSpPr>
          <p:spPr>
            <a:xfrm>
              <a:off x="2736" y="3312"/>
              <a:ext cx="288" cy="384"/>
            </a:xfrm>
            <a:prstGeom prst="straightConnector1">
              <a:avLst/>
            </a:prstGeom>
            <a:noFill/>
            <a:ln cap="flat" cmpd="sng" w="38100">
              <a:solidFill>
                <a:schemeClr val="hlink"/>
              </a:solidFill>
              <a:prstDash val="solid"/>
              <a:miter lim="800000"/>
              <a:headEnd len="med" w="med" type="none"/>
              <a:tailEnd len="med" w="med" type="triangle"/>
            </a:ln>
          </p:spPr>
        </p:cxnSp>
      </p:grpSp>
      <p:sp>
        <p:nvSpPr>
          <p:cNvPr id="411" name="Google Shape;411;p19"/>
          <p:cNvSpPr txBox="1"/>
          <p:nvPr/>
        </p:nvSpPr>
        <p:spPr>
          <a:xfrm>
            <a:off x="5011737" y="2632075"/>
            <a:ext cx="3522662"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left child             right child</a:t>
            </a:r>
            <a:endParaRPr/>
          </a:p>
        </p:txBody>
      </p:sp>
      <p:sp>
        <p:nvSpPr>
          <p:cNvPr id="412" name="Google Shape;412;p19"/>
          <p:cNvSpPr txBox="1"/>
          <p:nvPr/>
        </p:nvSpPr>
        <p:spPr>
          <a:xfrm>
            <a:off x="1371600" y="6019800"/>
            <a:ext cx="563880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Arial"/>
              <a:buNone/>
            </a:pPr>
            <a:r>
              <a:rPr b="1" i="0" lang="en-US" sz="1600" u="none">
                <a:solidFill>
                  <a:schemeClr val="dk1"/>
                </a:solidFill>
                <a:latin typeface="Arial"/>
                <a:ea typeface="Arial"/>
                <a:cs typeface="Arial"/>
                <a:sym typeface="Arial"/>
              </a:rPr>
              <a:t>Different types of implementations of Binary tree node</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16" name="Shape 416"/>
        <p:cNvGrpSpPr/>
        <p:nvPr/>
      </p:nvGrpSpPr>
      <p:grpSpPr>
        <a:xfrm>
          <a:off x="0" y="0"/>
          <a:ext cx="0" cy="0"/>
          <a:chOff x="0" y="0"/>
          <a:chExt cx="0" cy="0"/>
        </a:xfrm>
      </p:grpSpPr>
      <p:sp>
        <p:nvSpPr>
          <p:cNvPr id="417" name="Google Shape;417;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None/>
            </a:pPr>
            <a:fld id="{00000000-1234-1234-1234-123412341234}" type="slidenum">
              <a:rPr lang="en-US"/>
              <a:t>‹#›</a:t>
            </a:fld>
            <a:endParaRPr/>
          </a:p>
        </p:txBody>
      </p:sp>
      <p:sp>
        <p:nvSpPr>
          <p:cNvPr id="418" name="Google Shape;418;p20"/>
          <p:cNvSpPr txBox="1"/>
          <p:nvPr/>
        </p:nvSpPr>
        <p:spPr>
          <a:xfrm>
            <a:off x="2895600" y="6356350"/>
            <a:ext cx="3352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a:solidFill>
                  <a:srgbClr val="898989"/>
                </a:solidFill>
                <a:latin typeface="Arial"/>
                <a:ea typeface="Arial"/>
                <a:cs typeface="Arial"/>
                <a:sym typeface="Arial"/>
              </a:rPr>
              <a:t>Data Structures and Algorithms in Java </a:t>
            </a:r>
            <a:endParaRPr/>
          </a:p>
        </p:txBody>
      </p:sp>
      <p:sp>
        <p:nvSpPr>
          <p:cNvPr id="419" name="Google Shape;419;p20"/>
          <p:cNvSpPr txBox="1"/>
          <p:nvPr>
            <p:ph idx="4294967295" type="title"/>
          </p:nvPr>
        </p:nvSpPr>
        <p:spPr>
          <a:xfrm>
            <a:off x="914400" y="517525"/>
            <a:ext cx="7467600" cy="701675"/>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CC3300"/>
              </a:buClr>
              <a:buSzPts val="4000"/>
              <a:buFont typeface="Calibri"/>
              <a:buNone/>
            </a:pPr>
            <a:r>
              <a:rPr b="1" i="0" lang="en-US" sz="4000" u="none" cap="none" strike="noStrike">
                <a:solidFill>
                  <a:srgbClr val="CC3300"/>
                </a:solidFill>
                <a:latin typeface="Calibri"/>
                <a:ea typeface="Calibri"/>
                <a:cs typeface="Calibri"/>
                <a:sym typeface="Calibri"/>
              </a:rPr>
              <a:t>Breadth-First Traversal code</a:t>
            </a:r>
            <a:endParaRPr/>
          </a:p>
        </p:txBody>
      </p:sp>
      <p:sp>
        <p:nvSpPr>
          <p:cNvPr id="420" name="Google Shape;420;p20"/>
          <p:cNvSpPr txBox="1"/>
          <p:nvPr/>
        </p:nvSpPr>
        <p:spPr>
          <a:xfrm>
            <a:off x="0" y="1271587"/>
            <a:ext cx="533400" cy="244475"/>
          </a:xfrm>
          <a:prstGeom prst="rect">
            <a:avLst/>
          </a:prstGeom>
          <a:noFill/>
          <a:ln>
            <a:noFill/>
          </a:ln>
        </p:spPr>
        <p:txBody>
          <a:bodyPr anchorCtr="0" anchor="ctr" bIns="45700" lIns="91425" spcFirstLastPara="1" rIns="91425" wrap="square" tIns="45700">
            <a:normAutofit/>
          </a:bodyPr>
          <a:lstStyle/>
          <a:p>
            <a:pPr indent="0" lvl="0" marL="0" marR="0" rtl="0" algn="ctr">
              <a:lnSpc>
                <a:spcPct val="80000"/>
              </a:lnSpc>
              <a:spcBef>
                <a:spcPts val="0"/>
              </a:spcBef>
              <a:spcAft>
                <a:spcPts val="0"/>
              </a:spcAft>
              <a:buClr>
                <a:srgbClr val="FFFFFF"/>
              </a:buClr>
              <a:buSzPts val="1200"/>
              <a:buFont typeface="Arial"/>
              <a:buNone/>
            </a:pPr>
            <a:r>
              <a:rPr b="1" i="0" lang="en-US" sz="1200" u="none">
                <a:solidFill>
                  <a:srgbClr val="FFFFFF"/>
                </a:solidFill>
                <a:latin typeface="Arial"/>
                <a:ea typeface="Arial"/>
                <a:cs typeface="Arial"/>
                <a:sym typeface="Arial"/>
              </a:rPr>
              <a:t> </a:t>
            </a:r>
            <a:fld id="{00000000-1234-1234-1234-123412341234}" type="slidenum">
              <a:rPr b="1" i="0" lang="en-US" sz="1200" u="none">
                <a:solidFill>
                  <a:srgbClr val="FFFFFF"/>
                </a:solidFill>
                <a:latin typeface="Arial"/>
                <a:ea typeface="Arial"/>
                <a:cs typeface="Arial"/>
                <a:sym typeface="Arial"/>
              </a:rPr>
              <a:t>‹#›</a:t>
            </a:fld>
            <a:endParaRPr/>
          </a:p>
        </p:txBody>
      </p:sp>
      <p:sp>
        <p:nvSpPr>
          <p:cNvPr id="421" name="Google Shape;421;p20"/>
          <p:cNvSpPr txBox="1"/>
          <p:nvPr/>
        </p:nvSpPr>
        <p:spPr>
          <a:xfrm>
            <a:off x="762000" y="5927725"/>
            <a:ext cx="7620000"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Top-down, left-to-right, breadth-first traversal implementation</a:t>
            </a:r>
            <a:endParaRPr/>
          </a:p>
        </p:txBody>
      </p:sp>
      <p:sp>
        <p:nvSpPr>
          <p:cNvPr id="422" name="Google Shape;422;p20"/>
          <p:cNvSpPr txBox="1"/>
          <p:nvPr/>
        </p:nvSpPr>
        <p:spPr>
          <a:xfrm>
            <a:off x="2209800" y="1422400"/>
            <a:ext cx="5029200" cy="4368800"/>
          </a:xfrm>
          <a:prstGeom prst="rect">
            <a:avLst/>
          </a:prstGeom>
          <a:solidFill>
            <a:srgbClr val="CCECFF"/>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 void breadth()</a:t>
            </a:r>
            <a:endParaRPr/>
          </a:p>
          <a:p>
            <a:pPr indent="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     { if(root==null) return;</a:t>
            </a:r>
            <a:endParaRPr/>
          </a:p>
          <a:p>
            <a:pPr indent="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       MyQueue q = new MyQueue();</a:t>
            </a:r>
            <a:endParaRPr/>
          </a:p>
          <a:p>
            <a:pPr indent="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       q.enqueue(root);</a:t>
            </a:r>
            <a:endParaRPr/>
          </a:p>
          <a:p>
            <a:pPr indent="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       Node p;</a:t>
            </a:r>
            <a:endParaRPr/>
          </a:p>
          <a:p>
            <a:pPr indent="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       while(!q.isEmpty())</a:t>
            </a:r>
            <a:endParaRPr/>
          </a:p>
          <a:p>
            <a:pPr indent="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          { p = (Node) q.dequeue();</a:t>
            </a:r>
            <a:endParaRPr/>
          </a:p>
          <a:p>
            <a:pPr indent="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            if(p.left !=null)</a:t>
            </a:r>
            <a:endParaRPr/>
          </a:p>
          <a:p>
            <a:pPr indent="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            q.enqueue(p.left);</a:t>
            </a:r>
            <a:endParaRPr/>
          </a:p>
          <a:p>
            <a:pPr indent="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            if(p.right !=null)</a:t>
            </a:r>
            <a:endParaRPr/>
          </a:p>
          <a:p>
            <a:pPr indent="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            q.enqueue(p.right);</a:t>
            </a:r>
            <a:endParaRPr/>
          </a:p>
          <a:p>
            <a:pPr indent="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            visit(p);</a:t>
            </a:r>
            <a:endParaRPr/>
          </a:p>
          <a:p>
            <a:pPr indent="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          }</a:t>
            </a:r>
            <a:endParaRPr/>
          </a:p>
          <a:p>
            <a:pPr indent="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26" name="Shape 426"/>
        <p:cNvGrpSpPr/>
        <p:nvPr/>
      </p:nvGrpSpPr>
      <p:grpSpPr>
        <a:xfrm>
          <a:off x="0" y="0"/>
          <a:ext cx="0" cy="0"/>
          <a:chOff x="0" y="0"/>
          <a:chExt cx="0" cy="0"/>
        </a:xfrm>
      </p:grpSpPr>
      <p:sp>
        <p:nvSpPr>
          <p:cNvPr id="427" name="Google Shape;427;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None/>
            </a:pPr>
            <a:fld id="{00000000-1234-1234-1234-123412341234}" type="slidenum">
              <a:rPr lang="en-US"/>
              <a:t>‹#›</a:t>
            </a:fld>
            <a:endParaRPr/>
          </a:p>
        </p:txBody>
      </p:sp>
      <p:sp>
        <p:nvSpPr>
          <p:cNvPr id="428" name="Google Shape;428;p21"/>
          <p:cNvSpPr txBox="1"/>
          <p:nvPr/>
        </p:nvSpPr>
        <p:spPr>
          <a:xfrm>
            <a:off x="2895600" y="6356350"/>
            <a:ext cx="3352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a:solidFill>
                  <a:srgbClr val="898989"/>
                </a:solidFill>
                <a:latin typeface="Arial"/>
                <a:ea typeface="Arial"/>
                <a:cs typeface="Arial"/>
                <a:sym typeface="Arial"/>
              </a:rPr>
              <a:t>Data Structures and Algorithms in Java </a:t>
            </a:r>
            <a:endParaRPr/>
          </a:p>
        </p:txBody>
      </p:sp>
      <p:sp>
        <p:nvSpPr>
          <p:cNvPr id="429" name="Google Shape;429;p21"/>
          <p:cNvSpPr txBox="1"/>
          <p:nvPr>
            <p:ph idx="4294967295" type="title"/>
          </p:nvPr>
        </p:nvSpPr>
        <p:spPr>
          <a:xfrm>
            <a:off x="457200" y="495300"/>
            <a:ext cx="8229600" cy="701675"/>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CC3300"/>
              </a:buClr>
              <a:buSzPts val="4000"/>
              <a:buFont typeface="Calibri"/>
              <a:buNone/>
            </a:pPr>
            <a:r>
              <a:rPr b="1" i="0" lang="en-US" sz="4000" u="none" cap="none" strike="noStrike">
                <a:solidFill>
                  <a:srgbClr val="CC3300"/>
                </a:solidFill>
                <a:latin typeface="Calibri"/>
                <a:ea typeface="Calibri"/>
                <a:cs typeface="Calibri"/>
                <a:sym typeface="Calibri"/>
              </a:rPr>
              <a:t>Depth-First Traversal code</a:t>
            </a:r>
            <a:endParaRPr/>
          </a:p>
        </p:txBody>
      </p:sp>
      <p:sp>
        <p:nvSpPr>
          <p:cNvPr id="430" name="Google Shape;430;p21"/>
          <p:cNvSpPr txBox="1"/>
          <p:nvPr/>
        </p:nvSpPr>
        <p:spPr>
          <a:xfrm>
            <a:off x="0" y="1271587"/>
            <a:ext cx="533400" cy="244475"/>
          </a:xfrm>
          <a:prstGeom prst="rect">
            <a:avLst/>
          </a:prstGeom>
          <a:noFill/>
          <a:ln>
            <a:noFill/>
          </a:ln>
        </p:spPr>
        <p:txBody>
          <a:bodyPr anchorCtr="0" anchor="ctr" bIns="45700" lIns="91425" spcFirstLastPara="1" rIns="91425" wrap="square" tIns="45700">
            <a:normAutofit/>
          </a:bodyPr>
          <a:lstStyle/>
          <a:p>
            <a:pPr indent="0" lvl="0" marL="0" marR="0" rtl="0" algn="ctr">
              <a:lnSpc>
                <a:spcPct val="80000"/>
              </a:lnSpc>
              <a:spcBef>
                <a:spcPts val="0"/>
              </a:spcBef>
              <a:spcAft>
                <a:spcPts val="0"/>
              </a:spcAft>
              <a:buClr>
                <a:srgbClr val="FFFFFF"/>
              </a:buClr>
              <a:buSzPts val="1200"/>
              <a:buFont typeface="Arial"/>
              <a:buNone/>
            </a:pPr>
            <a:r>
              <a:rPr b="1" i="0" lang="en-US" sz="1200" u="none">
                <a:solidFill>
                  <a:srgbClr val="FFFFFF"/>
                </a:solidFill>
                <a:latin typeface="Arial"/>
                <a:ea typeface="Arial"/>
                <a:cs typeface="Arial"/>
                <a:sym typeface="Arial"/>
              </a:rPr>
              <a:t> </a:t>
            </a:r>
            <a:fld id="{00000000-1234-1234-1234-123412341234}" type="slidenum">
              <a:rPr b="1" i="0" lang="en-US" sz="1200" u="none">
                <a:solidFill>
                  <a:srgbClr val="FFFFFF"/>
                </a:solidFill>
                <a:latin typeface="Arial"/>
                <a:ea typeface="Arial"/>
                <a:cs typeface="Arial"/>
                <a:sym typeface="Arial"/>
              </a:rPr>
              <a:t>‹#›</a:t>
            </a:fld>
            <a:endParaRPr/>
          </a:p>
        </p:txBody>
      </p:sp>
      <p:sp>
        <p:nvSpPr>
          <p:cNvPr id="431" name="Google Shape;431;p21"/>
          <p:cNvSpPr txBox="1"/>
          <p:nvPr/>
        </p:nvSpPr>
        <p:spPr>
          <a:xfrm>
            <a:off x="457200" y="1384300"/>
            <a:ext cx="3962400" cy="4483100"/>
          </a:xfrm>
          <a:prstGeom prst="rect">
            <a:avLst/>
          </a:prstGeom>
          <a:solidFill>
            <a:srgbClr val="CCECFF"/>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 </a:t>
            </a:r>
            <a:r>
              <a:rPr b="0" i="0" lang="en-US" sz="2400" u="none">
                <a:solidFill>
                  <a:schemeClr val="dk1"/>
                </a:solidFill>
                <a:latin typeface="Arial"/>
                <a:ea typeface="Arial"/>
                <a:cs typeface="Arial"/>
                <a:sym typeface="Arial"/>
              </a:rPr>
              <a:t>void preOrder(Node p)</a:t>
            </a:r>
            <a:endParaRPr/>
          </a:p>
          <a:p>
            <a:pPr indent="0" lvl="0" marL="0" marR="0" rtl="0" algn="l">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    { if(p==null) return;</a:t>
            </a:r>
            <a:endParaRPr/>
          </a:p>
          <a:p>
            <a:pPr indent="0" lvl="0" marL="0" marR="0" rtl="0" algn="l">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      visit(p);</a:t>
            </a:r>
            <a:endParaRPr/>
          </a:p>
          <a:p>
            <a:pPr indent="0" lvl="0" marL="0" marR="0" rtl="0" algn="l">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      preOrder(p.left);</a:t>
            </a:r>
            <a:endParaRPr/>
          </a:p>
          <a:p>
            <a:pPr indent="0" lvl="0" marL="0" marR="0" rtl="0" algn="l">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      preOrder(p.right);</a:t>
            </a:r>
            <a:endParaRPr/>
          </a:p>
          <a:p>
            <a:pPr indent="0" lvl="0" marL="0" marR="0" rtl="0" algn="l">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    }</a:t>
            </a:r>
            <a:endParaRPr/>
          </a:p>
          <a:p>
            <a:pPr indent="0" lvl="0" marL="0" marR="0" rtl="0" algn="l">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  void inOrder(Node p)</a:t>
            </a:r>
            <a:endParaRPr/>
          </a:p>
          <a:p>
            <a:pPr indent="0" lvl="0" marL="0" marR="0" rtl="0" algn="l">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    { if(p==null) return;</a:t>
            </a:r>
            <a:endParaRPr/>
          </a:p>
          <a:p>
            <a:pPr indent="0" lvl="0" marL="0" marR="0" rtl="0" algn="l">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      inOrder(p.left);</a:t>
            </a:r>
            <a:endParaRPr/>
          </a:p>
          <a:p>
            <a:pPr indent="0" lvl="0" marL="0" marR="0" rtl="0" algn="l">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      visit(p);</a:t>
            </a:r>
            <a:endParaRPr/>
          </a:p>
          <a:p>
            <a:pPr indent="0" lvl="0" marL="0" marR="0" rtl="0" algn="l">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      inOrder(p.right);</a:t>
            </a:r>
            <a:endParaRPr/>
          </a:p>
          <a:p>
            <a:pPr indent="0" lvl="0" marL="0" marR="0" rtl="0" algn="l">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    }</a:t>
            </a:r>
            <a:endParaRPr/>
          </a:p>
        </p:txBody>
      </p:sp>
      <p:sp>
        <p:nvSpPr>
          <p:cNvPr id="432" name="Google Shape;432;p21"/>
          <p:cNvSpPr txBox="1"/>
          <p:nvPr/>
        </p:nvSpPr>
        <p:spPr>
          <a:xfrm>
            <a:off x="4724400" y="1365250"/>
            <a:ext cx="3962400" cy="2292350"/>
          </a:xfrm>
          <a:prstGeom prst="rect">
            <a:avLst/>
          </a:prstGeom>
          <a:solidFill>
            <a:srgbClr val="CCECFF"/>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void postOrder(Node p)</a:t>
            </a:r>
            <a:endParaRPr/>
          </a:p>
          <a:p>
            <a:pPr indent="0" lvl="0" marL="0" marR="0" rtl="0" algn="l">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    { if(p==null) return;</a:t>
            </a:r>
            <a:endParaRPr/>
          </a:p>
          <a:p>
            <a:pPr indent="0" lvl="0" marL="0" marR="0" rtl="0" algn="l">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      postOrder(p.left);</a:t>
            </a:r>
            <a:endParaRPr/>
          </a:p>
          <a:p>
            <a:pPr indent="0" lvl="0" marL="0" marR="0" rtl="0" algn="l">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      postOrder(p.right);</a:t>
            </a:r>
            <a:endParaRPr/>
          </a:p>
          <a:p>
            <a:pPr indent="0" lvl="0" marL="0" marR="0" rtl="0" algn="l">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      visit(p);</a:t>
            </a:r>
            <a:endParaRPr/>
          </a:p>
          <a:p>
            <a:pPr indent="0" lvl="0" marL="0" marR="0" rtl="0" algn="l">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36" name="Shape 436"/>
        <p:cNvGrpSpPr/>
        <p:nvPr/>
      </p:nvGrpSpPr>
      <p:grpSpPr>
        <a:xfrm>
          <a:off x="0" y="0"/>
          <a:ext cx="0" cy="0"/>
          <a:chOff x="0" y="0"/>
          <a:chExt cx="0" cy="0"/>
        </a:xfrm>
      </p:grpSpPr>
      <p:sp>
        <p:nvSpPr>
          <p:cNvPr id="437" name="Google Shape;437;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None/>
            </a:pPr>
            <a:fld id="{00000000-1234-1234-1234-123412341234}" type="slidenum">
              <a:rPr lang="en-US"/>
              <a:t>‹#›</a:t>
            </a:fld>
            <a:endParaRPr/>
          </a:p>
        </p:txBody>
      </p:sp>
      <p:sp>
        <p:nvSpPr>
          <p:cNvPr id="438" name="Google Shape;438;p22"/>
          <p:cNvSpPr txBox="1"/>
          <p:nvPr/>
        </p:nvSpPr>
        <p:spPr>
          <a:xfrm>
            <a:off x="2895600" y="6356350"/>
            <a:ext cx="3352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a:solidFill>
                  <a:srgbClr val="898989"/>
                </a:solidFill>
                <a:latin typeface="Arial"/>
                <a:ea typeface="Arial"/>
                <a:cs typeface="Arial"/>
                <a:sym typeface="Arial"/>
              </a:rPr>
              <a:t>Data Structures and Algorithms in Java </a:t>
            </a:r>
            <a:endParaRPr/>
          </a:p>
        </p:txBody>
      </p:sp>
      <p:sp>
        <p:nvSpPr>
          <p:cNvPr id="439" name="Google Shape;439;p22"/>
          <p:cNvSpPr txBox="1"/>
          <p:nvPr>
            <p:ph type="title"/>
          </p:nvPr>
        </p:nvSpPr>
        <p:spPr>
          <a:xfrm>
            <a:off x="1600200" y="381000"/>
            <a:ext cx="5334000" cy="701675"/>
          </a:xfrm>
          <a:prstGeom prst="rect">
            <a:avLst/>
          </a:prstGeom>
          <a:noFill/>
          <a:ln>
            <a:noFill/>
          </a:ln>
        </p:spPr>
        <p:txBody>
          <a:bodyPr anchorCtr="0" anchor="ctr" bIns="45700" lIns="91425" spcFirstLastPara="1" rIns="91425" wrap="square" tIns="45700">
            <a:spAutoFit/>
          </a:bodyPr>
          <a:lstStyle/>
          <a:p>
            <a:pPr indent="0" lvl="0" marL="0" rtl="0" algn="ctr">
              <a:lnSpc>
                <a:spcPct val="100000"/>
              </a:lnSpc>
              <a:spcBef>
                <a:spcPts val="0"/>
              </a:spcBef>
              <a:spcAft>
                <a:spcPts val="0"/>
              </a:spcAft>
              <a:buClr>
                <a:srgbClr val="CC3300"/>
              </a:buClr>
              <a:buSzPts val="4000"/>
              <a:buFont typeface="Calibri"/>
              <a:buNone/>
            </a:pPr>
            <a:r>
              <a:rPr b="1" i="0" lang="en-US" sz="4000" u="none">
                <a:solidFill>
                  <a:srgbClr val="CC3300"/>
                </a:solidFill>
                <a:latin typeface="Calibri"/>
                <a:ea typeface="Calibri"/>
                <a:cs typeface="Calibri"/>
                <a:sym typeface="Calibri"/>
              </a:rPr>
              <a:t>Binary Search Trees</a:t>
            </a:r>
            <a:endParaRPr/>
          </a:p>
        </p:txBody>
      </p:sp>
      <p:sp>
        <p:nvSpPr>
          <p:cNvPr id="440" name="Google Shape;440;p22"/>
          <p:cNvSpPr txBox="1"/>
          <p:nvPr>
            <p:ph idx="1" type="body"/>
          </p:nvPr>
        </p:nvSpPr>
        <p:spPr>
          <a:xfrm>
            <a:off x="228600" y="1219200"/>
            <a:ext cx="4343400" cy="5251450"/>
          </a:xfrm>
          <a:prstGeom prst="rect">
            <a:avLst/>
          </a:prstGeom>
          <a:noFill/>
          <a:ln>
            <a:noFill/>
          </a:ln>
        </p:spPr>
        <p:txBody>
          <a:bodyPr anchorCtr="0" anchor="t" bIns="45700" lIns="91425" spcFirstLastPara="1" rIns="91425" wrap="square" tIns="45700">
            <a:spAutoFit/>
          </a:bodyPr>
          <a:lstStyle/>
          <a:p>
            <a:pPr indent="-342900" lvl="0" marL="342900" rtl="0" algn="l">
              <a:lnSpc>
                <a:spcPct val="90000"/>
              </a:lnSpc>
              <a:spcBef>
                <a:spcPts val="0"/>
              </a:spcBef>
              <a:spcAft>
                <a:spcPts val="0"/>
              </a:spcAft>
              <a:buClr>
                <a:schemeClr val="dk1"/>
              </a:buClr>
              <a:buSzPts val="2200"/>
              <a:buFont typeface="Arial"/>
              <a:buChar char="•"/>
            </a:pPr>
            <a:r>
              <a:rPr b="0" i="0" lang="en-US" sz="2200" u="none">
                <a:solidFill>
                  <a:schemeClr val="dk1"/>
                </a:solidFill>
                <a:latin typeface="Calibri"/>
                <a:ea typeface="Calibri"/>
                <a:cs typeface="Calibri"/>
                <a:sym typeface="Calibri"/>
              </a:rPr>
              <a:t>In computer science, a </a:t>
            </a:r>
            <a:r>
              <a:rPr b="1" i="0" lang="en-US" sz="2200" u="none">
                <a:solidFill>
                  <a:schemeClr val="dk1"/>
                </a:solidFill>
                <a:latin typeface="Calibri"/>
                <a:ea typeface="Calibri"/>
                <a:cs typeface="Calibri"/>
                <a:sym typeface="Calibri"/>
              </a:rPr>
              <a:t>binary search tree</a:t>
            </a:r>
            <a:r>
              <a:rPr b="0" i="0" lang="en-US" sz="2200" u="none">
                <a:solidFill>
                  <a:schemeClr val="dk1"/>
                </a:solidFill>
                <a:latin typeface="Calibri"/>
                <a:ea typeface="Calibri"/>
                <a:cs typeface="Calibri"/>
                <a:sym typeface="Calibri"/>
              </a:rPr>
              <a:t> (</a:t>
            </a:r>
            <a:r>
              <a:rPr b="1" i="0" lang="en-US" sz="2200" u="none">
                <a:solidFill>
                  <a:schemeClr val="dk1"/>
                </a:solidFill>
                <a:latin typeface="Calibri"/>
                <a:ea typeface="Calibri"/>
                <a:cs typeface="Calibri"/>
                <a:sym typeface="Calibri"/>
              </a:rPr>
              <a:t>BST</a:t>
            </a:r>
            <a:r>
              <a:rPr b="0" i="0" lang="en-US" sz="2200" u="none">
                <a:solidFill>
                  <a:schemeClr val="dk1"/>
                </a:solidFill>
                <a:latin typeface="Calibri"/>
                <a:ea typeface="Calibri"/>
                <a:cs typeface="Calibri"/>
                <a:sym typeface="Calibri"/>
              </a:rPr>
              <a:t>) is a node based binary tree data structure which has the following properties:</a:t>
            </a:r>
            <a:endParaRPr/>
          </a:p>
          <a:p>
            <a:pPr indent="-342900" lvl="0" marL="342900" rtl="0" algn="l">
              <a:lnSpc>
                <a:spcPct val="90000"/>
              </a:lnSpc>
              <a:spcBef>
                <a:spcPts val="440"/>
              </a:spcBef>
              <a:spcAft>
                <a:spcPts val="0"/>
              </a:spcAft>
              <a:buClr>
                <a:schemeClr val="dk1"/>
              </a:buClr>
              <a:buSzPts val="2200"/>
              <a:buFont typeface="Arial"/>
              <a:buChar char="•"/>
            </a:pPr>
            <a:r>
              <a:rPr b="0" i="0" lang="en-US" sz="2200" u="none">
                <a:solidFill>
                  <a:schemeClr val="dk1"/>
                </a:solidFill>
                <a:latin typeface="Calibri"/>
                <a:ea typeface="Calibri"/>
                <a:cs typeface="Calibri"/>
                <a:sym typeface="Calibri"/>
              </a:rPr>
              <a:t>The </a:t>
            </a:r>
            <a:r>
              <a:rPr b="1" i="1" lang="en-US" sz="2200" u="none">
                <a:solidFill>
                  <a:schemeClr val="hlink"/>
                </a:solidFill>
                <a:latin typeface="Calibri"/>
                <a:ea typeface="Calibri"/>
                <a:cs typeface="Calibri"/>
                <a:sym typeface="Calibri"/>
              </a:rPr>
              <a:t>left subtree</a:t>
            </a:r>
            <a:r>
              <a:rPr b="0" i="0" lang="en-US" sz="2200" u="none">
                <a:solidFill>
                  <a:schemeClr val="dk1"/>
                </a:solidFill>
                <a:latin typeface="Calibri"/>
                <a:ea typeface="Calibri"/>
                <a:cs typeface="Calibri"/>
                <a:sym typeface="Calibri"/>
              </a:rPr>
              <a:t> of a node contains only nodes with keys </a:t>
            </a:r>
            <a:r>
              <a:rPr b="1" i="1" lang="en-US" sz="2200" u="none">
                <a:solidFill>
                  <a:schemeClr val="hlink"/>
                </a:solidFill>
                <a:latin typeface="Calibri"/>
                <a:ea typeface="Calibri"/>
                <a:cs typeface="Calibri"/>
                <a:sym typeface="Calibri"/>
              </a:rPr>
              <a:t>less than the node's key</a:t>
            </a:r>
            <a:r>
              <a:rPr b="0" i="0" lang="en-US" sz="2200" u="none">
                <a:solidFill>
                  <a:schemeClr val="dk1"/>
                </a:solidFill>
                <a:latin typeface="Calibri"/>
                <a:ea typeface="Calibri"/>
                <a:cs typeface="Calibri"/>
                <a:sym typeface="Calibri"/>
              </a:rPr>
              <a:t>. </a:t>
            </a:r>
            <a:endParaRPr/>
          </a:p>
          <a:p>
            <a:pPr indent="-342900" lvl="0" marL="342900" rtl="0" algn="l">
              <a:lnSpc>
                <a:spcPct val="90000"/>
              </a:lnSpc>
              <a:spcBef>
                <a:spcPts val="440"/>
              </a:spcBef>
              <a:spcAft>
                <a:spcPts val="0"/>
              </a:spcAft>
              <a:buClr>
                <a:schemeClr val="dk1"/>
              </a:buClr>
              <a:buSzPts val="2200"/>
              <a:buFont typeface="Arial"/>
              <a:buChar char="•"/>
            </a:pPr>
            <a:r>
              <a:rPr b="0" i="0" lang="en-US" sz="2200" u="none">
                <a:solidFill>
                  <a:schemeClr val="dk1"/>
                </a:solidFill>
                <a:latin typeface="Calibri"/>
                <a:ea typeface="Calibri"/>
                <a:cs typeface="Calibri"/>
                <a:sym typeface="Calibri"/>
              </a:rPr>
              <a:t>The </a:t>
            </a:r>
            <a:r>
              <a:rPr b="1" i="1" lang="en-US" sz="2200" u="none">
                <a:solidFill>
                  <a:schemeClr val="hlink"/>
                </a:solidFill>
                <a:latin typeface="Calibri"/>
                <a:ea typeface="Calibri"/>
                <a:cs typeface="Calibri"/>
                <a:sym typeface="Calibri"/>
              </a:rPr>
              <a:t>right subtree</a:t>
            </a:r>
            <a:r>
              <a:rPr b="0" i="0" lang="en-US" sz="2200" u="none">
                <a:solidFill>
                  <a:schemeClr val="dk1"/>
                </a:solidFill>
                <a:latin typeface="Calibri"/>
                <a:ea typeface="Calibri"/>
                <a:cs typeface="Calibri"/>
                <a:sym typeface="Calibri"/>
              </a:rPr>
              <a:t> of a node contains only nodes with keys </a:t>
            </a:r>
            <a:r>
              <a:rPr b="1" i="1" lang="en-US" sz="2200" u="none">
                <a:solidFill>
                  <a:schemeClr val="hlink"/>
                </a:solidFill>
                <a:latin typeface="Calibri"/>
                <a:ea typeface="Calibri"/>
                <a:cs typeface="Calibri"/>
                <a:sym typeface="Calibri"/>
              </a:rPr>
              <a:t>greater than the node's key</a:t>
            </a:r>
            <a:r>
              <a:rPr b="0" i="0" lang="en-US" sz="2200" u="none">
                <a:solidFill>
                  <a:schemeClr val="dk1"/>
                </a:solidFill>
                <a:latin typeface="Calibri"/>
                <a:ea typeface="Calibri"/>
                <a:cs typeface="Calibri"/>
                <a:sym typeface="Calibri"/>
              </a:rPr>
              <a:t>. </a:t>
            </a:r>
            <a:endParaRPr/>
          </a:p>
          <a:p>
            <a:pPr indent="-342900" lvl="0" marL="342900" rtl="0" algn="l">
              <a:lnSpc>
                <a:spcPct val="90000"/>
              </a:lnSpc>
              <a:spcBef>
                <a:spcPts val="440"/>
              </a:spcBef>
              <a:spcAft>
                <a:spcPts val="0"/>
              </a:spcAft>
              <a:buClr>
                <a:schemeClr val="dk1"/>
              </a:buClr>
              <a:buSzPts val="2200"/>
              <a:buFont typeface="Arial"/>
              <a:buChar char="•"/>
            </a:pPr>
            <a:r>
              <a:rPr b="0" i="0" lang="en-US" sz="2200" u="none">
                <a:solidFill>
                  <a:schemeClr val="dk1"/>
                </a:solidFill>
                <a:latin typeface="Calibri"/>
                <a:ea typeface="Calibri"/>
                <a:cs typeface="Calibri"/>
                <a:sym typeface="Calibri"/>
              </a:rPr>
              <a:t>Both the left and right subtrees must also be binary search trees. </a:t>
            </a:r>
            <a:endParaRPr/>
          </a:p>
          <a:p>
            <a:pPr indent="-342900" lvl="0" marL="342900" rtl="0" algn="l">
              <a:lnSpc>
                <a:spcPct val="90000"/>
              </a:lnSpc>
              <a:spcBef>
                <a:spcPts val="440"/>
              </a:spcBef>
              <a:spcAft>
                <a:spcPts val="0"/>
              </a:spcAft>
              <a:buClr>
                <a:schemeClr val="dk1"/>
              </a:buClr>
              <a:buSzPts val="2200"/>
              <a:buNone/>
            </a:pPr>
            <a:r>
              <a:rPr b="0" i="0" lang="en-US" sz="2200" u="none">
                <a:solidFill>
                  <a:schemeClr val="dk1"/>
                </a:solidFill>
                <a:latin typeface="Calibri"/>
                <a:ea typeface="Calibri"/>
                <a:cs typeface="Calibri"/>
                <a:sym typeface="Calibri"/>
              </a:rPr>
              <a:t>	From the above properties it naturally follows that:</a:t>
            </a:r>
            <a:endParaRPr/>
          </a:p>
          <a:p>
            <a:pPr indent="-342900" lvl="0" marL="342900" rtl="0" algn="l">
              <a:lnSpc>
                <a:spcPct val="90000"/>
              </a:lnSpc>
              <a:spcBef>
                <a:spcPts val="440"/>
              </a:spcBef>
              <a:spcAft>
                <a:spcPts val="0"/>
              </a:spcAft>
              <a:buClr>
                <a:schemeClr val="dk1"/>
              </a:buClr>
              <a:buSzPts val="2200"/>
              <a:buFont typeface="Arial"/>
              <a:buChar char="•"/>
            </a:pPr>
            <a:r>
              <a:rPr b="0" i="0" lang="en-US" sz="2200" u="none">
                <a:solidFill>
                  <a:schemeClr val="dk1"/>
                </a:solidFill>
                <a:latin typeface="Calibri"/>
                <a:ea typeface="Calibri"/>
                <a:cs typeface="Calibri"/>
                <a:sym typeface="Calibri"/>
              </a:rPr>
              <a:t>Each node (item in the tree) has a distinct key. </a:t>
            </a:r>
            <a:endParaRPr/>
          </a:p>
        </p:txBody>
      </p:sp>
      <p:sp>
        <p:nvSpPr>
          <p:cNvPr id="441" name="Google Shape;441;p22"/>
          <p:cNvSpPr txBox="1"/>
          <p:nvPr>
            <p:ph idx="1" type="body"/>
          </p:nvPr>
        </p:nvSpPr>
        <p:spPr>
          <a:xfrm>
            <a:off x="4800600" y="1371600"/>
            <a:ext cx="3810000" cy="996950"/>
          </a:xfrm>
          <a:prstGeom prst="rect">
            <a:avLst/>
          </a:prstGeom>
          <a:noFill/>
          <a:ln>
            <a:noFill/>
          </a:ln>
        </p:spPr>
        <p:txBody>
          <a:bodyPr anchorCtr="0" anchor="t" bIns="45700" lIns="91425" spcFirstLastPara="1" rIns="91425" wrap="square" tIns="45700">
            <a:spAutoFit/>
          </a:bodyPr>
          <a:lstStyle/>
          <a:p>
            <a:pPr indent="-342900" lvl="0" marL="342900" rtl="0" algn="l">
              <a:lnSpc>
                <a:spcPct val="90000"/>
              </a:lnSpc>
              <a:spcBef>
                <a:spcPts val="0"/>
              </a:spcBef>
              <a:spcAft>
                <a:spcPts val="0"/>
              </a:spcAft>
              <a:buClr>
                <a:schemeClr val="dk1"/>
              </a:buClr>
              <a:buSzPts val="2200"/>
              <a:buFont typeface="Arial"/>
              <a:buChar char="•"/>
            </a:pPr>
            <a:r>
              <a:rPr b="0" i="0" lang="en-US" sz="2200" u="none">
                <a:solidFill>
                  <a:schemeClr val="dk1"/>
                </a:solidFill>
                <a:latin typeface="Calibri"/>
                <a:ea typeface="Calibri"/>
                <a:cs typeface="Calibri"/>
                <a:sym typeface="Calibri"/>
              </a:rPr>
              <a:t>An inorder traversal of a binary search trees visits the keys in increasing order</a:t>
            </a:r>
            <a:endParaRPr/>
          </a:p>
        </p:txBody>
      </p:sp>
      <p:pic>
        <p:nvPicPr>
          <p:cNvPr id="442" name="Google Shape;442;p22"/>
          <p:cNvPicPr preferRelativeResize="0"/>
          <p:nvPr/>
        </p:nvPicPr>
        <p:blipFill rotWithShape="1">
          <a:blip r:embed="rId3">
            <a:alphaModFix/>
          </a:blip>
          <a:srcRect b="13888" l="12500" r="62500" t="54225"/>
          <a:stretch/>
        </p:blipFill>
        <p:spPr>
          <a:xfrm>
            <a:off x="4724400" y="2819400"/>
            <a:ext cx="3657600" cy="28956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46" name="Shape 446"/>
        <p:cNvGrpSpPr/>
        <p:nvPr/>
      </p:nvGrpSpPr>
      <p:grpSpPr>
        <a:xfrm>
          <a:off x="0" y="0"/>
          <a:ext cx="0" cy="0"/>
          <a:chOff x="0" y="0"/>
          <a:chExt cx="0" cy="0"/>
        </a:xfrm>
      </p:grpSpPr>
      <p:sp>
        <p:nvSpPr>
          <p:cNvPr id="447" name="Google Shape;447;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None/>
            </a:pPr>
            <a:fld id="{00000000-1234-1234-1234-123412341234}" type="slidenum">
              <a:rPr lang="en-US"/>
              <a:t>‹#›</a:t>
            </a:fld>
            <a:endParaRPr/>
          </a:p>
        </p:txBody>
      </p:sp>
      <p:sp>
        <p:nvSpPr>
          <p:cNvPr id="448" name="Google Shape;448;p23"/>
          <p:cNvSpPr txBox="1"/>
          <p:nvPr/>
        </p:nvSpPr>
        <p:spPr>
          <a:xfrm>
            <a:off x="2895600" y="6356350"/>
            <a:ext cx="3352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a:solidFill>
                  <a:srgbClr val="898989"/>
                </a:solidFill>
                <a:latin typeface="Arial"/>
                <a:ea typeface="Arial"/>
                <a:cs typeface="Arial"/>
                <a:sym typeface="Arial"/>
              </a:rPr>
              <a:t>Data Structures and Algorithms in Java </a:t>
            </a:r>
            <a:endParaRPr/>
          </a:p>
        </p:txBody>
      </p:sp>
      <p:sp>
        <p:nvSpPr>
          <p:cNvPr id="449" name="Google Shape;449;p23"/>
          <p:cNvSpPr txBox="1"/>
          <p:nvPr/>
        </p:nvSpPr>
        <p:spPr>
          <a:xfrm>
            <a:off x="0" y="1271587"/>
            <a:ext cx="533400" cy="244475"/>
          </a:xfrm>
          <a:prstGeom prst="rect">
            <a:avLst/>
          </a:prstGeom>
          <a:noFill/>
          <a:ln>
            <a:noFill/>
          </a:ln>
        </p:spPr>
        <p:txBody>
          <a:bodyPr anchorCtr="0" anchor="ctr" bIns="45700" lIns="91425" spcFirstLastPara="1" rIns="91425" wrap="square" tIns="45700">
            <a:normAutofit/>
          </a:bodyPr>
          <a:lstStyle/>
          <a:p>
            <a:pPr indent="0" lvl="0" marL="0" marR="0" rtl="0" algn="ctr">
              <a:lnSpc>
                <a:spcPct val="80000"/>
              </a:lnSpc>
              <a:spcBef>
                <a:spcPts val="0"/>
              </a:spcBef>
              <a:spcAft>
                <a:spcPts val="0"/>
              </a:spcAft>
              <a:buClr>
                <a:srgbClr val="FFFFFF"/>
              </a:buClr>
              <a:buSzPts val="1200"/>
              <a:buFont typeface="Arial"/>
              <a:buNone/>
            </a:pPr>
            <a:r>
              <a:rPr b="1" i="0" lang="en-US" sz="1200" u="none">
                <a:solidFill>
                  <a:srgbClr val="FFFFFF"/>
                </a:solidFill>
                <a:latin typeface="Arial"/>
                <a:ea typeface="Arial"/>
                <a:cs typeface="Arial"/>
                <a:sym typeface="Arial"/>
              </a:rPr>
              <a:t> </a:t>
            </a:r>
            <a:fld id="{00000000-1234-1234-1234-123412341234}" type="slidenum">
              <a:rPr b="1" i="0" lang="en-US" sz="1200" u="none">
                <a:solidFill>
                  <a:srgbClr val="FFFFFF"/>
                </a:solidFill>
                <a:latin typeface="Arial"/>
                <a:ea typeface="Arial"/>
                <a:cs typeface="Arial"/>
                <a:sym typeface="Arial"/>
              </a:rPr>
              <a:t>‹#›</a:t>
            </a:fld>
            <a:endParaRPr/>
          </a:p>
        </p:txBody>
      </p:sp>
      <p:sp>
        <p:nvSpPr>
          <p:cNvPr id="450" name="Google Shape;450;p23"/>
          <p:cNvSpPr txBox="1"/>
          <p:nvPr/>
        </p:nvSpPr>
        <p:spPr>
          <a:xfrm>
            <a:off x="533400" y="1651000"/>
            <a:ext cx="3276600" cy="2235200"/>
          </a:xfrm>
          <a:prstGeom prst="rect">
            <a:avLst/>
          </a:prstGeom>
          <a:solidFill>
            <a:srgbClr val="CCFFCC"/>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class Node</a:t>
            </a:r>
            <a:endParaRPr/>
          </a:p>
          <a:p>
            <a:pPr indent="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 {int info;</a:t>
            </a:r>
            <a:endParaRPr/>
          </a:p>
          <a:p>
            <a:pPr indent="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  Node left,right;</a:t>
            </a:r>
            <a:endParaRPr/>
          </a:p>
          <a:p>
            <a:pPr indent="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  Node(int x)</a:t>
            </a:r>
            <a:endParaRPr/>
          </a:p>
          <a:p>
            <a:pPr indent="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     {info=x;left=right=null;</a:t>
            </a:r>
            <a:endParaRPr/>
          </a:p>
          <a:p>
            <a:pPr indent="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     }  </a:t>
            </a:r>
            <a:endParaRPr/>
          </a:p>
          <a:p>
            <a:pPr indent="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 }</a:t>
            </a:r>
            <a:endParaRPr/>
          </a:p>
        </p:txBody>
      </p:sp>
      <p:sp>
        <p:nvSpPr>
          <p:cNvPr id="451" name="Google Shape;451;p23"/>
          <p:cNvSpPr txBox="1"/>
          <p:nvPr/>
        </p:nvSpPr>
        <p:spPr>
          <a:xfrm>
            <a:off x="4114800" y="1270000"/>
            <a:ext cx="4495800" cy="4064000"/>
          </a:xfrm>
          <a:prstGeom prst="rect">
            <a:avLst/>
          </a:prstGeom>
          <a:solidFill>
            <a:srgbClr val="CCECFF"/>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class BSTree</a:t>
            </a:r>
            <a:endParaRPr/>
          </a:p>
          <a:p>
            <a:pPr indent="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   {Node root;</a:t>
            </a:r>
            <a:endParaRPr/>
          </a:p>
          <a:p>
            <a:pPr indent="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    BSTree() {root=null;}</a:t>
            </a:r>
            <a:endParaRPr/>
          </a:p>
          <a:p>
            <a:pPr indent="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    void insert(int x)  {... }</a:t>
            </a:r>
            <a:endParaRPr/>
          </a:p>
          <a:p>
            <a:pPr indent="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 </a:t>
            </a:r>
            <a:r>
              <a:rPr b="1" i="0" lang="en-US" sz="2000" u="none">
                <a:solidFill>
                  <a:schemeClr val="dk1"/>
                </a:solidFill>
                <a:latin typeface="Arial"/>
                <a:ea typeface="Arial"/>
                <a:cs typeface="Arial"/>
                <a:sym typeface="Arial"/>
              </a:rPr>
              <a:t>   </a:t>
            </a:r>
            <a:r>
              <a:rPr b="0" i="0" lang="en-US" sz="2000" u="none">
                <a:solidFill>
                  <a:schemeClr val="dk1"/>
                </a:solidFill>
                <a:latin typeface="Arial"/>
                <a:ea typeface="Arial"/>
                <a:cs typeface="Arial"/>
                <a:sym typeface="Arial"/>
              </a:rPr>
              <a:t>void visit(Node p) {...}</a:t>
            </a:r>
            <a:endParaRPr/>
          </a:p>
          <a:p>
            <a:pPr indent="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    void preOrder(Node p) {...}</a:t>
            </a:r>
            <a:endParaRPr/>
          </a:p>
          <a:p>
            <a:pPr indent="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    void inOrder(Node p) {...}</a:t>
            </a:r>
            <a:endParaRPr/>
          </a:p>
          <a:p>
            <a:pPr indent="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    void postOrder(Node p) {...}</a:t>
            </a:r>
            <a:endParaRPr/>
          </a:p>
          <a:p>
            <a:pPr indent="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    Node search(int x) {...}</a:t>
            </a:r>
            <a:endParaRPr/>
          </a:p>
          <a:p>
            <a:pPr indent="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    void deleteByMerging(int x) {...}</a:t>
            </a:r>
            <a:endParaRPr/>
          </a:p>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    </a:t>
            </a:r>
            <a:r>
              <a:rPr b="0" i="0" lang="en-US" sz="2000" u="none">
                <a:solidFill>
                  <a:schemeClr val="dk1"/>
                </a:solidFill>
                <a:latin typeface="Arial"/>
                <a:ea typeface="Arial"/>
                <a:cs typeface="Arial"/>
                <a:sym typeface="Arial"/>
              </a:rPr>
              <a:t>void deleteByCopying(int x) {...}</a:t>
            </a:r>
            <a:endParaRPr/>
          </a:p>
          <a:p>
            <a:pPr indent="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   }</a:t>
            </a:r>
            <a:endParaRPr/>
          </a:p>
          <a:p>
            <a:pPr indent="0" lvl="0" marL="0" marR="0" rtl="0" algn="l">
              <a:lnSpc>
                <a:spcPct val="100000"/>
              </a:lnSpc>
              <a:spcBef>
                <a:spcPts val="0"/>
              </a:spcBef>
              <a:spcAft>
                <a:spcPts val="0"/>
              </a:spcAft>
              <a:buNone/>
            </a:pPr>
            <a:r>
              <a:t/>
            </a:r>
            <a:endParaRPr b="0" i="0" sz="2000" u="none">
              <a:solidFill>
                <a:schemeClr val="dk1"/>
              </a:solidFill>
              <a:latin typeface="Arial"/>
              <a:ea typeface="Arial"/>
              <a:cs typeface="Arial"/>
              <a:sym typeface="Arial"/>
            </a:endParaRPr>
          </a:p>
        </p:txBody>
      </p:sp>
      <p:sp>
        <p:nvSpPr>
          <p:cNvPr id="452" name="Google Shape;452;p23"/>
          <p:cNvSpPr txBox="1"/>
          <p:nvPr/>
        </p:nvSpPr>
        <p:spPr>
          <a:xfrm>
            <a:off x="457200" y="381000"/>
            <a:ext cx="8229600" cy="701675"/>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CC3300"/>
              </a:buClr>
              <a:buSzPts val="4000"/>
              <a:buFont typeface="Calibri"/>
              <a:buNone/>
            </a:pPr>
            <a:r>
              <a:rPr b="1" i="0" lang="en-US" sz="4000" u="none">
                <a:solidFill>
                  <a:srgbClr val="CC3300"/>
                </a:solidFill>
                <a:latin typeface="Calibri"/>
                <a:ea typeface="Calibri"/>
                <a:cs typeface="Calibri"/>
                <a:sym typeface="Calibri"/>
              </a:rPr>
              <a:t>Implementing Binary Search Trees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56" name="Shape 456"/>
        <p:cNvGrpSpPr/>
        <p:nvPr/>
      </p:nvGrpSpPr>
      <p:grpSpPr>
        <a:xfrm>
          <a:off x="0" y="0"/>
          <a:ext cx="0" cy="0"/>
          <a:chOff x="0" y="0"/>
          <a:chExt cx="0" cy="0"/>
        </a:xfrm>
      </p:grpSpPr>
      <p:sp>
        <p:nvSpPr>
          <p:cNvPr id="457" name="Google Shape;457;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None/>
            </a:pPr>
            <a:fld id="{00000000-1234-1234-1234-123412341234}" type="slidenum">
              <a:rPr lang="en-US"/>
              <a:t>‹#›</a:t>
            </a:fld>
            <a:endParaRPr/>
          </a:p>
        </p:txBody>
      </p:sp>
      <p:sp>
        <p:nvSpPr>
          <p:cNvPr id="458" name="Google Shape;458;p24"/>
          <p:cNvSpPr txBox="1"/>
          <p:nvPr/>
        </p:nvSpPr>
        <p:spPr>
          <a:xfrm>
            <a:off x="2895600" y="6356350"/>
            <a:ext cx="3352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a:solidFill>
                  <a:srgbClr val="898989"/>
                </a:solidFill>
                <a:latin typeface="Arial"/>
                <a:ea typeface="Arial"/>
                <a:cs typeface="Arial"/>
                <a:sym typeface="Arial"/>
              </a:rPr>
              <a:t>Data Structures and Algorithms in Java </a:t>
            </a:r>
            <a:endParaRPr/>
          </a:p>
        </p:txBody>
      </p:sp>
      <p:sp>
        <p:nvSpPr>
          <p:cNvPr id="459" name="Google Shape;459;p24"/>
          <p:cNvSpPr txBox="1"/>
          <p:nvPr>
            <p:ph idx="4294967295" type="title"/>
          </p:nvPr>
        </p:nvSpPr>
        <p:spPr>
          <a:xfrm>
            <a:off x="457200" y="654050"/>
            <a:ext cx="8229600" cy="64135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CC3300"/>
              </a:buClr>
              <a:buSzPts val="3600"/>
              <a:buFont typeface="Calibri"/>
              <a:buNone/>
            </a:pPr>
            <a:r>
              <a:rPr b="1" i="0" lang="en-US" sz="3600" u="none" cap="none" strike="noStrike">
                <a:solidFill>
                  <a:srgbClr val="CC3300"/>
                </a:solidFill>
                <a:latin typeface="Calibri"/>
                <a:ea typeface="Calibri"/>
                <a:cs typeface="Calibri"/>
                <a:sym typeface="Calibri"/>
              </a:rPr>
              <a:t>Searching on Binary Search Trees</a:t>
            </a:r>
            <a:endParaRPr/>
          </a:p>
        </p:txBody>
      </p:sp>
      <p:sp>
        <p:nvSpPr>
          <p:cNvPr id="460" name="Google Shape;460;p24"/>
          <p:cNvSpPr txBox="1"/>
          <p:nvPr/>
        </p:nvSpPr>
        <p:spPr>
          <a:xfrm>
            <a:off x="0" y="1271587"/>
            <a:ext cx="533400" cy="244475"/>
          </a:xfrm>
          <a:prstGeom prst="rect">
            <a:avLst/>
          </a:prstGeom>
          <a:noFill/>
          <a:ln>
            <a:noFill/>
          </a:ln>
        </p:spPr>
        <p:txBody>
          <a:bodyPr anchorCtr="0" anchor="ctr" bIns="45700" lIns="91425" spcFirstLastPara="1" rIns="91425" wrap="square" tIns="45700">
            <a:normAutofit/>
          </a:bodyPr>
          <a:lstStyle/>
          <a:p>
            <a:pPr indent="0" lvl="0" marL="0" marR="0" rtl="0" algn="ctr">
              <a:lnSpc>
                <a:spcPct val="80000"/>
              </a:lnSpc>
              <a:spcBef>
                <a:spcPts val="0"/>
              </a:spcBef>
              <a:spcAft>
                <a:spcPts val="0"/>
              </a:spcAft>
              <a:buClr>
                <a:srgbClr val="FFFFFF"/>
              </a:buClr>
              <a:buSzPts val="1200"/>
              <a:buFont typeface="Arial"/>
              <a:buNone/>
            </a:pPr>
            <a:r>
              <a:rPr b="1" i="0" lang="en-US" sz="1200" u="none">
                <a:solidFill>
                  <a:srgbClr val="FFFFFF"/>
                </a:solidFill>
                <a:latin typeface="Arial"/>
                <a:ea typeface="Arial"/>
                <a:cs typeface="Arial"/>
                <a:sym typeface="Arial"/>
              </a:rPr>
              <a:t> </a:t>
            </a:r>
            <a:fld id="{00000000-1234-1234-1234-123412341234}" type="slidenum">
              <a:rPr b="1" i="0" lang="en-US" sz="1200" u="none">
                <a:solidFill>
                  <a:srgbClr val="FFFFFF"/>
                </a:solidFill>
                <a:latin typeface="Arial"/>
                <a:ea typeface="Arial"/>
                <a:cs typeface="Arial"/>
                <a:sym typeface="Arial"/>
              </a:rPr>
              <a:t>‹#›</a:t>
            </a:fld>
            <a:endParaRPr/>
          </a:p>
        </p:txBody>
      </p:sp>
      <p:sp>
        <p:nvSpPr>
          <p:cNvPr id="461" name="Google Shape;461;p24"/>
          <p:cNvSpPr txBox="1"/>
          <p:nvPr/>
        </p:nvSpPr>
        <p:spPr>
          <a:xfrm>
            <a:off x="1676400" y="1946275"/>
            <a:ext cx="6248400" cy="3022600"/>
          </a:xfrm>
          <a:prstGeom prst="rect">
            <a:avLst/>
          </a:prstGeom>
          <a:solidFill>
            <a:srgbClr val="CCECFF"/>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 </a:t>
            </a:r>
            <a:r>
              <a:rPr b="0" i="0" lang="en-US" sz="2400" u="none">
                <a:solidFill>
                  <a:schemeClr val="dk1"/>
                </a:solidFill>
                <a:latin typeface="Arial"/>
                <a:ea typeface="Arial"/>
                <a:cs typeface="Arial"/>
                <a:sym typeface="Arial"/>
              </a:rPr>
              <a:t>Node search(Node p, int x)</a:t>
            </a:r>
            <a:endParaRPr/>
          </a:p>
          <a:p>
            <a:pPr indent="0" lvl="0" marL="0" marR="0" rtl="0" algn="l">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     { if(p==null) return(null);</a:t>
            </a:r>
            <a:endParaRPr/>
          </a:p>
          <a:p>
            <a:pPr indent="0" lvl="0" marL="0" marR="0" rtl="0" algn="l">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       if(p.info==x) return(p);</a:t>
            </a:r>
            <a:endParaRPr/>
          </a:p>
          <a:p>
            <a:pPr indent="0" lvl="0" marL="0" marR="0" rtl="0" algn="l">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       if(x&lt;p.info)</a:t>
            </a:r>
            <a:endParaRPr/>
          </a:p>
          <a:p>
            <a:pPr indent="0" lvl="0" marL="0" marR="0" rtl="0" algn="l">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          return(search(p.left,x));</a:t>
            </a:r>
            <a:endParaRPr/>
          </a:p>
          <a:p>
            <a:pPr indent="0" lvl="0" marL="0" marR="0" rtl="0" algn="l">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          else</a:t>
            </a:r>
            <a:endParaRPr/>
          </a:p>
          <a:p>
            <a:pPr indent="0" lvl="0" marL="0" marR="0" rtl="0" algn="l">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           return(search(p.right,x));</a:t>
            </a:r>
            <a:endParaRPr/>
          </a:p>
          <a:p>
            <a:pPr indent="0" lvl="0" marL="0" marR="0" rtl="0" algn="l">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65" name="Shape 465"/>
        <p:cNvGrpSpPr/>
        <p:nvPr/>
      </p:nvGrpSpPr>
      <p:grpSpPr>
        <a:xfrm>
          <a:off x="0" y="0"/>
          <a:ext cx="0" cy="0"/>
          <a:chOff x="0" y="0"/>
          <a:chExt cx="0" cy="0"/>
        </a:xfrm>
      </p:grpSpPr>
      <p:sp>
        <p:nvSpPr>
          <p:cNvPr id="466" name="Google Shape;466;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None/>
            </a:pPr>
            <a:fld id="{00000000-1234-1234-1234-123412341234}" type="slidenum">
              <a:rPr lang="en-US"/>
              <a:t>‹#›</a:t>
            </a:fld>
            <a:endParaRPr/>
          </a:p>
        </p:txBody>
      </p:sp>
      <p:sp>
        <p:nvSpPr>
          <p:cNvPr id="467" name="Google Shape;467;p25"/>
          <p:cNvSpPr txBox="1"/>
          <p:nvPr/>
        </p:nvSpPr>
        <p:spPr>
          <a:xfrm>
            <a:off x="2895600" y="6356350"/>
            <a:ext cx="3352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a:solidFill>
                  <a:srgbClr val="898989"/>
                </a:solidFill>
                <a:latin typeface="Arial"/>
                <a:ea typeface="Arial"/>
                <a:cs typeface="Arial"/>
                <a:sym typeface="Arial"/>
              </a:rPr>
              <a:t>Data Structures and Algorithms in Java </a:t>
            </a:r>
            <a:endParaRPr/>
          </a:p>
        </p:txBody>
      </p:sp>
      <p:sp>
        <p:nvSpPr>
          <p:cNvPr id="468" name="Google Shape;468;p25"/>
          <p:cNvSpPr txBox="1"/>
          <p:nvPr>
            <p:ph idx="4294967295" type="title"/>
          </p:nvPr>
        </p:nvSpPr>
        <p:spPr>
          <a:xfrm>
            <a:off x="1447800" y="609600"/>
            <a:ext cx="6248400" cy="701675"/>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CC3300"/>
              </a:buClr>
              <a:buSzPts val="4000"/>
              <a:buFont typeface="Calibri"/>
              <a:buNone/>
            </a:pPr>
            <a:r>
              <a:rPr b="1" i="0" lang="en-US" sz="4000" u="none" cap="none" strike="noStrike">
                <a:solidFill>
                  <a:srgbClr val="CC3300"/>
                </a:solidFill>
                <a:latin typeface="Calibri"/>
                <a:ea typeface="Calibri"/>
                <a:cs typeface="Calibri"/>
                <a:sym typeface="Calibri"/>
              </a:rPr>
              <a:t>Insertion - 1</a:t>
            </a:r>
            <a:endParaRPr/>
          </a:p>
        </p:txBody>
      </p:sp>
      <p:sp>
        <p:nvSpPr>
          <p:cNvPr id="469" name="Google Shape;469;p25"/>
          <p:cNvSpPr txBox="1"/>
          <p:nvPr/>
        </p:nvSpPr>
        <p:spPr>
          <a:xfrm>
            <a:off x="0" y="1271587"/>
            <a:ext cx="533400" cy="244475"/>
          </a:xfrm>
          <a:prstGeom prst="rect">
            <a:avLst/>
          </a:prstGeom>
          <a:noFill/>
          <a:ln>
            <a:noFill/>
          </a:ln>
        </p:spPr>
        <p:txBody>
          <a:bodyPr anchorCtr="0" anchor="ctr" bIns="45700" lIns="91425" spcFirstLastPara="1" rIns="91425" wrap="square" tIns="45700">
            <a:normAutofit/>
          </a:bodyPr>
          <a:lstStyle/>
          <a:p>
            <a:pPr indent="0" lvl="0" marL="0" marR="0" rtl="0" algn="ctr">
              <a:lnSpc>
                <a:spcPct val="80000"/>
              </a:lnSpc>
              <a:spcBef>
                <a:spcPts val="0"/>
              </a:spcBef>
              <a:spcAft>
                <a:spcPts val="0"/>
              </a:spcAft>
              <a:buClr>
                <a:srgbClr val="FFFFFF"/>
              </a:buClr>
              <a:buSzPts val="1200"/>
              <a:buFont typeface="Arial"/>
              <a:buNone/>
            </a:pPr>
            <a:r>
              <a:rPr b="1" i="0" lang="en-US" sz="1200" u="none">
                <a:solidFill>
                  <a:srgbClr val="FFFFFF"/>
                </a:solidFill>
                <a:latin typeface="Arial"/>
                <a:ea typeface="Arial"/>
                <a:cs typeface="Arial"/>
                <a:sym typeface="Arial"/>
              </a:rPr>
              <a:t> </a:t>
            </a:r>
            <a:fld id="{00000000-1234-1234-1234-123412341234}" type="slidenum">
              <a:rPr b="1" i="0" lang="en-US" sz="1200" u="none">
                <a:solidFill>
                  <a:srgbClr val="FFFFFF"/>
                </a:solidFill>
                <a:latin typeface="Arial"/>
                <a:ea typeface="Arial"/>
                <a:cs typeface="Arial"/>
                <a:sym typeface="Arial"/>
              </a:rPr>
              <a:t>‹#›</a:t>
            </a:fld>
            <a:endParaRPr/>
          </a:p>
        </p:txBody>
      </p:sp>
      <p:sp>
        <p:nvSpPr>
          <p:cNvPr id="470" name="Google Shape;470;p25"/>
          <p:cNvSpPr txBox="1"/>
          <p:nvPr/>
        </p:nvSpPr>
        <p:spPr>
          <a:xfrm>
            <a:off x="2079625" y="5622925"/>
            <a:ext cx="5006975"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Inserting nodes into binary search trees</a:t>
            </a:r>
            <a:endParaRPr/>
          </a:p>
        </p:txBody>
      </p:sp>
      <p:pic>
        <p:nvPicPr>
          <p:cNvPr id="471" name="Google Shape;471;p25"/>
          <p:cNvPicPr preferRelativeResize="0"/>
          <p:nvPr/>
        </p:nvPicPr>
        <p:blipFill rotWithShape="1">
          <a:blip r:embed="rId3">
            <a:alphaModFix/>
          </a:blip>
          <a:srcRect b="0" l="0" r="0" t="0"/>
          <a:stretch/>
        </p:blipFill>
        <p:spPr>
          <a:xfrm>
            <a:off x="1524000" y="1643062"/>
            <a:ext cx="6354762" cy="3843337"/>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75" name="Shape 475"/>
        <p:cNvGrpSpPr/>
        <p:nvPr/>
      </p:nvGrpSpPr>
      <p:grpSpPr>
        <a:xfrm>
          <a:off x="0" y="0"/>
          <a:ext cx="0" cy="0"/>
          <a:chOff x="0" y="0"/>
          <a:chExt cx="0" cy="0"/>
        </a:xfrm>
      </p:grpSpPr>
      <p:sp>
        <p:nvSpPr>
          <p:cNvPr id="476" name="Google Shape;476;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None/>
            </a:pPr>
            <a:fld id="{00000000-1234-1234-1234-123412341234}" type="slidenum">
              <a:rPr lang="en-US"/>
              <a:t>‹#›</a:t>
            </a:fld>
            <a:endParaRPr/>
          </a:p>
        </p:txBody>
      </p:sp>
      <p:sp>
        <p:nvSpPr>
          <p:cNvPr id="477" name="Google Shape;477;p26"/>
          <p:cNvSpPr txBox="1"/>
          <p:nvPr/>
        </p:nvSpPr>
        <p:spPr>
          <a:xfrm>
            <a:off x="2895600" y="6356350"/>
            <a:ext cx="3352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a:solidFill>
                  <a:srgbClr val="898989"/>
                </a:solidFill>
                <a:latin typeface="Arial"/>
                <a:ea typeface="Arial"/>
                <a:cs typeface="Arial"/>
                <a:sym typeface="Arial"/>
              </a:rPr>
              <a:t>Data Structures and Algorithms in Java </a:t>
            </a:r>
            <a:endParaRPr/>
          </a:p>
        </p:txBody>
      </p:sp>
      <p:sp>
        <p:nvSpPr>
          <p:cNvPr id="478" name="Google Shape;478;p26"/>
          <p:cNvSpPr txBox="1"/>
          <p:nvPr/>
        </p:nvSpPr>
        <p:spPr>
          <a:xfrm>
            <a:off x="0" y="1271587"/>
            <a:ext cx="533400" cy="244475"/>
          </a:xfrm>
          <a:prstGeom prst="rect">
            <a:avLst/>
          </a:prstGeom>
          <a:noFill/>
          <a:ln>
            <a:noFill/>
          </a:ln>
        </p:spPr>
        <p:txBody>
          <a:bodyPr anchorCtr="0" anchor="ctr" bIns="45700" lIns="91425" spcFirstLastPara="1" rIns="91425" wrap="square" tIns="45700">
            <a:normAutofit/>
          </a:bodyPr>
          <a:lstStyle/>
          <a:p>
            <a:pPr indent="0" lvl="0" marL="0" marR="0" rtl="0" algn="ctr">
              <a:lnSpc>
                <a:spcPct val="80000"/>
              </a:lnSpc>
              <a:spcBef>
                <a:spcPts val="0"/>
              </a:spcBef>
              <a:spcAft>
                <a:spcPts val="0"/>
              </a:spcAft>
              <a:buClr>
                <a:srgbClr val="FFFFFF"/>
              </a:buClr>
              <a:buSzPts val="1200"/>
              <a:buFont typeface="Arial"/>
              <a:buNone/>
            </a:pPr>
            <a:r>
              <a:rPr b="1" i="0" lang="en-US" sz="1200" u="none">
                <a:solidFill>
                  <a:srgbClr val="FFFFFF"/>
                </a:solidFill>
                <a:latin typeface="Arial"/>
                <a:ea typeface="Arial"/>
                <a:cs typeface="Arial"/>
                <a:sym typeface="Arial"/>
              </a:rPr>
              <a:t> </a:t>
            </a:r>
            <a:fld id="{00000000-1234-1234-1234-123412341234}" type="slidenum">
              <a:rPr b="1" i="0" lang="en-US" sz="1200" u="none">
                <a:solidFill>
                  <a:srgbClr val="FFFFFF"/>
                </a:solidFill>
                <a:latin typeface="Arial"/>
                <a:ea typeface="Arial"/>
                <a:cs typeface="Arial"/>
                <a:sym typeface="Arial"/>
              </a:rPr>
              <a:t>‹#›</a:t>
            </a:fld>
            <a:endParaRPr/>
          </a:p>
        </p:txBody>
      </p:sp>
      <p:sp>
        <p:nvSpPr>
          <p:cNvPr id="479" name="Google Shape;479;p26"/>
          <p:cNvSpPr txBox="1"/>
          <p:nvPr/>
        </p:nvSpPr>
        <p:spPr>
          <a:xfrm>
            <a:off x="304800" y="1447800"/>
            <a:ext cx="4724400" cy="4064000"/>
          </a:xfrm>
          <a:prstGeom prst="rect">
            <a:avLst/>
          </a:prstGeom>
          <a:solidFill>
            <a:srgbClr val="CCECFF"/>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 </a:t>
            </a:r>
            <a:r>
              <a:rPr b="0" i="0" lang="en-US" sz="2000" u="none">
                <a:solidFill>
                  <a:schemeClr val="dk1"/>
                </a:solidFill>
                <a:latin typeface="Arial"/>
                <a:ea typeface="Arial"/>
                <a:cs typeface="Arial"/>
                <a:sym typeface="Arial"/>
              </a:rPr>
              <a:t>void insert(int x)</a:t>
            </a:r>
            <a:endParaRPr/>
          </a:p>
          <a:p>
            <a:pPr indent="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   {if(root==null)</a:t>
            </a:r>
            <a:endParaRPr/>
          </a:p>
          <a:p>
            <a:pPr indent="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      {root = new Node(x);</a:t>
            </a:r>
            <a:endParaRPr/>
          </a:p>
          <a:p>
            <a:pPr indent="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       return; </a:t>
            </a:r>
            <a:endParaRPr/>
          </a:p>
          <a:p>
            <a:pPr indent="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      }</a:t>
            </a:r>
            <a:endParaRPr/>
          </a:p>
          <a:p>
            <a:pPr indent="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    Node f,p;</a:t>
            </a:r>
            <a:endParaRPr/>
          </a:p>
          <a:p>
            <a:pPr indent="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    p=root;f=null;</a:t>
            </a:r>
            <a:endParaRPr/>
          </a:p>
          <a:p>
            <a:pPr indent="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    while(p!=null)</a:t>
            </a:r>
            <a:endParaRPr/>
          </a:p>
          <a:p>
            <a:pPr indent="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     {if(p.info==x)</a:t>
            </a:r>
            <a:endParaRPr/>
          </a:p>
          <a:p>
            <a:pPr indent="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       {System.out.println(" The key " + x + " already exists, no insertion");</a:t>
            </a:r>
            <a:endParaRPr/>
          </a:p>
          <a:p>
            <a:pPr indent="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        return;</a:t>
            </a:r>
            <a:endParaRPr/>
          </a:p>
          <a:p>
            <a:pPr indent="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       }</a:t>
            </a:r>
            <a:endParaRPr/>
          </a:p>
        </p:txBody>
      </p:sp>
      <p:sp>
        <p:nvSpPr>
          <p:cNvPr id="480" name="Google Shape;480;p26"/>
          <p:cNvSpPr txBox="1"/>
          <p:nvPr/>
        </p:nvSpPr>
        <p:spPr>
          <a:xfrm>
            <a:off x="1447800" y="457200"/>
            <a:ext cx="6248400" cy="701675"/>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CC3300"/>
              </a:buClr>
              <a:buSzPts val="4000"/>
              <a:buFont typeface="Calibri"/>
              <a:buNone/>
            </a:pPr>
            <a:r>
              <a:rPr b="1" i="0" lang="en-US" sz="4000" u="none">
                <a:solidFill>
                  <a:srgbClr val="CC3300"/>
                </a:solidFill>
                <a:latin typeface="Calibri"/>
                <a:ea typeface="Calibri"/>
                <a:cs typeface="Calibri"/>
                <a:sym typeface="Calibri"/>
              </a:rPr>
              <a:t>Insertion - 2</a:t>
            </a:r>
            <a:endParaRPr/>
          </a:p>
        </p:txBody>
      </p:sp>
      <p:sp>
        <p:nvSpPr>
          <p:cNvPr id="481" name="Google Shape;481;p26"/>
          <p:cNvSpPr txBox="1"/>
          <p:nvPr/>
        </p:nvSpPr>
        <p:spPr>
          <a:xfrm>
            <a:off x="5334000" y="1422400"/>
            <a:ext cx="3429000" cy="3454400"/>
          </a:xfrm>
          <a:prstGeom prst="rect">
            <a:avLst/>
          </a:prstGeom>
          <a:solidFill>
            <a:srgbClr val="CCECFF"/>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f=p;</a:t>
            </a:r>
            <a:endParaRPr/>
          </a:p>
          <a:p>
            <a:pPr indent="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if(x&lt;p.info)</a:t>
            </a:r>
            <a:endParaRPr/>
          </a:p>
          <a:p>
            <a:pPr indent="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        p=p.left;</a:t>
            </a:r>
            <a:endParaRPr/>
          </a:p>
          <a:p>
            <a:pPr indent="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        else</a:t>
            </a:r>
            <a:endParaRPr/>
          </a:p>
          <a:p>
            <a:pPr indent="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        p=p.right;</a:t>
            </a:r>
            <a:endParaRPr/>
          </a:p>
          <a:p>
            <a:pPr indent="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     }</a:t>
            </a:r>
            <a:endParaRPr/>
          </a:p>
          <a:p>
            <a:pPr indent="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    if(x&lt;f.info)</a:t>
            </a:r>
            <a:endParaRPr/>
          </a:p>
          <a:p>
            <a:pPr indent="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      f.left=new Node(x);</a:t>
            </a:r>
            <a:endParaRPr/>
          </a:p>
          <a:p>
            <a:pPr indent="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       else</a:t>
            </a:r>
            <a:endParaRPr/>
          </a:p>
          <a:p>
            <a:pPr indent="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        f.right=new Node(x);</a:t>
            </a:r>
            <a:endParaRPr/>
          </a:p>
          <a:p>
            <a:pPr indent="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85" name="Shape 485"/>
        <p:cNvGrpSpPr/>
        <p:nvPr/>
      </p:nvGrpSpPr>
      <p:grpSpPr>
        <a:xfrm>
          <a:off x="0" y="0"/>
          <a:ext cx="0" cy="0"/>
          <a:chOff x="0" y="0"/>
          <a:chExt cx="0" cy="0"/>
        </a:xfrm>
      </p:grpSpPr>
      <p:sp>
        <p:nvSpPr>
          <p:cNvPr id="486" name="Google Shape;486;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None/>
            </a:pPr>
            <a:fld id="{00000000-1234-1234-1234-123412341234}" type="slidenum">
              <a:rPr lang="en-US"/>
              <a:t>‹#›</a:t>
            </a:fld>
            <a:endParaRPr/>
          </a:p>
        </p:txBody>
      </p:sp>
      <p:sp>
        <p:nvSpPr>
          <p:cNvPr id="487" name="Google Shape;487;p27"/>
          <p:cNvSpPr txBox="1"/>
          <p:nvPr/>
        </p:nvSpPr>
        <p:spPr>
          <a:xfrm>
            <a:off x="2895600" y="6356350"/>
            <a:ext cx="3352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a:solidFill>
                  <a:srgbClr val="898989"/>
                </a:solidFill>
                <a:latin typeface="Arial"/>
                <a:ea typeface="Arial"/>
                <a:cs typeface="Arial"/>
                <a:sym typeface="Arial"/>
              </a:rPr>
              <a:t>Data Structures and Algorithms in Java </a:t>
            </a:r>
            <a:endParaRPr/>
          </a:p>
        </p:txBody>
      </p:sp>
      <p:sp>
        <p:nvSpPr>
          <p:cNvPr id="488" name="Google Shape;488;p27"/>
          <p:cNvSpPr txBox="1"/>
          <p:nvPr>
            <p:ph idx="4294967295" type="title"/>
          </p:nvPr>
        </p:nvSpPr>
        <p:spPr>
          <a:xfrm>
            <a:off x="838200" y="669925"/>
            <a:ext cx="6400800" cy="701675"/>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CC3300"/>
              </a:buClr>
              <a:buSzPts val="4000"/>
              <a:buFont typeface="Calibri"/>
              <a:buNone/>
            </a:pPr>
            <a:r>
              <a:rPr b="1" i="0" lang="en-US" sz="4000" u="none" cap="none" strike="noStrike">
                <a:solidFill>
                  <a:srgbClr val="CC3300"/>
                </a:solidFill>
                <a:latin typeface="Calibri"/>
                <a:ea typeface="Calibri"/>
                <a:cs typeface="Calibri"/>
                <a:sym typeface="Calibri"/>
              </a:rPr>
              <a:t>Deletion - 1</a:t>
            </a:r>
            <a:endParaRPr/>
          </a:p>
        </p:txBody>
      </p:sp>
      <p:sp>
        <p:nvSpPr>
          <p:cNvPr id="489" name="Google Shape;489;p27"/>
          <p:cNvSpPr txBox="1"/>
          <p:nvPr/>
        </p:nvSpPr>
        <p:spPr>
          <a:xfrm>
            <a:off x="0" y="1271587"/>
            <a:ext cx="533400" cy="244475"/>
          </a:xfrm>
          <a:prstGeom prst="rect">
            <a:avLst/>
          </a:prstGeom>
          <a:noFill/>
          <a:ln>
            <a:noFill/>
          </a:ln>
        </p:spPr>
        <p:txBody>
          <a:bodyPr anchorCtr="0" anchor="ctr" bIns="45700" lIns="91425" spcFirstLastPara="1" rIns="91425" wrap="square" tIns="45700">
            <a:normAutofit/>
          </a:bodyPr>
          <a:lstStyle/>
          <a:p>
            <a:pPr indent="0" lvl="0" marL="0" marR="0" rtl="0" algn="ctr">
              <a:lnSpc>
                <a:spcPct val="80000"/>
              </a:lnSpc>
              <a:spcBef>
                <a:spcPts val="0"/>
              </a:spcBef>
              <a:spcAft>
                <a:spcPts val="0"/>
              </a:spcAft>
              <a:buClr>
                <a:srgbClr val="FFFFFF"/>
              </a:buClr>
              <a:buSzPts val="1200"/>
              <a:buFont typeface="Arial"/>
              <a:buNone/>
            </a:pPr>
            <a:r>
              <a:rPr b="1" i="0" lang="en-US" sz="1200" u="none">
                <a:solidFill>
                  <a:srgbClr val="FFFFFF"/>
                </a:solidFill>
                <a:latin typeface="Arial"/>
                <a:ea typeface="Arial"/>
                <a:cs typeface="Arial"/>
                <a:sym typeface="Arial"/>
              </a:rPr>
              <a:t> </a:t>
            </a:r>
            <a:fld id="{00000000-1234-1234-1234-123412341234}" type="slidenum">
              <a:rPr b="1" i="0" lang="en-US" sz="1200" u="none">
                <a:solidFill>
                  <a:srgbClr val="FFFFFF"/>
                </a:solidFill>
                <a:latin typeface="Arial"/>
                <a:ea typeface="Arial"/>
                <a:cs typeface="Arial"/>
                <a:sym typeface="Arial"/>
              </a:rPr>
              <a:t>‹#›</a:t>
            </a:fld>
            <a:endParaRPr/>
          </a:p>
        </p:txBody>
      </p:sp>
      <p:sp>
        <p:nvSpPr>
          <p:cNvPr id="490" name="Google Shape;490;p27"/>
          <p:cNvSpPr txBox="1"/>
          <p:nvPr>
            <p:ph idx="4294967295" type="body"/>
          </p:nvPr>
        </p:nvSpPr>
        <p:spPr>
          <a:xfrm>
            <a:off x="685800" y="1738312"/>
            <a:ext cx="7467600" cy="2605087"/>
          </a:xfrm>
          <a:prstGeom prst="rect">
            <a:avLst/>
          </a:prstGeom>
          <a:noFill/>
          <a:ln>
            <a:noFill/>
          </a:ln>
        </p:spPr>
        <p:txBody>
          <a:bodyPr anchorCtr="0" anchor="t" bIns="45700" lIns="91425" spcFirstLastPara="1" rIns="91425" wrap="square" tIns="45700">
            <a:spAutoFit/>
          </a:bodyPr>
          <a:lstStyle/>
          <a:p>
            <a:pPr indent="-319087" lvl="0" marL="319087" marR="0" rtl="0" algn="l">
              <a:lnSpc>
                <a:spcPct val="100000"/>
              </a:lnSpc>
              <a:spcBef>
                <a:spcPts val="0"/>
              </a:spcBef>
              <a:spcAft>
                <a:spcPts val="0"/>
              </a:spcAft>
              <a:buClr>
                <a:schemeClr val="dk1"/>
              </a:buClr>
              <a:buSzPts val="3200"/>
              <a:buFont typeface="Arial"/>
              <a:buChar char="•"/>
            </a:pPr>
            <a:r>
              <a:rPr b="0" i="0" lang="en-US" sz="3200" u="none" cap="none" strike="noStrike">
                <a:solidFill>
                  <a:schemeClr val="dk1"/>
                </a:solidFill>
                <a:latin typeface="Calibri"/>
                <a:ea typeface="Calibri"/>
                <a:cs typeface="Calibri"/>
                <a:sym typeface="Calibri"/>
              </a:rPr>
              <a:t>There are three cases of deleting a node from the binary search tree:</a:t>
            </a:r>
            <a:endParaRPr/>
          </a:p>
          <a:p>
            <a:pPr indent="-273049" lvl="1" marL="639762" marR="0" rtl="0" algn="l">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The node is a leaf; it has no children</a:t>
            </a:r>
            <a:endParaRPr/>
          </a:p>
          <a:p>
            <a:pPr indent="-273049" lvl="1" marL="639762" marR="0" rtl="0" algn="l">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The node has one child</a:t>
            </a:r>
            <a:endParaRPr/>
          </a:p>
          <a:p>
            <a:pPr indent="-273049" lvl="1" marL="639762" marR="0" rtl="0" algn="l">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The node has two children</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94" name="Shape 494"/>
        <p:cNvGrpSpPr/>
        <p:nvPr/>
      </p:nvGrpSpPr>
      <p:grpSpPr>
        <a:xfrm>
          <a:off x="0" y="0"/>
          <a:ext cx="0" cy="0"/>
          <a:chOff x="0" y="0"/>
          <a:chExt cx="0" cy="0"/>
        </a:xfrm>
      </p:grpSpPr>
      <p:sp>
        <p:nvSpPr>
          <p:cNvPr id="495" name="Google Shape;495;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None/>
            </a:pPr>
            <a:fld id="{00000000-1234-1234-1234-123412341234}" type="slidenum">
              <a:rPr lang="en-US"/>
              <a:t>‹#›</a:t>
            </a:fld>
            <a:endParaRPr/>
          </a:p>
        </p:txBody>
      </p:sp>
      <p:sp>
        <p:nvSpPr>
          <p:cNvPr id="496" name="Google Shape;496;p28"/>
          <p:cNvSpPr txBox="1"/>
          <p:nvPr/>
        </p:nvSpPr>
        <p:spPr>
          <a:xfrm>
            <a:off x="2895600" y="6356350"/>
            <a:ext cx="3352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a:solidFill>
                  <a:srgbClr val="898989"/>
                </a:solidFill>
                <a:latin typeface="Arial"/>
                <a:ea typeface="Arial"/>
                <a:cs typeface="Arial"/>
                <a:sym typeface="Arial"/>
              </a:rPr>
              <a:t>Data Structures and Algorithms in Java </a:t>
            </a:r>
            <a:endParaRPr/>
          </a:p>
        </p:txBody>
      </p:sp>
      <p:sp>
        <p:nvSpPr>
          <p:cNvPr id="497" name="Google Shape;497;p28"/>
          <p:cNvSpPr txBox="1"/>
          <p:nvPr/>
        </p:nvSpPr>
        <p:spPr>
          <a:xfrm>
            <a:off x="0" y="1271587"/>
            <a:ext cx="533400" cy="244475"/>
          </a:xfrm>
          <a:prstGeom prst="rect">
            <a:avLst/>
          </a:prstGeom>
          <a:noFill/>
          <a:ln>
            <a:noFill/>
          </a:ln>
        </p:spPr>
        <p:txBody>
          <a:bodyPr anchorCtr="0" anchor="ctr" bIns="45700" lIns="91425" spcFirstLastPara="1" rIns="91425" wrap="square" tIns="45700">
            <a:normAutofit/>
          </a:bodyPr>
          <a:lstStyle/>
          <a:p>
            <a:pPr indent="0" lvl="0" marL="0" marR="0" rtl="0" algn="ctr">
              <a:lnSpc>
                <a:spcPct val="80000"/>
              </a:lnSpc>
              <a:spcBef>
                <a:spcPts val="0"/>
              </a:spcBef>
              <a:spcAft>
                <a:spcPts val="0"/>
              </a:spcAft>
              <a:buClr>
                <a:srgbClr val="FFFFFF"/>
              </a:buClr>
              <a:buSzPts val="1200"/>
              <a:buFont typeface="Arial"/>
              <a:buNone/>
            </a:pPr>
            <a:r>
              <a:rPr b="1" i="0" lang="en-US" sz="1200" u="none">
                <a:solidFill>
                  <a:srgbClr val="FFFFFF"/>
                </a:solidFill>
                <a:latin typeface="Arial"/>
                <a:ea typeface="Arial"/>
                <a:cs typeface="Arial"/>
                <a:sym typeface="Arial"/>
              </a:rPr>
              <a:t> </a:t>
            </a:r>
            <a:fld id="{00000000-1234-1234-1234-123412341234}" type="slidenum">
              <a:rPr b="1" i="0" lang="en-US" sz="1200" u="none">
                <a:solidFill>
                  <a:srgbClr val="FFFFFF"/>
                </a:solidFill>
                <a:latin typeface="Arial"/>
                <a:ea typeface="Arial"/>
                <a:cs typeface="Arial"/>
                <a:sym typeface="Arial"/>
              </a:rPr>
              <a:t>‹#›</a:t>
            </a:fld>
            <a:endParaRPr/>
          </a:p>
        </p:txBody>
      </p:sp>
      <p:sp>
        <p:nvSpPr>
          <p:cNvPr id="498" name="Google Shape;498;p28"/>
          <p:cNvSpPr txBox="1"/>
          <p:nvPr/>
        </p:nvSpPr>
        <p:spPr>
          <a:xfrm>
            <a:off x="2895600" y="3124200"/>
            <a:ext cx="2362200"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Deleting a leaf</a:t>
            </a:r>
            <a:endParaRPr/>
          </a:p>
        </p:txBody>
      </p:sp>
      <p:sp>
        <p:nvSpPr>
          <p:cNvPr id="499" name="Google Shape;499;p28"/>
          <p:cNvSpPr txBox="1"/>
          <p:nvPr/>
        </p:nvSpPr>
        <p:spPr>
          <a:xfrm>
            <a:off x="2057400" y="5486400"/>
            <a:ext cx="4495800"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Deleting a node with one child</a:t>
            </a:r>
            <a:endParaRPr/>
          </a:p>
        </p:txBody>
      </p:sp>
      <p:pic>
        <p:nvPicPr>
          <p:cNvPr id="500" name="Google Shape;500;p28"/>
          <p:cNvPicPr preferRelativeResize="0"/>
          <p:nvPr/>
        </p:nvPicPr>
        <p:blipFill rotWithShape="1">
          <a:blip r:embed="rId3">
            <a:alphaModFix/>
          </a:blip>
          <a:srcRect b="0" l="0" r="0" t="0"/>
          <a:stretch/>
        </p:blipFill>
        <p:spPr>
          <a:xfrm>
            <a:off x="1371600" y="3886200"/>
            <a:ext cx="6351587" cy="1423987"/>
          </a:xfrm>
          <a:prstGeom prst="rect">
            <a:avLst/>
          </a:prstGeom>
          <a:noFill/>
          <a:ln>
            <a:noFill/>
          </a:ln>
        </p:spPr>
      </p:pic>
      <p:pic>
        <p:nvPicPr>
          <p:cNvPr id="501" name="Google Shape;501;p28"/>
          <p:cNvPicPr preferRelativeResize="0"/>
          <p:nvPr/>
        </p:nvPicPr>
        <p:blipFill rotWithShape="1">
          <a:blip r:embed="rId4">
            <a:alphaModFix/>
          </a:blip>
          <a:srcRect b="0" l="0" r="0" t="0"/>
          <a:stretch/>
        </p:blipFill>
        <p:spPr>
          <a:xfrm>
            <a:off x="1447800" y="1524000"/>
            <a:ext cx="6448425" cy="1493837"/>
          </a:xfrm>
          <a:prstGeom prst="rect">
            <a:avLst/>
          </a:prstGeom>
          <a:noFill/>
          <a:ln>
            <a:noFill/>
          </a:ln>
        </p:spPr>
      </p:pic>
      <p:sp>
        <p:nvSpPr>
          <p:cNvPr id="502" name="Google Shape;502;p28"/>
          <p:cNvSpPr txBox="1"/>
          <p:nvPr/>
        </p:nvSpPr>
        <p:spPr>
          <a:xfrm>
            <a:off x="990600" y="593725"/>
            <a:ext cx="6400800" cy="701675"/>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CC3300"/>
              </a:buClr>
              <a:buSzPts val="4000"/>
              <a:buFont typeface="Calibri"/>
              <a:buNone/>
            </a:pPr>
            <a:r>
              <a:rPr b="1" i="0" lang="en-US" sz="4000" u="none">
                <a:solidFill>
                  <a:srgbClr val="CC3300"/>
                </a:solidFill>
                <a:latin typeface="Calibri"/>
                <a:ea typeface="Calibri"/>
                <a:cs typeface="Calibri"/>
                <a:sym typeface="Calibri"/>
              </a:rPr>
              <a:t>Deletion - 2</a:t>
            </a:r>
            <a:endParaRPr/>
          </a:p>
        </p:txBody>
      </p:sp>
      <p:sp>
        <p:nvSpPr>
          <p:cNvPr id="503" name="Google Shape;503;p28"/>
          <p:cNvSpPr txBox="1"/>
          <p:nvPr/>
        </p:nvSpPr>
        <p:spPr>
          <a:xfrm>
            <a:off x="5757500" y="80125"/>
            <a:ext cx="3911400" cy="1800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500">
                <a:solidFill>
                  <a:schemeClr val="dk1"/>
                </a:solidFill>
                <a:latin typeface="Calibri"/>
                <a:ea typeface="Calibri"/>
                <a:cs typeface="Calibri"/>
                <a:sym typeface="Calibri"/>
              </a:rPr>
              <a:t>Step1: Find node need delete ( q ) and father of it ( f ) </a:t>
            </a:r>
            <a:endParaRPr sz="1500">
              <a:solidFill>
                <a:schemeClr val="dk1"/>
              </a:solidFill>
              <a:latin typeface="Calibri"/>
              <a:ea typeface="Calibri"/>
              <a:cs typeface="Calibri"/>
              <a:sym typeface="Calibri"/>
            </a:endParaRPr>
          </a:p>
          <a:p>
            <a:pPr indent="0" lvl="0" marL="0" rtl="0" algn="l">
              <a:spcBef>
                <a:spcPts val="0"/>
              </a:spcBef>
              <a:spcAft>
                <a:spcPts val="0"/>
              </a:spcAft>
              <a:buNone/>
            </a:pPr>
            <a:r>
              <a:rPr lang="en-US" sz="1500">
                <a:solidFill>
                  <a:schemeClr val="dk1"/>
                </a:solidFill>
                <a:latin typeface="Calibri"/>
                <a:ea typeface="Calibri"/>
                <a:cs typeface="Calibri"/>
                <a:sym typeface="Calibri"/>
              </a:rPr>
              <a:t>Step2: If node is a leaf </a:t>
            </a:r>
            <a:endParaRPr sz="1500">
              <a:solidFill>
                <a:schemeClr val="dk1"/>
              </a:solidFill>
              <a:latin typeface="Calibri"/>
              <a:ea typeface="Calibri"/>
              <a:cs typeface="Calibri"/>
              <a:sym typeface="Calibri"/>
            </a:endParaRPr>
          </a:p>
          <a:p>
            <a:pPr indent="0" lvl="0" marL="0" rtl="0" algn="l">
              <a:spcBef>
                <a:spcPts val="0"/>
              </a:spcBef>
              <a:spcAft>
                <a:spcPts val="0"/>
              </a:spcAft>
              <a:buNone/>
            </a:pPr>
            <a:r>
              <a:rPr lang="en-US" sz="1500">
                <a:solidFill>
                  <a:schemeClr val="dk1"/>
                </a:solidFill>
                <a:latin typeface="Calibri"/>
                <a:ea typeface="Calibri"/>
                <a:cs typeface="Calibri"/>
                <a:sym typeface="Calibri"/>
              </a:rPr>
              <a:t>Step3: If f.left == q =&gt; f.left = null </a:t>
            </a:r>
            <a:endParaRPr sz="1500">
              <a:solidFill>
                <a:schemeClr val="dk1"/>
              </a:solidFill>
              <a:latin typeface="Calibri"/>
              <a:ea typeface="Calibri"/>
              <a:cs typeface="Calibri"/>
              <a:sym typeface="Calibri"/>
            </a:endParaRPr>
          </a:p>
          <a:p>
            <a:pPr indent="0" lvl="0" marL="0" rtl="0" algn="l">
              <a:spcBef>
                <a:spcPts val="0"/>
              </a:spcBef>
              <a:spcAft>
                <a:spcPts val="0"/>
              </a:spcAft>
              <a:buNone/>
            </a:pPr>
            <a:r>
              <a:rPr lang="en-US" sz="1500">
                <a:solidFill>
                  <a:schemeClr val="dk1"/>
                </a:solidFill>
                <a:latin typeface="Calibri"/>
                <a:ea typeface="Calibri"/>
                <a:cs typeface="Calibri"/>
                <a:sym typeface="Calibri"/>
              </a:rPr>
              <a:t>else</a:t>
            </a:r>
            <a:endParaRPr sz="1500">
              <a:solidFill>
                <a:schemeClr val="dk1"/>
              </a:solidFill>
              <a:latin typeface="Calibri"/>
              <a:ea typeface="Calibri"/>
              <a:cs typeface="Calibri"/>
              <a:sym typeface="Calibri"/>
            </a:endParaRPr>
          </a:p>
          <a:p>
            <a:pPr indent="457200" lvl="0" marL="0" rtl="0" algn="l">
              <a:spcBef>
                <a:spcPts val="0"/>
              </a:spcBef>
              <a:spcAft>
                <a:spcPts val="0"/>
              </a:spcAft>
              <a:buNone/>
            </a:pPr>
            <a:r>
              <a:rPr lang="en-US" sz="1500">
                <a:solidFill>
                  <a:schemeClr val="dk1"/>
                </a:solidFill>
                <a:latin typeface="Calibri"/>
                <a:ea typeface="Calibri"/>
                <a:cs typeface="Calibri"/>
                <a:sym typeface="Calibri"/>
              </a:rPr>
              <a:t>f.right = null </a:t>
            </a:r>
            <a:endParaRPr sz="1500">
              <a:solidFill>
                <a:schemeClr val="dk1"/>
              </a:solidFill>
              <a:latin typeface="Calibri"/>
              <a:ea typeface="Calibri"/>
              <a:cs typeface="Calibri"/>
              <a:sym typeface="Calibri"/>
            </a:endParaRPr>
          </a:p>
          <a:p>
            <a:pPr indent="0" lvl="0" marL="0" rtl="0" algn="l">
              <a:spcBef>
                <a:spcPts val="0"/>
              </a:spcBef>
              <a:spcAft>
                <a:spcPts val="0"/>
              </a:spcAft>
              <a:buNone/>
            </a:pPr>
            <a:r>
              <a:t/>
            </a:r>
            <a:endParaRPr sz="1500">
              <a:solidFill>
                <a:schemeClr val="dk1"/>
              </a:solidFill>
              <a:latin typeface="Calibri"/>
              <a:ea typeface="Calibri"/>
              <a:cs typeface="Calibri"/>
              <a:sym typeface="Calibri"/>
            </a:endParaRPr>
          </a:p>
        </p:txBody>
      </p:sp>
      <p:sp>
        <p:nvSpPr>
          <p:cNvPr id="504" name="Google Shape;504;p28"/>
          <p:cNvSpPr txBox="1"/>
          <p:nvPr/>
        </p:nvSpPr>
        <p:spPr>
          <a:xfrm>
            <a:off x="5932525" y="3124200"/>
            <a:ext cx="3000000" cy="156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500">
                <a:solidFill>
                  <a:schemeClr val="dk1"/>
                </a:solidFill>
                <a:latin typeface="Calibri"/>
                <a:ea typeface="Calibri"/>
                <a:cs typeface="Calibri"/>
                <a:sym typeface="Calibri"/>
              </a:rPr>
              <a:t>Step1: Find node need delete ( q ) and father of it ( f ) </a:t>
            </a:r>
            <a:endParaRPr sz="1500">
              <a:solidFill>
                <a:schemeClr val="dk1"/>
              </a:solidFill>
              <a:latin typeface="Calibri"/>
              <a:ea typeface="Calibri"/>
              <a:cs typeface="Calibri"/>
              <a:sym typeface="Calibri"/>
            </a:endParaRPr>
          </a:p>
          <a:p>
            <a:pPr indent="0" lvl="0" marL="0" rtl="0" algn="l">
              <a:spcBef>
                <a:spcPts val="0"/>
              </a:spcBef>
              <a:spcAft>
                <a:spcPts val="0"/>
              </a:spcAft>
              <a:buNone/>
            </a:pPr>
            <a:r>
              <a:rPr lang="en-US" sz="1500">
                <a:solidFill>
                  <a:schemeClr val="dk1"/>
                </a:solidFill>
                <a:latin typeface="Calibri"/>
                <a:ea typeface="Calibri"/>
                <a:cs typeface="Calibri"/>
                <a:sym typeface="Calibri"/>
              </a:rPr>
              <a:t>Step2: If node is a </a:t>
            </a:r>
            <a:r>
              <a:rPr lang="en-US" sz="1500">
                <a:solidFill>
                  <a:schemeClr val="dk1"/>
                </a:solidFill>
                <a:latin typeface="Calibri"/>
                <a:ea typeface="Calibri"/>
                <a:cs typeface="Calibri"/>
                <a:sym typeface="Calibri"/>
              </a:rPr>
              <a:t>node with one child </a:t>
            </a:r>
            <a:endParaRPr sz="1500">
              <a:solidFill>
                <a:schemeClr val="dk1"/>
              </a:solidFill>
              <a:latin typeface="Calibri"/>
              <a:ea typeface="Calibri"/>
              <a:cs typeface="Calibri"/>
              <a:sym typeface="Calibri"/>
            </a:endParaRPr>
          </a:p>
          <a:p>
            <a:pPr indent="0" lvl="0" marL="0" rtl="0" algn="l">
              <a:spcBef>
                <a:spcPts val="0"/>
              </a:spcBef>
              <a:spcAft>
                <a:spcPts val="0"/>
              </a:spcAft>
              <a:buNone/>
            </a:pPr>
            <a:r>
              <a:rPr lang="en-US" sz="1500">
                <a:solidFill>
                  <a:schemeClr val="dk1"/>
                </a:solidFill>
                <a:latin typeface="Calibri"/>
                <a:ea typeface="Calibri"/>
                <a:cs typeface="Calibri"/>
                <a:sym typeface="Calibri"/>
              </a:rPr>
              <a:t>Step3: If f.</a:t>
            </a:r>
            <a:r>
              <a:rPr lang="en-US" sz="1500">
                <a:solidFill>
                  <a:schemeClr val="dk1"/>
                </a:solidFill>
                <a:latin typeface="Calibri"/>
                <a:ea typeface="Calibri"/>
                <a:cs typeface="Calibri"/>
                <a:sym typeface="Calibri"/>
              </a:rPr>
              <a:t>right</a:t>
            </a:r>
            <a:r>
              <a:rPr lang="en-US" sz="1500">
                <a:solidFill>
                  <a:schemeClr val="dk1"/>
                </a:solidFill>
                <a:latin typeface="Calibri"/>
                <a:ea typeface="Calibri"/>
                <a:cs typeface="Calibri"/>
                <a:sym typeface="Calibri"/>
              </a:rPr>
              <a:t> == q =&gt; </a:t>
            </a:r>
            <a:r>
              <a:rPr lang="en-US" sz="1500">
                <a:solidFill>
                  <a:schemeClr val="dk1"/>
                </a:solidFill>
                <a:latin typeface="Calibri"/>
                <a:ea typeface="Calibri"/>
                <a:cs typeface="Calibri"/>
                <a:sym typeface="Calibri"/>
              </a:rPr>
              <a:t>f.right = q.left </a:t>
            </a:r>
            <a:endParaRPr sz="1500">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8" name="Shape 508"/>
        <p:cNvGrpSpPr/>
        <p:nvPr/>
      </p:nvGrpSpPr>
      <p:grpSpPr>
        <a:xfrm>
          <a:off x="0" y="0"/>
          <a:ext cx="0" cy="0"/>
          <a:chOff x="0" y="0"/>
          <a:chExt cx="0" cy="0"/>
        </a:xfrm>
      </p:grpSpPr>
      <p:sp>
        <p:nvSpPr>
          <p:cNvPr id="509" name="Google Shape;509;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None/>
            </a:pPr>
            <a:fld id="{00000000-1234-1234-1234-123412341234}" type="slidenum">
              <a:rPr lang="en-US"/>
              <a:t>‹#›</a:t>
            </a:fld>
            <a:endParaRPr/>
          </a:p>
        </p:txBody>
      </p:sp>
      <p:sp>
        <p:nvSpPr>
          <p:cNvPr id="510" name="Google Shape;510;p29"/>
          <p:cNvSpPr txBox="1"/>
          <p:nvPr/>
        </p:nvSpPr>
        <p:spPr>
          <a:xfrm>
            <a:off x="2895600" y="6356350"/>
            <a:ext cx="3352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a:solidFill>
                  <a:srgbClr val="898989"/>
                </a:solidFill>
                <a:latin typeface="Arial"/>
                <a:ea typeface="Arial"/>
                <a:cs typeface="Arial"/>
                <a:sym typeface="Arial"/>
              </a:rPr>
              <a:t>Data Structures and Algorithms in Java </a:t>
            </a:r>
            <a:endParaRPr/>
          </a:p>
        </p:txBody>
      </p:sp>
      <p:sp>
        <p:nvSpPr>
          <p:cNvPr id="511" name="Google Shape;511;p29"/>
          <p:cNvSpPr txBox="1"/>
          <p:nvPr>
            <p:ph idx="4294967295" type="title"/>
          </p:nvPr>
        </p:nvSpPr>
        <p:spPr>
          <a:xfrm>
            <a:off x="381000" y="593725"/>
            <a:ext cx="8229600" cy="701675"/>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CC3300"/>
              </a:buClr>
              <a:buSzPts val="4000"/>
              <a:buFont typeface="Calibri"/>
              <a:buNone/>
            </a:pPr>
            <a:r>
              <a:rPr b="1" i="0" lang="en-US" sz="4000" u="none" cap="none" strike="noStrike">
                <a:solidFill>
                  <a:srgbClr val="CC3300"/>
                </a:solidFill>
                <a:latin typeface="Calibri"/>
                <a:ea typeface="Calibri"/>
                <a:cs typeface="Calibri"/>
                <a:sym typeface="Calibri"/>
              </a:rPr>
              <a:t>Deletion by Merging - 1</a:t>
            </a:r>
            <a:endParaRPr/>
          </a:p>
        </p:txBody>
      </p:sp>
      <p:sp>
        <p:nvSpPr>
          <p:cNvPr id="512" name="Google Shape;512;p29"/>
          <p:cNvSpPr txBox="1"/>
          <p:nvPr/>
        </p:nvSpPr>
        <p:spPr>
          <a:xfrm>
            <a:off x="0" y="1271587"/>
            <a:ext cx="533400" cy="244475"/>
          </a:xfrm>
          <a:prstGeom prst="rect">
            <a:avLst/>
          </a:prstGeom>
          <a:noFill/>
          <a:ln>
            <a:noFill/>
          </a:ln>
        </p:spPr>
        <p:txBody>
          <a:bodyPr anchorCtr="0" anchor="ctr" bIns="45700" lIns="91425" spcFirstLastPara="1" rIns="91425" wrap="square" tIns="45700">
            <a:normAutofit/>
          </a:bodyPr>
          <a:lstStyle/>
          <a:p>
            <a:pPr indent="0" lvl="0" marL="0" marR="0" rtl="0" algn="ctr">
              <a:lnSpc>
                <a:spcPct val="80000"/>
              </a:lnSpc>
              <a:spcBef>
                <a:spcPts val="0"/>
              </a:spcBef>
              <a:spcAft>
                <a:spcPts val="0"/>
              </a:spcAft>
              <a:buClr>
                <a:srgbClr val="FFFFFF"/>
              </a:buClr>
              <a:buSzPts val="1200"/>
              <a:buFont typeface="Arial"/>
              <a:buNone/>
            </a:pPr>
            <a:r>
              <a:rPr b="1" i="0" lang="en-US" sz="1200" u="none">
                <a:solidFill>
                  <a:srgbClr val="FFFFFF"/>
                </a:solidFill>
                <a:latin typeface="Arial"/>
                <a:ea typeface="Arial"/>
                <a:cs typeface="Arial"/>
                <a:sym typeface="Arial"/>
              </a:rPr>
              <a:t> </a:t>
            </a:r>
            <a:fld id="{00000000-1234-1234-1234-123412341234}" type="slidenum">
              <a:rPr b="1" i="0" lang="en-US" sz="1200" u="none">
                <a:solidFill>
                  <a:srgbClr val="FFFFFF"/>
                </a:solidFill>
                <a:latin typeface="Arial"/>
                <a:ea typeface="Arial"/>
                <a:cs typeface="Arial"/>
                <a:sym typeface="Arial"/>
              </a:rPr>
              <a:t>‹#›</a:t>
            </a:fld>
            <a:endParaRPr/>
          </a:p>
        </p:txBody>
      </p:sp>
      <p:sp>
        <p:nvSpPr>
          <p:cNvPr id="513" name="Google Shape;513;p29"/>
          <p:cNvSpPr txBox="1"/>
          <p:nvPr>
            <p:ph idx="4294967295" type="body"/>
          </p:nvPr>
        </p:nvSpPr>
        <p:spPr>
          <a:xfrm>
            <a:off x="685800" y="1447800"/>
            <a:ext cx="8153400" cy="1406525"/>
          </a:xfrm>
          <a:prstGeom prst="rect">
            <a:avLst/>
          </a:prstGeom>
          <a:noFill/>
          <a:ln>
            <a:noFill/>
          </a:ln>
        </p:spPr>
        <p:txBody>
          <a:bodyPr anchorCtr="0" anchor="t" bIns="45700" lIns="91425" spcFirstLastPara="1" rIns="91425" wrap="square" tIns="45700">
            <a:spAutoFit/>
          </a:bodyPr>
          <a:lstStyle/>
          <a:p>
            <a:pPr indent="-319087" lvl="0" marL="319087" marR="0" rtl="0" algn="l">
              <a:lnSpc>
                <a:spcPct val="90000"/>
              </a:lnSpc>
              <a:spcBef>
                <a:spcPts val="0"/>
              </a:spcBef>
              <a:spcAft>
                <a:spcPts val="0"/>
              </a:spcAft>
              <a:buClr>
                <a:schemeClr val="dk1"/>
              </a:buClr>
              <a:buSzPts val="3200"/>
              <a:buFont typeface="Arial"/>
              <a:buChar char="•"/>
            </a:pPr>
            <a:r>
              <a:rPr b="0" i="0" lang="en-US" sz="3200" u="none" cap="none" strike="noStrike">
                <a:solidFill>
                  <a:schemeClr val="dk1"/>
                </a:solidFill>
                <a:latin typeface="Calibri"/>
                <a:ea typeface="Calibri"/>
                <a:cs typeface="Calibri"/>
                <a:sym typeface="Calibri"/>
              </a:rPr>
              <a:t>Making one tree out of the two subtrees of the node and then attaching it to the node’s parent is called </a:t>
            </a:r>
            <a:r>
              <a:rPr b="1" i="0" lang="en-US" sz="3200" u="none" cap="none" strike="noStrike">
                <a:solidFill>
                  <a:schemeClr val="dk1"/>
                </a:solidFill>
                <a:latin typeface="Calibri"/>
                <a:ea typeface="Calibri"/>
                <a:cs typeface="Calibri"/>
                <a:sym typeface="Calibri"/>
              </a:rPr>
              <a:t>deleting by merging</a:t>
            </a:r>
            <a:endParaRPr/>
          </a:p>
        </p:txBody>
      </p:sp>
      <p:pic>
        <p:nvPicPr>
          <p:cNvPr id="514" name="Google Shape;514;p29"/>
          <p:cNvPicPr preferRelativeResize="0"/>
          <p:nvPr/>
        </p:nvPicPr>
        <p:blipFill rotWithShape="1">
          <a:blip r:embed="rId3">
            <a:alphaModFix/>
          </a:blip>
          <a:srcRect b="0" l="0" r="0" t="0"/>
          <a:stretch/>
        </p:blipFill>
        <p:spPr>
          <a:xfrm>
            <a:off x="1693862" y="3148012"/>
            <a:ext cx="6230937" cy="2338387"/>
          </a:xfrm>
          <a:prstGeom prst="rect">
            <a:avLst/>
          </a:prstGeom>
          <a:noFill/>
          <a:ln>
            <a:noFill/>
          </a:ln>
        </p:spPr>
      </p:pic>
      <p:sp>
        <p:nvSpPr>
          <p:cNvPr id="515" name="Google Shape;515;p29"/>
          <p:cNvSpPr txBox="1"/>
          <p:nvPr/>
        </p:nvSpPr>
        <p:spPr>
          <a:xfrm>
            <a:off x="1524000" y="5715000"/>
            <a:ext cx="6172200"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Deleting by merging</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19" name="Shape 519"/>
        <p:cNvGrpSpPr/>
        <p:nvPr/>
      </p:nvGrpSpPr>
      <p:grpSpPr>
        <a:xfrm>
          <a:off x="0" y="0"/>
          <a:ext cx="0" cy="0"/>
          <a:chOff x="0" y="0"/>
          <a:chExt cx="0" cy="0"/>
        </a:xfrm>
      </p:grpSpPr>
      <p:sp>
        <p:nvSpPr>
          <p:cNvPr id="520" name="Google Shape;520;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None/>
            </a:pPr>
            <a:fld id="{00000000-1234-1234-1234-123412341234}" type="slidenum">
              <a:rPr lang="en-US"/>
              <a:t>‹#›</a:t>
            </a:fld>
            <a:endParaRPr/>
          </a:p>
        </p:txBody>
      </p:sp>
      <p:sp>
        <p:nvSpPr>
          <p:cNvPr id="521" name="Google Shape;521;p30"/>
          <p:cNvSpPr txBox="1"/>
          <p:nvPr/>
        </p:nvSpPr>
        <p:spPr>
          <a:xfrm>
            <a:off x="2895600" y="6356350"/>
            <a:ext cx="3352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a:solidFill>
                  <a:srgbClr val="898989"/>
                </a:solidFill>
                <a:latin typeface="Arial"/>
                <a:ea typeface="Arial"/>
                <a:cs typeface="Arial"/>
                <a:sym typeface="Arial"/>
              </a:rPr>
              <a:t>Data Structures and Algorithms in Java </a:t>
            </a:r>
            <a:endParaRPr/>
          </a:p>
        </p:txBody>
      </p:sp>
      <p:sp>
        <p:nvSpPr>
          <p:cNvPr id="522" name="Google Shape;522;p30"/>
          <p:cNvSpPr txBox="1"/>
          <p:nvPr/>
        </p:nvSpPr>
        <p:spPr>
          <a:xfrm>
            <a:off x="0" y="1271587"/>
            <a:ext cx="533400" cy="244475"/>
          </a:xfrm>
          <a:prstGeom prst="rect">
            <a:avLst/>
          </a:prstGeom>
          <a:noFill/>
          <a:ln>
            <a:noFill/>
          </a:ln>
        </p:spPr>
        <p:txBody>
          <a:bodyPr anchorCtr="0" anchor="ctr" bIns="45700" lIns="91425" spcFirstLastPara="1" rIns="91425" wrap="square" tIns="45700">
            <a:normAutofit/>
          </a:bodyPr>
          <a:lstStyle/>
          <a:p>
            <a:pPr indent="0" lvl="0" marL="0" marR="0" rtl="0" algn="ctr">
              <a:lnSpc>
                <a:spcPct val="80000"/>
              </a:lnSpc>
              <a:spcBef>
                <a:spcPts val="0"/>
              </a:spcBef>
              <a:spcAft>
                <a:spcPts val="0"/>
              </a:spcAft>
              <a:buClr>
                <a:srgbClr val="FFFFFF"/>
              </a:buClr>
              <a:buSzPts val="1200"/>
              <a:buFont typeface="Arial"/>
              <a:buNone/>
            </a:pPr>
            <a:r>
              <a:rPr b="1" i="0" lang="en-US" sz="1200" u="none">
                <a:solidFill>
                  <a:srgbClr val="FFFFFF"/>
                </a:solidFill>
                <a:latin typeface="Arial"/>
                <a:ea typeface="Arial"/>
                <a:cs typeface="Arial"/>
                <a:sym typeface="Arial"/>
              </a:rPr>
              <a:t> </a:t>
            </a:r>
            <a:fld id="{00000000-1234-1234-1234-123412341234}" type="slidenum">
              <a:rPr b="1" i="0" lang="en-US" sz="1200" u="none">
                <a:solidFill>
                  <a:srgbClr val="FFFFFF"/>
                </a:solidFill>
                <a:latin typeface="Arial"/>
                <a:ea typeface="Arial"/>
                <a:cs typeface="Arial"/>
                <a:sym typeface="Arial"/>
              </a:rPr>
              <a:t>‹#›</a:t>
            </a:fld>
            <a:endParaRPr/>
          </a:p>
        </p:txBody>
      </p:sp>
      <p:sp>
        <p:nvSpPr>
          <p:cNvPr id="523" name="Google Shape;523;p30"/>
          <p:cNvSpPr txBox="1"/>
          <p:nvPr/>
        </p:nvSpPr>
        <p:spPr>
          <a:xfrm>
            <a:off x="1524000" y="3352800"/>
            <a:ext cx="5073650" cy="7016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Arial"/>
                <a:ea typeface="Arial"/>
                <a:cs typeface="Arial"/>
                <a:sym typeface="Arial"/>
              </a:rPr>
              <a:t>The height of a tree can be (a) extended or </a:t>
            </a:r>
            <a:br>
              <a:rPr b="0" i="0" lang="en-US" sz="2000" u="none">
                <a:solidFill>
                  <a:schemeClr val="dk1"/>
                </a:solidFill>
                <a:latin typeface="Arial"/>
                <a:ea typeface="Arial"/>
                <a:cs typeface="Arial"/>
                <a:sym typeface="Arial"/>
              </a:rPr>
            </a:br>
            <a:r>
              <a:rPr b="0" i="0" lang="en-US" sz="2000" u="none">
                <a:solidFill>
                  <a:schemeClr val="dk1"/>
                </a:solidFill>
                <a:latin typeface="Arial"/>
                <a:ea typeface="Arial"/>
                <a:cs typeface="Arial"/>
                <a:sym typeface="Arial"/>
              </a:rPr>
              <a:t>     (b) reduced after deleting by merging</a:t>
            </a:r>
            <a:endParaRPr/>
          </a:p>
        </p:txBody>
      </p:sp>
      <p:pic>
        <p:nvPicPr>
          <p:cNvPr id="524" name="Google Shape;524;p30"/>
          <p:cNvPicPr preferRelativeResize="0"/>
          <p:nvPr/>
        </p:nvPicPr>
        <p:blipFill rotWithShape="1">
          <a:blip r:embed="rId3">
            <a:alphaModFix/>
          </a:blip>
          <a:srcRect b="0" l="0" r="0" t="0"/>
          <a:stretch/>
        </p:blipFill>
        <p:spPr>
          <a:xfrm>
            <a:off x="1531937" y="1295400"/>
            <a:ext cx="4868862" cy="1903412"/>
          </a:xfrm>
          <a:prstGeom prst="rect">
            <a:avLst/>
          </a:prstGeom>
          <a:noFill/>
          <a:ln>
            <a:noFill/>
          </a:ln>
        </p:spPr>
      </p:pic>
      <p:sp>
        <p:nvSpPr>
          <p:cNvPr id="525" name="Google Shape;525;p30"/>
          <p:cNvSpPr txBox="1"/>
          <p:nvPr/>
        </p:nvSpPr>
        <p:spPr>
          <a:xfrm>
            <a:off x="381000" y="457200"/>
            <a:ext cx="8229600" cy="701675"/>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CC3300"/>
              </a:buClr>
              <a:buSzPts val="4000"/>
              <a:buFont typeface="Calibri"/>
              <a:buNone/>
            </a:pPr>
            <a:r>
              <a:rPr b="1" i="0" lang="en-US" sz="4000" u="none">
                <a:solidFill>
                  <a:srgbClr val="CC3300"/>
                </a:solidFill>
                <a:latin typeface="Calibri"/>
                <a:ea typeface="Calibri"/>
                <a:cs typeface="Calibri"/>
                <a:sym typeface="Calibri"/>
              </a:rPr>
              <a:t>Deletion by Merging - 2</a:t>
            </a:r>
            <a:endParaRPr/>
          </a:p>
        </p:txBody>
      </p:sp>
      <p:pic>
        <p:nvPicPr>
          <p:cNvPr id="526" name="Google Shape;526;p30"/>
          <p:cNvPicPr preferRelativeResize="0"/>
          <p:nvPr/>
        </p:nvPicPr>
        <p:blipFill rotWithShape="1">
          <a:blip r:embed="rId4">
            <a:alphaModFix/>
          </a:blip>
          <a:srcRect b="0" l="0" r="0" t="0"/>
          <a:stretch/>
        </p:blipFill>
        <p:spPr>
          <a:xfrm>
            <a:off x="1524000" y="4267200"/>
            <a:ext cx="5410200" cy="1741487"/>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30" name="Shape 530"/>
        <p:cNvGrpSpPr/>
        <p:nvPr/>
      </p:nvGrpSpPr>
      <p:grpSpPr>
        <a:xfrm>
          <a:off x="0" y="0"/>
          <a:ext cx="0" cy="0"/>
          <a:chOff x="0" y="0"/>
          <a:chExt cx="0" cy="0"/>
        </a:xfrm>
      </p:grpSpPr>
      <p:sp>
        <p:nvSpPr>
          <p:cNvPr id="531" name="Google Shape;531;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None/>
            </a:pPr>
            <a:fld id="{00000000-1234-1234-1234-123412341234}" type="slidenum">
              <a:rPr lang="en-US"/>
              <a:t>‹#›</a:t>
            </a:fld>
            <a:endParaRPr/>
          </a:p>
        </p:txBody>
      </p:sp>
      <p:sp>
        <p:nvSpPr>
          <p:cNvPr id="532" name="Google Shape;532;p31"/>
          <p:cNvSpPr txBox="1"/>
          <p:nvPr/>
        </p:nvSpPr>
        <p:spPr>
          <a:xfrm>
            <a:off x="2895600" y="6356350"/>
            <a:ext cx="3352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a:solidFill>
                  <a:srgbClr val="898989"/>
                </a:solidFill>
                <a:latin typeface="Arial"/>
                <a:ea typeface="Arial"/>
                <a:cs typeface="Arial"/>
                <a:sym typeface="Arial"/>
              </a:rPr>
              <a:t>Data Structures and Algorithms in Java </a:t>
            </a:r>
            <a:endParaRPr/>
          </a:p>
        </p:txBody>
      </p:sp>
      <p:sp>
        <p:nvSpPr>
          <p:cNvPr id="533" name="Google Shape;533;p31"/>
          <p:cNvSpPr txBox="1"/>
          <p:nvPr>
            <p:ph idx="4294967295" type="title"/>
          </p:nvPr>
        </p:nvSpPr>
        <p:spPr>
          <a:xfrm>
            <a:off x="685800" y="517525"/>
            <a:ext cx="7010400" cy="701675"/>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CC3300"/>
              </a:buClr>
              <a:buSzPts val="4000"/>
              <a:buFont typeface="Calibri"/>
              <a:buNone/>
            </a:pPr>
            <a:r>
              <a:rPr b="1" i="0" lang="en-US" sz="4000" u="none" cap="none" strike="noStrike">
                <a:solidFill>
                  <a:srgbClr val="CC3300"/>
                </a:solidFill>
                <a:latin typeface="Calibri"/>
                <a:ea typeface="Calibri"/>
                <a:cs typeface="Calibri"/>
                <a:sym typeface="Calibri"/>
              </a:rPr>
              <a:t>Deletion by Copying - 1</a:t>
            </a:r>
            <a:endParaRPr/>
          </a:p>
        </p:txBody>
      </p:sp>
      <p:sp>
        <p:nvSpPr>
          <p:cNvPr id="534" name="Google Shape;534;p31"/>
          <p:cNvSpPr txBox="1"/>
          <p:nvPr/>
        </p:nvSpPr>
        <p:spPr>
          <a:xfrm>
            <a:off x="0" y="1271587"/>
            <a:ext cx="533400" cy="244475"/>
          </a:xfrm>
          <a:prstGeom prst="rect">
            <a:avLst/>
          </a:prstGeom>
          <a:noFill/>
          <a:ln>
            <a:noFill/>
          </a:ln>
        </p:spPr>
        <p:txBody>
          <a:bodyPr anchorCtr="0" anchor="ctr" bIns="45700" lIns="91425" spcFirstLastPara="1" rIns="91425" wrap="square" tIns="45700">
            <a:normAutofit/>
          </a:bodyPr>
          <a:lstStyle/>
          <a:p>
            <a:pPr indent="0" lvl="0" marL="0" marR="0" rtl="0" algn="ctr">
              <a:lnSpc>
                <a:spcPct val="80000"/>
              </a:lnSpc>
              <a:spcBef>
                <a:spcPts val="0"/>
              </a:spcBef>
              <a:spcAft>
                <a:spcPts val="0"/>
              </a:spcAft>
              <a:buClr>
                <a:srgbClr val="FFFFFF"/>
              </a:buClr>
              <a:buSzPts val="1200"/>
              <a:buFont typeface="Arial"/>
              <a:buNone/>
            </a:pPr>
            <a:r>
              <a:rPr b="1" i="0" lang="en-US" sz="1200" u="none">
                <a:solidFill>
                  <a:srgbClr val="FFFFFF"/>
                </a:solidFill>
                <a:latin typeface="Arial"/>
                <a:ea typeface="Arial"/>
                <a:cs typeface="Arial"/>
                <a:sym typeface="Arial"/>
              </a:rPr>
              <a:t> </a:t>
            </a:r>
            <a:fld id="{00000000-1234-1234-1234-123412341234}" type="slidenum">
              <a:rPr b="1" i="0" lang="en-US" sz="1200" u="none">
                <a:solidFill>
                  <a:srgbClr val="FFFFFF"/>
                </a:solidFill>
                <a:latin typeface="Arial"/>
                <a:ea typeface="Arial"/>
                <a:cs typeface="Arial"/>
                <a:sym typeface="Arial"/>
              </a:rPr>
              <a:t>‹#›</a:t>
            </a:fld>
            <a:endParaRPr/>
          </a:p>
        </p:txBody>
      </p:sp>
      <p:sp>
        <p:nvSpPr>
          <p:cNvPr id="535" name="Google Shape;535;p31"/>
          <p:cNvSpPr txBox="1"/>
          <p:nvPr>
            <p:ph idx="4294967295" type="body"/>
          </p:nvPr>
        </p:nvSpPr>
        <p:spPr>
          <a:xfrm>
            <a:off x="609600" y="1600200"/>
            <a:ext cx="8153400" cy="4235450"/>
          </a:xfrm>
          <a:prstGeom prst="rect">
            <a:avLst/>
          </a:prstGeom>
          <a:noFill/>
          <a:ln>
            <a:noFill/>
          </a:ln>
        </p:spPr>
        <p:txBody>
          <a:bodyPr anchorCtr="0" anchor="t" bIns="45700" lIns="91425" spcFirstLastPara="1" rIns="91425" wrap="square" tIns="45700">
            <a:spAutoFit/>
          </a:bodyPr>
          <a:lstStyle/>
          <a:p>
            <a:pPr indent="-319087" lvl="0" marL="319087" marR="0" rtl="0" algn="l">
              <a:lnSpc>
                <a:spcPct val="100000"/>
              </a:lnSpc>
              <a:spcBef>
                <a:spcPts val="0"/>
              </a:spcBef>
              <a:spcAft>
                <a:spcPts val="0"/>
              </a:spcAft>
              <a:buClr>
                <a:schemeClr val="dk1"/>
              </a:buClr>
              <a:buSzPts val="3200"/>
              <a:buFont typeface="Arial"/>
              <a:buChar char="•"/>
            </a:pPr>
            <a:r>
              <a:rPr b="0" i="0" lang="en-US" sz="3200" u="none" cap="none" strike="noStrike">
                <a:solidFill>
                  <a:schemeClr val="dk1"/>
                </a:solidFill>
                <a:latin typeface="Calibri"/>
                <a:ea typeface="Calibri"/>
                <a:cs typeface="Calibri"/>
                <a:sym typeface="Calibri"/>
              </a:rPr>
              <a:t>If the node has two children, the problem can be reduced to: </a:t>
            </a:r>
            <a:endParaRPr/>
          </a:p>
          <a:p>
            <a:pPr indent="-273049" lvl="1" marL="639762" marR="0" rtl="0" algn="l">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The node is a leaf </a:t>
            </a:r>
            <a:endParaRPr/>
          </a:p>
          <a:p>
            <a:pPr indent="-273049" lvl="1" marL="639762" marR="0" rtl="0" algn="l">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The node has only one non-empty child</a:t>
            </a:r>
            <a:endParaRPr/>
          </a:p>
          <a:p>
            <a:pPr indent="-319087" lvl="0" marL="319087" marR="0" rtl="0" algn="l">
              <a:lnSpc>
                <a:spcPct val="100000"/>
              </a:lnSpc>
              <a:spcBef>
                <a:spcPts val="640"/>
              </a:spcBef>
              <a:spcAft>
                <a:spcPts val="0"/>
              </a:spcAft>
              <a:buClr>
                <a:schemeClr val="dk1"/>
              </a:buClr>
              <a:buSzPts val="3200"/>
              <a:buFont typeface="Arial"/>
              <a:buChar char="•"/>
            </a:pPr>
            <a:r>
              <a:rPr b="0" i="0" lang="en-US" sz="3200" u="none" cap="none" strike="noStrike">
                <a:solidFill>
                  <a:schemeClr val="dk1"/>
                </a:solidFill>
                <a:latin typeface="Calibri"/>
                <a:ea typeface="Calibri"/>
                <a:cs typeface="Calibri"/>
                <a:sym typeface="Calibri"/>
              </a:rPr>
              <a:t>Solution: </a:t>
            </a:r>
            <a:r>
              <a:rPr b="1" i="1" lang="en-US" sz="3200" u="none" cap="none" strike="noStrike">
                <a:solidFill>
                  <a:schemeClr val="dk1"/>
                </a:solidFill>
                <a:latin typeface="Calibri"/>
                <a:ea typeface="Calibri"/>
                <a:cs typeface="Calibri"/>
                <a:sym typeface="Calibri"/>
              </a:rPr>
              <a:t>replace the key being deleted with its immediate predecessor </a:t>
            </a:r>
            <a:r>
              <a:rPr b="0" i="0" lang="en-US" sz="3200" u="none" cap="none" strike="noStrike">
                <a:solidFill>
                  <a:schemeClr val="dk1"/>
                </a:solidFill>
                <a:latin typeface="Calibri"/>
                <a:ea typeface="Calibri"/>
                <a:cs typeface="Calibri"/>
                <a:sym typeface="Calibri"/>
              </a:rPr>
              <a:t>(or successor)</a:t>
            </a:r>
            <a:endParaRPr/>
          </a:p>
          <a:p>
            <a:pPr indent="-319087" lvl="0" marL="319087" marR="0" rtl="0" algn="l">
              <a:lnSpc>
                <a:spcPct val="100000"/>
              </a:lnSpc>
              <a:spcBef>
                <a:spcPts val="640"/>
              </a:spcBef>
              <a:spcAft>
                <a:spcPts val="0"/>
              </a:spcAft>
              <a:buClr>
                <a:schemeClr val="dk1"/>
              </a:buClr>
              <a:buSzPts val="3200"/>
              <a:buFont typeface="Arial"/>
              <a:buChar char="•"/>
            </a:pPr>
            <a:r>
              <a:rPr b="0" i="0" lang="en-US" sz="3200" u="none" cap="none" strike="noStrike">
                <a:solidFill>
                  <a:schemeClr val="dk1"/>
                </a:solidFill>
                <a:latin typeface="Calibri"/>
                <a:ea typeface="Calibri"/>
                <a:cs typeface="Calibri"/>
                <a:sym typeface="Calibri"/>
              </a:rPr>
              <a:t>A key’s predecessor is the key in the rightmost node in the left subtree</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39" name="Shape 539"/>
        <p:cNvGrpSpPr/>
        <p:nvPr/>
      </p:nvGrpSpPr>
      <p:grpSpPr>
        <a:xfrm>
          <a:off x="0" y="0"/>
          <a:ext cx="0" cy="0"/>
          <a:chOff x="0" y="0"/>
          <a:chExt cx="0" cy="0"/>
        </a:xfrm>
      </p:grpSpPr>
      <p:sp>
        <p:nvSpPr>
          <p:cNvPr id="540" name="Google Shape;540;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None/>
            </a:pPr>
            <a:fld id="{00000000-1234-1234-1234-123412341234}" type="slidenum">
              <a:rPr lang="en-US"/>
              <a:t>‹#›</a:t>
            </a:fld>
            <a:endParaRPr/>
          </a:p>
        </p:txBody>
      </p:sp>
      <p:sp>
        <p:nvSpPr>
          <p:cNvPr id="541" name="Google Shape;541;p32"/>
          <p:cNvSpPr txBox="1"/>
          <p:nvPr/>
        </p:nvSpPr>
        <p:spPr>
          <a:xfrm>
            <a:off x="2895600" y="6356350"/>
            <a:ext cx="3352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a:solidFill>
                  <a:srgbClr val="898989"/>
                </a:solidFill>
                <a:latin typeface="Arial"/>
                <a:ea typeface="Arial"/>
                <a:cs typeface="Arial"/>
                <a:sym typeface="Arial"/>
              </a:rPr>
              <a:t>Data Structures and Algorithms in Java </a:t>
            </a:r>
            <a:endParaRPr/>
          </a:p>
        </p:txBody>
      </p:sp>
      <p:sp>
        <p:nvSpPr>
          <p:cNvPr id="542" name="Google Shape;542;p32"/>
          <p:cNvSpPr txBox="1"/>
          <p:nvPr/>
        </p:nvSpPr>
        <p:spPr>
          <a:xfrm>
            <a:off x="0" y="1271587"/>
            <a:ext cx="533400" cy="244475"/>
          </a:xfrm>
          <a:prstGeom prst="rect">
            <a:avLst/>
          </a:prstGeom>
          <a:noFill/>
          <a:ln>
            <a:noFill/>
          </a:ln>
        </p:spPr>
        <p:txBody>
          <a:bodyPr anchorCtr="0" anchor="ctr" bIns="45700" lIns="91425" spcFirstLastPara="1" rIns="91425" wrap="square" tIns="45700">
            <a:normAutofit/>
          </a:bodyPr>
          <a:lstStyle/>
          <a:p>
            <a:pPr indent="0" lvl="0" marL="0" marR="0" rtl="0" algn="ctr">
              <a:lnSpc>
                <a:spcPct val="80000"/>
              </a:lnSpc>
              <a:spcBef>
                <a:spcPts val="0"/>
              </a:spcBef>
              <a:spcAft>
                <a:spcPts val="0"/>
              </a:spcAft>
              <a:buClr>
                <a:srgbClr val="FFFFFF"/>
              </a:buClr>
              <a:buSzPts val="1200"/>
              <a:buFont typeface="Arial"/>
              <a:buNone/>
            </a:pPr>
            <a:r>
              <a:rPr b="1" i="0" lang="en-US" sz="1200" u="none">
                <a:solidFill>
                  <a:srgbClr val="FFFFFF"/>
                </a:solidFill>
                <a:latin typeface="Arial"/>
                <a:ea typeface="Arial"/>
                <a:cs typeface="Arial"/>
                <a:sym typeface="Arial"/>
              </a:rPr>
              <a:t> </a:t>
            </a:r>
            <a:fld id="{00000000-1234-1234-1234-123412341234}" type="slidenum">
              <a:rPr b="1" i="0" lang="en-US" sz="1200" u="none">
                <a:solidFill>
                  <a:srgbClr val="FFFFFF"/>
                </a:solidFill>
                <a:latin typeface="Arial"/>
                <a:ea typeface="Arial"/>
                <a:cs typeface="Arial"/>
                <a:sym typeface="Arial"/>
              </a:rPr>
              <a:t>‹#›</a:t>
            </a:fld>
            <a:endParaRPr/>
          </a:p>
        </p:txBody>
      </p:sp>
      <p:sp>
        <p:nvSpPr>
          <p:cNvPr id="543" name="Google Shape;543;p32"/>
          <p:cNvSpPr txBox="1"/>
          <p:nvPr/>
        </p:nvSpPr>
        <p:spPr>
          <a:xfrm>
            <a:off x="2819400" y="5622925"/>
            <a:ext cx="3124200"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Deleting by copying</a:t>
            </a:r>
            <a:endParaRPr/>
          </a:p>
        </p:txBody>
      </p:sp>
      <p:pic>
        <p:nvPicPr>
          <p:cNvPr id="544" name="Google Shape;544;p32"/>
          <p:cNvPicPr preferRelativeResize="0"/>
          <p:nvPr/>
        </p:nvPicPr>
        <p:blipFill rotWithShape="1">
          <a:blip r:embed="rId3">
            <a:alphaModFix/>
          </a:blip>
          <a:srcRect b="0" l="0" r="0" t="0"/>
          <a:stretch/>
        </p:blipFill>
        <p:spPr>
          <a:xfrm>
            <a:off x="1295400" y="1600200"/>
            <a:ext cx="6511925" cy="3844925"/>
          </a:xfrm>
          <a:prstGeom prst="rect">
            <a:avLst/>
          </a:prstGeom>
          <a:noFill/>
          <a:ln>
            <a:noFill/>
          </a:ln>
        </p:spPr>
      </p:pic>
      <p:sp>
        <p:nvSpPr>
          <p:cNvPr id="545" name="Google Shape;545;p32"/>
          <p:cNvSpPr txBox="1"/>
          <p:nvPr/>
        </p:nvSpPr>
        <p:spPr>
          <a:xfrm>
            <a:off x="685800" y="517525"/>
            <a:ext cx="7010400" cy="701675"/>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CC3300"/>
              </a:buClr>
              <a:buSzPts val="4000"/>
              <a:buFont typeface="Calibri"/>
              <a:buNone/>
            </a:pPr>
            <a:r>
              <a:rPr b="1" i="0" lang="en-US" sz="4000" u="none">
                <a:solidFill>
                  <a:srgbClr val="CC3300"/>
                </a:solidFill>
                <a:latin typeface="Calibri"/>
                <a:ea typeface="Calibri"/>
                <a:cs typeface="Calibri"/>
                <a:sym typeface="Calibri"/>
              </a:rPr>
              <a:t>Deletion by Copying - 2</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50" name="Shape 550"/>
        <p:cNvGrpSpPr/>
        <p:nvPr/>
      </p:nvGrpSpPr>
      <p:grpSpPr>
        <a:xfrm>
          <a:off x="0" y="0"/>
          <a:ext cx="0" cy="0"/>
          <a:chOff x="0" y="0"/>
          <a:chExt cx="0" cy="0"/>
        </a:xfrm>
      </p:grpSpPr>
      <p:sp>
        <p:nvSpPr>
          <p:cNvPr id="551" name="Google Shape;551;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None/>
            </a:pPr>
            <a:fld id="{00000000-1234-1234-1234-123412341234}" type="slidenum">
              <a:rPr lang="en-US"/>
              <a:t>‹#›</a:t>
            </a:fld>
            <a:endParaRPr/>
          </a:p>
        </p:txBody>
      </p:sp>
      <p:sp>
        <p:nvSpPr>
          <p:cNvPr id="552" name="Google Shape;552;p33"/>
          <p:cNvSpPr txBox="1"/>
          <p:nvPr/>
        </p:nvSpPr>
        <p:spPr>
          <a:xfrm>
            <a:off x="2895600" y="6356350"/>
            <a:ext cx="3352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a:solidFill>
                  <a:srgbClr val="898989"/>
                </a:solidFill>
                <a:latin typeface="Arial"/>
                <a:ea typeface="Arial"/>
                <a:cs typeface="Arial"/>
                <a:sym typeface="Arial"/>
              </a:rPr>
              <a:t>Data Structures and Algorithms in Java </a:t>
            </a:r>
            <a:endParaRPr/>
          </a:p>
        </p:txBody>
      </p:sp>
      <p:sp>
        <p:nvSpPr>
          <p:cNvPr id="553" name="Google Shape;553;p33"/>
          <p:cNvSpPr txBox="1"/>
          <p:nvPr/>
        </p:nvSpPr>
        <p:spPr>
          <a:xfrm>
            <a:off x="0" y="1271587"/>
            <a:ext cx="533400" cy="244475"/>
          </a:xfrm>
          <a:prstGeom prst="rect">
            <a:avLst/>
          </a:prstGeom>
          <a:noFill/>
          <a:ln>
            <a:noFill/>
          </a:ln>
        </p:spPr>
        <p:txBody>
          <a:bodyPr anchorCtr="0" anchor="ctr" bIns="45700" lIns="91425" spcFirstLastPara="1" rIns="91425" wrap="square" tIns="45700">
            <a:normAutofit/>
          </a:bodyPr>
          <a:lstStyle/>
          <a:p>
            <a:pPr indent="0" lvl="0" marL="0" marR="0" rtl="0" algn="ctr">
              <a:lnSpc>
                <a:spcPct val="80000"/>
              </a:lnSpc>
              <a:spcBef>
                <a:spcPts val="0"/>
              </a:spcBef>
              <a:spcAft>
                <a:spcPts val="0"/>
              </a:spcAft>
              <a:buClr>
                <a:srgbClr val="FFFFFF"/>
              </a:buClr>
              <a:buSzPts val="1200"/>
              <a:buFont typeface="Arial"/>
              <a:buNone/>
            </a:pPr>
            <a:r>
              <a:rPr b="1" i="0" lang="en-US" sz="1200" u="none">
                <a:solidFill>
                  <a:srgbClr val="FFFFFF"/>
                </a:solidFill>
                <a:latin typeface="Arial"/>
                <a:ea typeface="Arial"/>
                <a:cs typeface="Arial"/>
                <a:sym typeface="Arial"/>
              </a:rPr>
              <a:t> </a:t>
            </a:r>
            <a:fld id="{00000000-1234-1234-1234-123412341234}" type="slidenum">
              <a:rPr b="1" i="0" lang="en-US" sz="1200" u="none">
                <a:solidFill>
                  <a:srgbClr val="FFFFFF"/>
                </a:solidFill>
                <a:latin typeface="Arial"/>
                <a:ea typeface="Arial"/>
                <a:cs typeface="Arial"/>
                <a:sym typeface="Arial"/>
              </a:rPr>
              <a:t>‹#›</a:t>
            </a:fld>
            <a:endParaRPr/>
          </a:p>
        </p:txBody>
      </p:sp>
      <p:sp>
        <p:nvSpPr>
          <p:cNvPr id="554" name="Google Shape;554;p33"/>
          <p:cNvSpPr txBox="1"/>
          <p:nvPr/>
        </p:nvSpPr>
        <p:spPr>
          <a:xfrm>
            <a:off x="460375" y="457200"/>
            <a:ext cx="8229600" cy="701675"/>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CC3300"/>
              </a:buClr>
              <a:buSzPts val="4000"/>
              <a:buFont typeface="Calibri"/>
              <a:buNone/>
            </a:pPr>
            <a:r>
              <a:rPr b="1" i="0" lang="en-US" sz="4000" u="none">
                <a:solidFill>
                  <a:srgbClr val="CC3300"/>
                </a:solidFill>
                <a:latin typeface="Calibri"/>
                <a:ea typeface="Calibri"/>
                <a:cs typeface="Calibri"/>
                <a:sym typeface="Calibri"/>
              </a:rPr>
              <a:t>Summary</a:t>
            </a:r>
            <a:endParaRPr/>
          </a:p>
        </p:txBody>
      </p:sp>
      <p:sp>
        <p:nvSpPr>
          <p:cNvPr id="555" name="Google Shape;555;p33"/>
          <p:cNvSpPr txBox="1"/>
          <p:nvPr/>
        </p:nvSpPr>
        <p:spPr>
          <a:xfrm>
            <a:off x="1524000" y="1295400"/>
            <a:ext cx="6477000" cy="5133975"/>
          </a:xfrm>
          <a:prstGeom prst="rect">
            <a:avLst/>
          </a:prstGeom>
          <a:noFill/>
          <a:ln>
            <a:noFill/>
          </a:ln>
        </p:spPr>
        <p:txBody>
          <a:bodyPr anchorCtr="0" anchor="t" bIns="45700" lIns="91425" spcFirstLastPara="1" rIns="91425" wrap="square" tIns="45700">
            <a:spAutoFit/>
          </a:bodyPr>
          <a:lstStyle/>
          <a:p>
            <a:pPr indent="-319087" lvl="0" marL="319087" marR="0" rtl="0" algn="l">
              <a:lnSpc>
                <a:spcPct val="10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What is a Trees?</a:t>
            </a:r>
            <a:endParaRPr/>
          </a:p>
          <a:p>
            <a:pPr indent="-319087" lvl="0" marL="319087" marR="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Tree Terminology</a:t>
            </a:r>
            <a:endParaRPr/>
          </a:p>
          <a:p>
            <a:pPr indent="-319087" lvl="0" marL="319087" marR="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Tree examples</a:t>
            </a:r>
            <a:endParaRPr/>
          </a:p>
          <a:p>
            <a:pPr indent="-319087" lvl="0" marL="319087" marR="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Ordered Trees</a:t>
            </a:r>
            <a:endParaRPr/>
          </a:p>
          <a:p>
            <a:pPr indent="-319087" lvl="0" marL="319087" marR="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Tree Traversals</a:t>
            </a:r>
            <a:endParaRPr/>
          </a:p>
          <a:p>
            <a:pPr indent="-319087" lvl="0" marL="319087" marR="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Binary Trees</a:t>
            </a:r>
            <a:endParaRPr/>
          </a:p>
          <a:p>
            <a:pPr indent="-319087" lvl="0" marL="319087" marR="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Implementing Binary Trees</a:t>
            </a:r>
            <a:endParaRPr/>
          </a:p>
          <a:p>
            <a:pPr indent="-319087" lvl="0" marL="319087" marR="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Binary Search Tree</a:t>
            </a:r>
            <a:endParaRPr/>
          </a:p>
          <a:p>
            <a:pPr indent="-319087" lvl="0" marL="319087" marR="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Insertion</a:t>
            </a:r>
            <a:endParaRPr/>
          </a:p>
          <a:p>
            <a:pPr indent="-319087" lvl="0" marL="319087" marR="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Deletion</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59" name="Shape 559"/>
        <p:cNvGrpSpPr/>
        <p:nvPr/>
      </p:nvGrpSpPr>
      <p:grpSpPr>
        <a:xfrm>
          <a:off x="0" y="0"/>
          <a:ext cx="0" cy="0"/>
          <a:chOff x="0" y="0"/>
          <a:chExt cx="0" cy="0"/>
        </a:xfrm>
      </p:grpSpPr>
      <p:sp>
        <p:nvSpPr>
          <p:cNvPr id="560" name="Google Shape;560;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None/>
            </a:pPr>
            <a:fld id="{00000000-1234-1234-1234-123412341234}" type="slidenum">
              <a:rPr lang="en-US"/>
              <a:t>‹#›</a:t>
            </a:fld>
            <a:endParaRPr/>
          </a:p>
        </p:txBody>
      </p:sp>
      <p:sp>
        <p:nvSpPr>
          <p:cNvPr id="561" name="Google Shape;561;p34"/>
          <p:cNvSpPr txBox="1"/>
          <p:nvPr/>
        </p:nvSpPr>
        <p:spPr>
          <a:xfrm>
            <a:off x="2895600" y="6356350"/>
            <a:ext cx="33528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1200"/>
              <a:buFont typeface="Arial"/>
              <a:buNone/>
            </a:pPr>
            <a:r>
              <a:rPr b="0" i="0" lang="en-US" sz="1200" u="none">
                <a:solidFill>
                  <a:srgbClr val="898989"/>
                </a:solidFill>
                <a:latin typeface="Arial"/>
                <a:ea typeface="Arial"/>
                <a:cs typeface="Arial"/>
                <a:sym typeface="Arial"/>
              </a:rPr>
              <a:t>Data Structures and Algorithms in Java </a:t>
            </a:r>
            <a:endParaRPr/>
          </a:p>
        </p:txBody>
      </p:sp>
      <p:sp>
        <p:nvSpPr>
          <p:cNvPr id="562" name="Google Shape;562;p34"/>
          <p:cNvSpPr txBox="1"/>
          <p:nvPr>
            <p:ph type="title"/>
          </p:nvPr>
        </p:nvSpPr>
        <p:spPr>
          <a:xfrm>
            <a:off x="381000" y="228600"/>
            <a:ext cx="8229600" cy="701675"/>
          </a:xfrm>
          <a:prstGeom prst="rect">
            <a:avLst/>
          </a:prstGeom>
          <a:noFill/>
          <a:ln>
            <a:noFill/>
          </a:ln>
        </p:spPr>
        <p:txBody>
          <a:bodyPr anchorCtr="0" anchor="ctr" bIns="45700" lIns="91425" spcFirstLastPara="1" rIns="91425" wrap="square" tIns="45700">
            <a:spAutoFit/>
          </a:bodyPr>
          <a:lstStyle/>
          <a:p>
            <a:pPr indent="0" lvl="0" marL="0" rtl="0" algn="ctr">
              <a:lnSpc>
                <a:spcPct val="100000"/>
              </a:lnSpc>
              <a:spcBef>
                <a:spcPts val="0"/>
              </a:spcBef>
              <a:spcAft>
                <a:spcPts val="0"/>
              </a:spcAft>
              <a:buClr>
                <a:srgbClr val="CC3300"/>
              </a:buClr>
              <a:buSzPts val="4000"/>
              <a:buFont typeface="Calibri"/>
              <a:buNone/>
            </a:pPr>
            <a:r>
              <a:rPr b="1" i="0" lang="en-US" sz="4000" u="none">
                <a:solidFill>
                  <a:srgbClr val="CC3300"/>
                </a:solidFill>
                <a:latin typeface="Calibri"/>
                <a:ea typeface="Calibri"/>
                <a:cs typeface="Calibri"/>
                <a:sym typeface="Calibri"/>
              </a:rPr>
              <a:t>Reading at home</a:t>
            </a:r>
            <a:endParaRPr/>
          </a:p>
        </p:txBody>
      </p:sp>
      <p:sp>
        <p:nvSpPr>
          <p:cNvPr id="563" name="Google Shape;563;p34"/>
          <p:cNvSpPr txBox="1"/>
          <p:nvPr/>
        </p:nvSpPr>
        <p:spPr>
          <a:xfrm>
            <a:off x="1524000" y="914400"/>
            <a:ext cx="5791200" cy="376237"/>
          </a:xfrm>
          <a:prstGeom prst="rect">
            <a:avLst/>
          </a:prstGeom>
          <a:solidFill>
            <a:srgbClr val="FFCC99"/>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Text book: Data Structures and Algorithms in Java</a:t>
            </a:r>
            <a:endParaRPr/>
          </a:p>
        </p:txBody>
      </p:sp>
      <p:sp>
        <p:nvSpPr>
          <p:cNvPr id="564" name="Google Shape;564;p34"/>
          <p:cNvSpPr txBox="1"/>
          <p:nvPr/>
        </p:nvSpPr>
        <p:spPr>
          <a:xfrm>
            <a:off x="838200" y="1600200"/>
            <a:ext cx="7620000" cy="4473575"/>
          </a:xfrm>
          <a:prstGeom prst="rect">
            <a:avLst/>
          </a:prstGeom>
          <a:noFill/>
          <a:ln>
            <a:noFill/>
          </a:ln>
        </p:spPr>
        <p:txBody>
          <a:bodyPr anchorCtr="0" anchor="t" bIns="45700" lIns="91425" spcFirstLastPara="1" rIns="91425" wrap="square" tIns="45700">
            <a:spAutoFit/>
          </a:bodyPr>
          <a:lstStyle/>
          <a:p>
            <a:pPr indent="-319087" lvl="0" marL="319087" marR="0" rtl="0" algn="l">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8 Trees 307</a:t>
            </a:r>
            <a:endParaRPr/>
          </a:p>
          <a:p>
            <a:pPr indent="-319087" lvl="0" marL="319087" marR="0" rtl="0" algn="l">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8.1 General Trees   -  308</a:t>
            </a:r>
            <a:endParaRPr/>
          </a:p>
          <a:p>
            <a:pPr indent="-319087" lvl="0" marL="319087" marR="0" rtl="0" algn="l">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8.1.1 Tree Definitions and Properties  -    309</a:t>
            </a:r>
            <a:endParaRPr/>
          </a:p>
          <a:p>
            <a:pPr indent="-319087" lvl="0" marL="319087" marR="0" rtl="0" algn="l">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8.1.2 The Tree Abstract Data Type  -    312</a:t>
            </a:r>
            <a:endParaRPr/>
          </a:p>
          <a:p>
            <a:pPr indent="-319087" lvl="0" marL="319087" marR="0" rtl="0" algn="l">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8.2 Binary Trees   -  317</a:t>
            </a:r>
            <a:endParaRPr/>
          </a:p>
          <a:p>
            <a:pPr indent="-319087" lvl="0" marL="319087" marR="0" rtl="0" algn="l">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8.2.1 The Binary Tree Abstract Data Type  -  319</a:t>
            </a:r>
            <a:endParaRPr/>
          </a:p>
          <a:p>
            <a:pPr indent="-319087" lvl="0" marL="319087" marR="0" rtl="0" algn="l">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8.2.2 Properties of Binary Trees  -  321</a:t>
            </a:r>
            <a:endParaRPr/>
          </a:p>
          <a:p>
            <a:pPr indent="-319087" lvl="0" marL="319087" marR="0" rtl="0" algn="l">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8.3 Implementing Trees   -   323</a:t>
            </a:r>
            <a:endParaRPr/>
          </a:p>
          <a:p>
            <a:pPr indent="-319087" lvl="0" marL="319087" marR="0" rtl="0" algn="l">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8.4 Tree Traversal Algorithms   -  334</a:t>
            </a:r>
            <a:endParaRPr/>
          </a:p>
          <a:p>
            <a:pPr indent="-319087" lvl="0" marL="319087" marR="0" rtl="0" algn="l">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11.1 Binary Search Trees   -   460</a:t>
            </a:r>
            <a:endParaRPr/>
          </a:p>
          <a:p>
            <a:pPr indent="-319087" lvl="0" marL="319087" marR="0" rtl="0" algn="l">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11.1.1 Searching Within a Binary Search Tree  -  461</a:t>
            </a:r>
            <a:endParaRPr/>
          </a:p>
          <a:p>
            <a:pPr indent="-319087" lvl="0" marL="319087" marR="0" rtl="0" algn="l">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11.1.2 Insertions and Deletions   - 463</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2007-08-21T04:43:22Z</dcterms:created>
  <dc:creator>Phan Truong Lam</dc:creator>
</cp:coreProperties>
</file>